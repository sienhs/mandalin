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72" r:id="rId2"/>
    <p:sldId id="273" r:id="rId3"/>
    <p:sldId id="258" r:id="rId4"/>
    <p:sldId id="259" r:id="rId5"/>
    <p:sldId id="274" r:id="rId6"/>
    <p:sldId id="261" r:id="rId7"/>
    <p:sldId id="262" r:id="rId8"/>
    <p:sldId id="275" r:id="rId9"/>
    <p:sldId id="256" r:id="rId10"/>
    <p:sldId id="270" r:id="rId11"/>
    <p:sldId id="260" r:id="rId12"/>
    <p:sldId id="263" r:id="rId13"/>
    <p:sldId id="264" r:id="rId14"/>
    <p:sldId id="265" r:id="rId15"/>
    <p:sldId id="266" r:id="rId16"/>
    <p:sldId id="267" r:id="rId17"/>
    <p:sldId id="269" r:id="rId18"/>
    <p:sldId id="276" r:id="rId19"/>
    <p:sldId id="277" r:id="rId20"/>
    <p:sldId id="279" r:id="rId21"/>
    <p:sldId id="280" r:id="rId22"/>
    <p:sldId id="281" r:id="rId23"/>
    <p:sldId id="271" r:id="rId24"/>
    <p:sldId id="283" r:id="rId25"/>
    <p:sldId id="284" r:id="rId26"/>
    <p:sldId id="285" r:id="rId27"/>
    <p:sldId id="286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68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65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59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59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87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78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434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75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28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75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75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48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49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938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91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06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61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379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683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139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963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395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788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225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046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81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76809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74066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1043617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365760" y="4023360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0233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99592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/>
        </p:nvGraphicFramePr>
        <p:xfrm>
          <a:off x="365760" y="4270248"/>
          <a:ext cx="5623560" cy="95707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FUNC-001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버튼 클릭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화면으로 라우팅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페이지 이동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FUNC-002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시작하기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시작하기 버튼 클릭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여부 확인 후 미로그인 시 로그인</a:t>
                      </a:r>
                      <a:r>
                        <a:rPr lang="en-US" altLang="ko-KR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회원가입 유도 화면으로 이동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화면 이동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FUNC-003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3D 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샘플 도시 렌더링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최초 로드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정적 </a:t>
                      </a:r>
                      <a:r>
                        <a:rPr lang="ko-KR" altLang="en-US" sz="7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목업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en-US" altLang="ko-KR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프리뷰 렌더링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3D 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예시 이미지 표시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76809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10795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96286"/>
              </p:ext>
            </p:extLst>
          </p:nvPr>
        </p:nvGraphicFramePr>
        <p:xfrm>
          <a:off x="6199632" y="1042416"/>
          <a:ext cx="5623560" cy="1005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전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메인화면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서비스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URL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직접 접속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비로그인 상태 최초 진입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시작하기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또는 로그인 버튼 클릭 시 로그인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서비스 소개 및 회원가입 유도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2395728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2395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236829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88573"/>
              </p:ext>
            </p:extLst>
          </p:nvPr>
        </p:nvGraphicFramePr>
        <p:xfrm>
          <a:off x="6199632" y="2670048"/>
          <a:ext cx="5623560" cy="110032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버튼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화면으로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시작하기 버튼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회원가입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유도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3D 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샘플 도시 카드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Image/Preview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완성된 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3D 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마을 예시 미리보기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단계 카드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Card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생성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과제 완료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도시 완공 단계 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270248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270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24281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607480"/>
              </p:ext>
            </p:extLst>
          </p:nvPr>
        </p:nvGraphicFramePr>
        <p:xfrm>
          <a:off x="6199632" y="4544568"/>
          <a:ext cx="5623560" cy="47244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IsLoggedIn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Boolean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세션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토큰 기반 로그인 여부 자동 판별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4" name="Text 71">
            <a:extLst>
              <a:ext uri="{FF2B5EF4-FFF2-40B4-BE49-F238E27FC236}">
                <a16:creationId xmlns:a16="http://schemas.microsoft.com/office/drawing/2014/main" id="{90D273F7-BE65-4FC3-9D73-66DAD163CB04}"/>
              </a:ext>
            </a:extLst>
          </p:cNvPr>
          <p:cNvSpPr/>
          <p:nvPr/>
        </p:nvSpPr>
        <p:spPr>
          <a:xfrm>
            <a:off x="6492240" y="74066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</a:rPr>
              <a:t>화면 정보</a:t>
            </a:r>
            <a:endParaRPr lang="en-US" sz="145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C4914C-87F5-4E5D-900D-51FF576CF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375" y="1071049"/>
            <a:ext cx="3658330" cy="28762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777240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777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74980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75476" y="105613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403250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0325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400507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/>
        </p:nvGraphicFramePr>
        <p:xfrm>
          <a:off x="365760" y="4279392"/>
          <a:ext cx="5623560" cy="125577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FUNC-001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카카오 인가 요청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카카오 로그인 버튼 클릭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카카오 </a:t>
                      </a:r>
                      <a:r>
                        <a:rPr lang="en-US" altLang="ko-KR" sz="7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Oauth</a:t>
                      </a:r>
                      <a:r>
                        <a:rPr lang="en-US" altLang="ko-KR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인가 코드 요청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카카오 로그인</a:t>
                      </a:r>
                      <a:r>
                        <a:rPr lang="en-US" altLang="ko-KR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동의 화면 이동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FUNC-002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성공 처리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카카오 인증 성공 </a:t>
                      </a:r>
                      <a:r>
                        <a:rPr lang="ko-KR" altLang="en-US" sz="7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콜백</a:t>
                      </a:r>
                      <a:endParaRPr lang="en-US" altLang="ko-KR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액세스 토큰 교환 </a:t>
                      </a:r>
                      <a:r>
                        <a:rPr lang="en-US" altLang="ko-KR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UID 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조회 </a:t>
                      </a:r>
                      <a:r>
                        <a:rPr lang="en-US" altLang="ko-KR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미존재시 신규가입 </a:t>
                      </a:r>
                      <a:r>
                        <a:rPr lang="en-US" altLang="ko-KR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세션</a:t>
                      </a:r>
                      <a:r>
                        <a:rPr lang="en-US" altLang="ko-KR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/JWT 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발급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메인 화면 이동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FUNC-003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실패 처리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카카오 인증 실패</a:t>
                      </a:r>
                      <a:r>
                        <a:rPr lang="en-US" altLang="ko-KR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사용자 취소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에러 코드 확인 및 안내 메시지 표시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화면 </a:t>
                      </a:r>
                      <a:r>
                        <a:rPr lang="ko-KR" altLang="en-US" sz="7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재노출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FUNC-004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약관 동의 처리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카카오 로그인 진행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이용약관</a:t>
                      </a:r>
                      <a:r>
                        <a:rPr lang="en-US" altLang="ko-KR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개인정보처리방침 동의 처리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동의 완료로 간주 후 인증 진행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777240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777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108864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228839"/>
              </p:ext>
            </p:extLst>
          </p:nvPr>
        </p:nvGraphicFramePr>
        <p:xfrm>
          <a:off x="6199632" y="1051560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메인 화면의 시작하기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버튼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성공 시 메인 화면 이동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신규 사용자는 자동 가입 처리 후 동일하게 메인 화면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카카오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SSO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단일 인증 및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UID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기반 사용자 식별 처리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24048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2404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23774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/>
        </p:nvGraphicFramePr>
        <p:xfrm>
          <a:off x="6199632" y="2679192"/>
          <a:ext cx="5623560" cy="130149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Image/Text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‘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만다린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＇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서비스 로고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히어로 텍스트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서비스 설명 및 </a:t>
                      </a: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도시 성장 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일러스트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Image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3D 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도시 성장을 나타내는 그래픽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카카오 로그인 버튼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카카오 </a:t>
                      </a:r>
                      <a:r>
                        <a:rPr lang="en-US" altLang="ko-KR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Oauth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인가 요청 트리거</a:t>
                      </a:r>
                      <a:endParaRPr lang="en-US" altLang="ko-KR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27939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279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2519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09678B1-0169-409A-A6DF-72E8BC0297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10" t="16801" r="12937" b="17431"/>
          <a:stretch/>
        </p:blipFill>
        <p:spPr>
          <a:xfrm>
            <a:off x="1018222" y="1051560"/>
            <a:ext cx="4318635" cy="2763575"/>
          </a:xfrm>
          <a:prstGeom prst="rect">
            <a:avLst/>
          </a:prstGeom>
        </p:spPr>
      </p:pic>
      <p:graphicFrame>
        <p:nvGraphicFramePr>
          <p:cNvPr id="80" name="Table 3"/>
          <p:cNvGraphicFramePr>
            <a:graphicFrameLocks noGrp="1"/>
          </p:cNvGraphicFramePr>
          <p:nvPr/>
        </p:nvGraphicFramePr>
        <p:xfrm>
          <a:off x="6199632" y="4553712"/>
          <a:ext cx="5623560" cy="138684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authorizationCode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카카오 </a:t>
                      </a:r>
                      <a:r>
                        <a:rPr lang="en-US" altLang="ko-KR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Oauth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인가 코드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kakaoAccessToken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카카오 액세스 토큰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uid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서비스 내 사용자 고유 식별자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nickname 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카카오 프로필 닉네임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isNewUser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Boolean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최초 로그인 여부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accessToken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서비스 로그인 성공 시 발급되는 세션 토큰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603066"/>
                  </a:ext>
                </a:extLst>
              </a:tr>
            </a:tbl>
          </a:graphicData>
        </a:graphic>
      </p:graphicFrame>
      <p:sp>
        <p:nvSpPr>
          <p:cNvPr id="84" name="Text 71">
            <a:extLst>
              <a:ext uri="{FF2B5EF4-FFF2-40B4-BE49-F238E27FC236}">
                <a16:creationId xmlns:a16="http://schemas.microsoft.com/office/drawing/2014/main" id="{61404902-8D72-48BA-91BD-3DEC17A58C52}"/>
              </a:ext>
            </a:extLst>
          </p:cNvPr>
          <p:cNvSpPr/>
          <p:nvPr/>
        </p:nvSpPr>
        <p:spPr>
          <a:xfrm>
            <a:off x="6492240" y="74980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</a:rPr>
              <a:t>화면 정보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526829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80238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80238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77495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1076706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3" name="Shape 61"/>
          <p:cNvSpPr/>
          <p:nvPr/>
        </p:nvSpPr>
        <p:spPr>
          <a:xfrm>
            <a:off x="365760" y="4057650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05765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403021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/>
        </p:nvGraphicFramePr>
        <p:xfrm>
          <a:off x="365760" y="4304538"/>
          <a:ext cx="5623560" cy="1975104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 err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 err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FUNC-001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태스크 로컬 완료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토글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체크박스 클릭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서버 저장 전 화면 내 로컬 상태만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토글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완료 시 취소선 표시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),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이동 없음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변경사항 배너 노출 및 변경 건수 갱신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FUNC-002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변경사항 적용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적용하기 버튼 클릭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로컬에서 변경된 태스크 완료 요청을 서버에 일괄 전송 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포인트 지급 및 건물 성장 처리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포인트 및 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3D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뷰 갱신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FUNC-003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변경사항 취소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취소 버튼 클릭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로컬에서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토글된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체크 상태를 서버 반영 이전 상태로 복구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태스크 리스트 원상 복구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FUNC-004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도시 전환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화살표 클릭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도시 전환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다른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만다라트의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3D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뷰 표시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FUNC-005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새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생성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새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만들기 클릭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새로운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생성 화면으로 이동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생성 화면 진입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37232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FUNC-006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상세 보기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3D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뷰 클릭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선택된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만다라트의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상세 뷰로 라우팅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상세 화면 표시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35967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FUNC-007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라우팅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 클릭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/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상점 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 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화면으로 이동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해당 화면 표시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GNB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활성 탭 갱신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45247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FUNC-008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조회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아이콘 클릭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미확인 알림 목록 조회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드롭다운 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화면 표시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917459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79324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79152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111379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918969"/>
              </p:ext>
            </p:extLst>
          </p:nvPr>
        </p:nvGraphicFramePr>
        <p:xfrm>
          <a:off x="6199632" y="1040130"/>
          <a:ext cx="5623560" cy="136245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후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메인화면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로그인 성공 시 자동진입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이후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홈 클릭 시 재진입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3D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도시 카드 클릭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상세 화면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새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만들기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생성 화면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클릭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/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상점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오늘의 반복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마감 과제 관리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포인트 확인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만다라트별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달성률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마을 성장 현황 시각화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247624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247624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245745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/>
        </p:nvGraphicFramePr>
        <p:xfrm>
          <a:off x="6199632" y="2750566"/>
          <a:ext cx="5623560" cy="186135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1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로고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Image/Text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만다린 서비스 로고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Link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각 메뉴 표시 및 현재 위치 강조 표시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오늘의 할 일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Card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당일 반복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/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마감 과제 섹션 헤더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태스크 항목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Checkbox+Tag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과제명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완료 체크박스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도메인 태그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변경사항 배너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Banner+Button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변경 건수 표시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적용하기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취소 버튼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⑥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새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생성 버튼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신규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생성 화면 진입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636176"/>
                  </a:ext>
                </a:extLst>
              </a:tr>
              <a:tr h="141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⑦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포인트 표시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Badge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포인트 실시간 표시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237218"/>
                  </a:ext>
                </a:extLst>
              </a:tr>
              <a:tr h="141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⑧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3D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마을 뷰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완료된 실천과제만큼 성장한 건물 렌더링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41102"/>
                  </a:ext>
                </a:extLst>
              </a:tr>
              <a:tr h="141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⑨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좌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우 전환 화살표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보유중인 다른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도시로 전환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87077"/>
                  </a:ext>
                </a:extLst>
              </a:tr>
              <a:tr h="141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⑩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정보 오버레이 카드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Card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제목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달성률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공개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비공개 여부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189317"/>
                  </a:ext>
                </a:extLst>
              </a:tr>
              <a:tr h="141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⑪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아이콘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목록 조회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진입점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430548"/>
                  </a:ext>
                </a:extLst>
              </a:tr>
              <a:tr h="1412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⑫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프로필 아이콘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마이페이지 조회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진입점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146643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694218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69421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66678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/>
        </p:nvGraphicFramePr>
        <p:xfrm>
          <a:off x="6199632" y="4968538"/>
          <a:ext cx="5623560" cy="1298448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todayTasks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Array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오늘의 반복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마감 태스크 목록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(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태스크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ID,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이름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도메인 태그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완료여부 포함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pendingChangeCount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서버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미반영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로컬 변경 건수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points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사용자 보유 포인트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mandarts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Array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목록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(ID,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제목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달성률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공개여부 포함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currentCityIndex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현재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3D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마을 뷰에서 보여지는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도시 인덱스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6" name="그림 25">
            <a:extLst>
              <a:ext uri="{FF2B5EF4-FFF2-40B4-BE49-F238E27FC236}">
                <a16:creationId xmlns:a16="http://schemas.microsoft.com/office/drawing/2014/main" id="{E6A309F2-29EE-4F0C-82DB-1FFFF6DA17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03" t="16800" r="11562" b="17333"/>
          <a:stretch/>
        </p:blipFill>
        <p:spPr>
          <a:xfrm>
            <a:off x="708025" y="1122426"/>
            <a:ext cx="4939030" cy="2803118"/>
          </a:xfrm>
          <a:prstGeom prst="rect">
            <a:avLst/>
          </a:prstGeom>
        </p:spPr>
      </p:pic>
      <p:sp>
        <p:nvSpPr>
          <p:cNvPr id="55" name="Text 71">
            <a:extLst>
              <a:ext uri="{FF2B5EF4-FFF2-40B4-BE49-F238E27FC236}">
                <a16:creationId xmlns:a16="http://schemas.microsoft.com/office/drawing/2014/main" id="{007848BD-280A-4C06-B9D4-50D72BB9F839}"/>
              </a:ext>
            </a:extLst>
          </p:cNvPr>
          <p:cNvSpPr/>
          <p:nvPr/>
        </p:nvSpPr>
        <p:spPr>
          <a:xfrm>
            <a:off x="6492240" y="77495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</a:rPr>
              <a:t>화면 정보</a:t>
            </a:r>
            <a:endParaRPr lang="en-US" sz="1450" dirty="0"/>
          </a:p>
        </p:txBody>
      </p:sp>
      <p:sp>
        <p:nvSpPr>
          <p:cNvPr id="95" name="Text 58">
            <a:extLst>
              <a:ext uri="{FF2B5EF4-FFF2-40B4-BE49-F238E27FC236}">
                <a16:creationId xmlns:a16="http://schemas.microsoft.com/office/drawing/2014/main" id="{EF24DAC3-3607-4F39-8426-6769B6C0B651}"/>
              </a:ext>
            </a:extLst>
          </p:cNvPr>
          <p:cNvSpPr/>
          <p:nvPr/>
        </p:nvSpPr>
        <p:spPr>
          <a:xfrm>
            <a:off x="65039" y="324960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069607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75895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758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7315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103327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401421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0142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98678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/>
        </p:nvGraphicFramePr>
        <p:xfrm>
          <a:off x="365760" y="4261104"/>
          <a:ext cx="5623560" cy="177393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FUNC-001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닉네임 변경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닉네임 변경 버튼 클릭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닉네임 변경 팝업 창 오픈 </a:t>
                      </a:r>
                      <a:r>
                        <a:rPr lang="en-US" altLang="ko-KR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형식 검증 및 서버 반영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프로필 카드 닉네임 갱신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FUNC-002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누적 활동 통계 조회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로드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총 수행 완료 태스크 수 및 전월 대비 증강 집계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통계 카드 표시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FUNC-003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건물 현황 조회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로드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건물 수 및 전체 건물 종류 대비 비율 계산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수치 및 진행 바 표시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FUNC-004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과제 등록 시 </a:t>
                      </a:r>
                      <a:r>
                        <a:rPr lang="ko-KR" altLang="en-US" sz="7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달성률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조회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조회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등록된 실천과제 대비 완료 과제 비율 계산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퍼센트 표시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FUNC-005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</a:t>
                      </a:r>
                      <a:r>
                        <a:rPr lang="ko-KR" altLang="en-US" sz="7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목록 이동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카드 클릭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</a:t>
                      </a:r>
                      <a:r>
                        <a:rPr lang="ko-KR" altLang="en-US" sz="7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목록 화면으로 라우팅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목록 화면 표시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1649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FUNC-006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수짐품</a:t>
                      </a:r>
                      <a:r>
                        <a:rPr lang="en-US" altLang="ko-KR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컬렉션</a:t>
                      </a:r>
                      <a:r>
                        <a:rPr lang="en-US" altLang="ko-KR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 </a:t>
                      </a: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이동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카드 클릭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건물 컬렉션 화면으로 라우팅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컬렉션 화면 표시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815187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75895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758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107035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82628"/>
              </p:ext>
            </p:extLst>
          </p:nvPr>
        </p:nvGraphicFramePr>
        <p:xfrm>
          <a:off x="6199632" y="1033272"/>
          <a:ext cx="5623560" cy="136245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마이페이지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헤더 프로필 아바타 클릭 시 진입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닉네임 변경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닉네임 변경 팝업 창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보기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목록 화면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수집품 보기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건물 컬렉션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사용자의 누적 활동 통계 확인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프로필 관리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목록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수집품 화면으로 빠른 이동 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2417948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242761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240018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/>
        </p:nvGraphicFramePr>
        <p:xfrm>
          <a:off x="6199632" y="2701934"/>
          <a:ext cx="5623560" cy="19050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Link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각 메뉴의 화면으로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프로필 카드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Card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아바타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닉네임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참여 그룹 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닉네임 변경 버튼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낙네임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변경 페이지 </a:t>
                      </a: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진입점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수행한 과제 카드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Stat Card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누적 완료 태스크 수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전월 대비 증감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보유한 건물 카드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Stat Card +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Progress Bar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건물 수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및 전체 건물 종류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진행률 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달성률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카드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Stat Card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등록된 과제 대비 완료 비율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92397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</a:t>
                      </a: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보기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Card(Link)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</a:t>
                      </a: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목록 화면으로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07301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수집품 보기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Card(Link)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건물 컬렉션 화면으로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549793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71337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71337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68594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/>
        </p:nvGraphicFramePr>
        <p:xfrm>
          <a:off x="6199632" y="4987694"/>
          <a:ext cx="5623560" cy="1780032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nickname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사용자 닉네임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uid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사용자 고유 식별자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(@handle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표시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groupCount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함께 참여중인 그룹 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totalCompletedTasks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누적 완료 실천과제 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completedTasksDeltaLastMonth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전월 대비 완료 과제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증감분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ownedBuildings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건물 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2938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totalBuildings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전체 건물 종류 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7757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completionRateOnRegister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등록 과제 대비 완료 비율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308708"/>
                  </a:ext>
                </a:extLst>
              </a:tr>
            </a:tbl>
          </a:graphicData>
        </a:graphic>
      </p:graphicFrame>
      <p:sp>
        <p:nvSpPr>
          <p:cNvPr id="48" name="Text 71">
            <a:extLst>
              <a:ext uri="{FF2B5EF4-FFF2-40B4-BE49-F238E27FC236}">
                <a16:creationId xmlns:a16="http://schemas.microsoft.com/office/drawing/2014/main" id="{D78D1E73-30FB-426E-9637-6385F3BBD4D0}"/>
              </a:ext>
            </a:extLst>
          </p:cNvPr>
          <p:cNvSpPr/>
          <p:nvPr/>
        </p:nvSpPr>
        <p:spPr>
          <a:xfrm>
            <a:off x="6492240" y="7315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</a:rPr>
              <a:t>화면 정보</a:t>
            </a:r>
            <a:endParaRPr lang="en-US" sz="145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1536E2-4758-44AB-904F-C2934AD47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25" y="1070356"/>
            <a:ext cx="4971429" cy="282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456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7772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107899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405993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059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403250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/>
        </p:nvGraphicFramePr>
        <p:xfrm>
          <a:off x="365760" y="4306824"/>
          <a:ext cx="5623560" cy="189585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오픈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마이페이지의 닉네임 변경 버튼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현재 닉네임 값으로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입력창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초기화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텍스트 전체 선택 상태로 자동 포커스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노출 및 배경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딤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처리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닉네임 입력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입력창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타이핑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실시간 글자 수 카운트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최대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12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자 초과 입력 제한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12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자 초과 시 추가 입력 불가 또는 경고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닉네임 저장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저장 버튼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공백 및 길이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(1~12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자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형식 유효성 검사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통과 시 서버에 닉네임 변경 요청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성공 시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닫힘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+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마이페이지 프로필 닉네임 갱신</a:t>
                      </a:r>
                      <a:endParaRPr lang="en-US" altLang="ko-KR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실패 시 에러 메시지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FUNC-004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취소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취소 버튼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입력값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폐기 및 변경 사항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미반영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닫힘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기존 닉네임 유지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FUNC-005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닫기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X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버튼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입력값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폐기 및 변경 사항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미반영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닫힘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기존 닉네임 유지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4151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111607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821623"/>
              </p:ext>
            </p:extLst>
          </p:nvPr>
        </p:nvGraphicFramePr>
        <p:xfrm>
          <a:off x="6199632" y="107899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닉네임 변경 팝업 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마이페이지에서 닉네임 변경 버튼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저장 버튼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저장 성공 시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닫힘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+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마이페이지 프로필 갱신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취소 또는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X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버튼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모달만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닫히며 변경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기존 닉네임을 새 닉네임으로 수정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243230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2432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240487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/>
        </p:nvGraphicFramePr>
        <p:xfrm>
          <a:off x="6199632" y="2706624"/>
          <a:ext cx="5623560" cy="19994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배경 오버레이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Overlay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오픈 시 뒤의 화면을 </a:t>
                      </a: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딤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처리하여 비활성화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타이틀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“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닉네임 변경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“ 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닫기 버튼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모달을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즉시 닫음 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변경 </a:t>
                      </a: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미반영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입력 라벨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“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새 닉네임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”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필드 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닉네임 </a:t>
                      </a: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입력창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Input(Text)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기존 닉네임이 기본값으로 채워지고 전체 선택된 상태로 포커스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글자 수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최대 </a:t>
                      </a:r>
                      <a:r>
                        <a:rPr lang="en-US" altLang="ko-KR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12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자까지 입력 가능함을 안내 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1536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저장 버튼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유효성 검사 통과 시 닉네임 저장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144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취소 버튼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입력값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폐기 후 </a:t>
                      </a:r>
                      <a:r>
                        <a:rPr lang="ko-KR" altLang="en-US" sz="85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닫음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422592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818888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818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79145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247553"/>
              </p:ext>
            </p:extLst>
          </p:nvPr>
        </p:nvGraphicFramePr>
        <p:xfrm>
          <a:off x="6199632" y="5093208"/>
          <a:ext cx="5623560" cy="102108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currentNickname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오픈 시 입력창에 채워지는 기존 닉네임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newNickname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새로 입력한 닉네임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maxLength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입력 가능한 최대 글자 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success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Boolean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저장 성공 여부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Text 71">
            <a:extLst>
              <a:ext uri="{FF2B5EF4-FFF2-40B4-BE49-F238E27FC236}">
                <a16:creationId xmlns:a16="http://schemas.microsoft.com/office/drawing/2014/main" id="{42C8CD5B-1A02-451A-B60D-EEFE9FF19C30}"/>
              </a:ext>
            </a:extLst>
          </p:cNvPr>
          <p:cNvSpPr/>
          <p:nvPr/>
        </p:nvSpPr>
        <p:spPr>
          <a:xfrm>
            <a:off x="6492240" y="781939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</a:rPr>
              <a:t>화면 정보</a:t>
            </a:r>
            <a:endParaRPr lang="en-US" sz="145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D38BBD-AD20-4A77-93E9-563DEB1F2F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34" t="16402" r="12087" b="17198"/>
          <a:stretch/>
        </p:blipFill>
        <p:spPr>
          <a:xfrm>
            <a:off x="1142776" y="1194625"/>
            <a:ext cx="4069528" cy="257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2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7772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107899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405993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059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403250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/>
        </p:nvGraphicFramePr>
        <p:xfrm>
          <a:off x="365760" y="4306824"/>
          <a:ext cx="5623560" cy="143865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FUNC-001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목록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로드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친구 목록 및 총 인원수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 및 인원수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FUNC-002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보기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해당 친구의 공개 설정된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화면으로 라우팅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상세 화면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FUNC-003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삭제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X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버튼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확인 절차 후 친구 관계 삭제 요청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목록에서 즉시 제거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인원 수 갱신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FUNC-004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서브 탭 전환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찾기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 초대 탭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찾기 또는 받은 초대 화면으로 라우팅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해당 화면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FUNC-005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이동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번호 또는 화살표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해당 페이지의 친구 목록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재조회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 갱신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4151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111607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466546"/>
              </p:ext>
            </p:extLst>
          </p:nvPr>
        </p:nvGraphicFramePr>
        <p:xfrm>
          <a:off x="6199632" y="107899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친구 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버튼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보기 클릭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해당 친구의 공개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화면으로 이동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상단 탭 클릭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찾기 또는 받은 초대 화면으로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목록 조회 및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243230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2432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240487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/>
        </p:nvGraphicFramePr>
        <p:xfrm>
          <a:off x="6199632" y="2706624"/>
          <a:ext cx="5623560" cy="251155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Link(Tab)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홈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내만다라트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상점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리더보드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활성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포인트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Badge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포인트 실시간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아이콘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목록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프로필 아바타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마이페이지 진입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타이틀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타이틀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⑥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서브 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Tab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친구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찾기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 초대 전환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 초대에 대기 건수 배치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1536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⑦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리스트 헤더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친구 및 보유 친구 수 요약 문구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144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⑧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항목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Avatar + 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아바타 및 닉네임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42259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⑨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보기 버튼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해당 친구의 공개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화면으로 이동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06902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⑩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삭제 버튼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관계 삭제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62342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⑪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페이지네이션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Pagination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목록 페이지 이동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082475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5303520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5303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527608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825696"/>
              </p:ext>
            </p:extLst>
          </p:nvPr>
        </p:nvGraphicFramePr>
        <p:xfrm>
          <a:off x="6199632" y="5577840"/>
          <a:ext cx="5623560" cy="73152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friendList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Array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친구 목록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friendCount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친구 총 인원수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currentPage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현재 조회 중인 페이지 번호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Text 71">
            <a:extLst>
              <a:ext uri="{FF2B5EF4-FFF2-40B4-BE49-F238E27FC236}">
                <a16:creationId xmlns:a16="http://schemas.microsoft.com/office/drawing/2014/main" id="{42C8CD5B-1A02-451A-B60D-EEFE9FF19C30}"/>
              </a:ext>
            </a:extLst>
          </p:cNvPr>
          <p:cNvSpPr/>
          <p:nvPr/>
        </p:nvSpPr>
        <p:spPr>
          <a:xfrm>
            <a:off x="6492240" y="781939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</a:rPr>
              <a:t>화면 정보</a:t>
            </a:r>
            <a:endParaRPr lang="en-US" sz="145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D3EFFC-F503-429D-80EC-F3F1ECFC8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" y="1106424"/>
            <a:ext cx="49720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461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7772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107899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405993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059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403250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988829"/>
              </p:ext>
            </p:extLst>
          </p:nvPr>
        </p:nvGraphicFramePr>
        <p:xfrm>
          <a:off x="365760" y="4306824"/>
          <a:ext cx="5623560" cy="969264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FUNC-001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사용자 검색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검색어 입력 후 검색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UUID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기준 사용자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입력된 </a:t>
                      </a: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UUID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의 사용자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FUNC-002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추가 요청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추가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대상 사용자에게 친구 추가 요청 전송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버튼 상태 변경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(ex: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요청됨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FUNC-003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서브 탭 전환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친구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 초대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친구 또는 받은 초대 화면으로 라우팅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해당 화면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111607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118932"/>
              </p:ext>
            </p:extLst>
          </p:nvPr>
        </p:nvGraphicFramePr>
        <p:xfrm>
          <a:off x="6199632" y="107899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찾기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화면 상단 친구 찾기 탭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추가 클릭 시 요청 처리 후 현재 화면 유지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상단 탭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전환시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내 친구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 초대 화면으로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UUID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 사용자를 검색하고 친구 추가 요청을 전송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243230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2432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240487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/>
        </p:nvGraphicFramePr>
        <p:xfrm>
          <a:off x="6199632" y="2706624"/>
          <a:ext cx="5623560" cy="251679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43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0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Link(Tab)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홈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내만다라트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상점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리더보드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활성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포인트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Badge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포인트 실시간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아이콘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목록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프로필 아바타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마이페이지 진입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타이틀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‘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’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타이틀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서브 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Tab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친구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찾기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 초대 전환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15363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검색 카드 헤더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‘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찾기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’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타이틀 및 검색 안내 문구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14412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검색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입력창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Input(Text)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UUID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입력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422592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검색 버튼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입력된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UUID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로 사용자 조회 실행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635740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결과 인원 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72940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⑪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검색 결과 항목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Avatar + 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검색된 사용자 아바타 및 닉네임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577258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⑫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추가 버튼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해당 사용자에게 친구 추가 요청 전송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479387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페이지네이션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Pagination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954100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5338000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5338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531056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17618"/>
              </p:ext>
            </p:extLst>
          </p:nvPr>
        </p:nvGraphicFramePr>
        <p:xfrm>
          <a:off x="6199632" y="5612320"/>
          <a:ext cx="5623560" cy="8382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searchKeyword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입력된 검색어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(UUID)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searchResult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Array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검색 결과 목록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requestSentUserids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Array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이미 친구 요청을 보낸 사용자 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UUID </a:t>
                      </a: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Text 71">
            <a:extLst>
              <a:ext uri="{FF2B5EF4-FFF2-40B4-BE49-F238E27FC236}">
                <a16:creationId xmlns:a16="http://schemas.microsoft.com/office/drawing/2014/main" id="{42C8CD5B-1A02-451A-B60D-EEFE9FF19C30}"/>
              </a:ext>
            </a:extLst>
          </p:cNvPr>
          <p:cNvSpPr/>
          <p:nvPr/>
        </p:nvSpPr>
        <p:spPr>
          <a:xfrm>
            <a:off x="6492240" y="781939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</a:rPr>
              <a:t>화면 정보</a:t>
            </a:r>
            <a:endParaRPr lang="en-US" sz="145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BC14C9-ECA7-40EB-9957-9A858F98C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09" y="1138206"/>
            <a:ext cx="4934662" cy="280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714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7772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107899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405993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059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403250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/>
        </p:nvGraphicFramePr>
        <p:xfrm>
          <a:off x="365760" y="4306824"/>
          <a:ext cx="5623560" cy="182575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FUNC-001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 초대 목록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로드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대기 중인 친구 요청 목록 및 건수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 및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‘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 초대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’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탭 배지 건수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FUNC-002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초대 수락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수락 버튼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관계 성립 처리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목록에서 제거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친구 화면에 반영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배지 건수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FUNC-003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초대 거절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거절 버튼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요청 레코드 삭제 처리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목록에서 제거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배지 건수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FUNC-004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신규 요청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일정 시간 이내 수신된 요청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‘NEW’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배지 노출 기준 판정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 상단 강조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FUNC-005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서브 탭 전환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친구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찾기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친구 또는 친구 찾기 화면으로 라우팅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해당 화면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415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FUNC-006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이동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번호 또는 화살표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 초대 다음 페이지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 갱신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61475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111607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121371"/>
              </p:ext>
            </p:extLst>
          </p:nvPr>
        </p:nvGraphicFramePr>
        <p:xfrm>
          <a:off x="6199632" y="107899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 초대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화면 상단 받은 초대 탭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수락 클릭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친구 목록에 반영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현재 화면 유지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상단 탭 전환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  <a:sym typeface="Wingdings" panose="05000000000000000000" pitchFamily="2" charset="2"/>
                        </a:rPr>
                        <a:t> -&gt;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  <a:sym typeface="Wingdings" panose="05000000000000000000" pitchFamily="2" charset="2"/>
                        </a:rPr>
                        <a:t>내 친구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  <a:sym typeface="Wingdings" panose="05000000000000000000" pitchFamily="2" charset="2"/>
                        </a:rPr>
                        <a:t>친구 찾기 화면으로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수신된 친구 요청 확인 및 수락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거절 처리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243230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2432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240487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/>
        </p:nvGraphicFramePr>
        <p:xfrm>
          <a:off x="6199632" y="2706624"/>
          <a:ext cx="5623560" cy="216103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Link(Tab)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홈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내만다라트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상점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리더보드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활성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포인트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Badge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포인트 실시간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아이콘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목록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프로필 아바타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마이페이지 진입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타이틀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‘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’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타이틀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서브 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Tab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친구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찾기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 초대 전환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15363"/>
                  </a:ext>
                </a:extLst>
              </a:tr>
              <a:tr h="158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리스트 헤더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‘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 초대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’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문구 및 대기 중인 요청 건수 요약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14412"/>
                  </a:ext>
                </a:extLst>
              </a:tr>
              <a:tr h="2377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요청 항목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Avatar + Text + Badge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요청자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아바타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닉네임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신규 요청 시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“NEW”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배지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수신 경과 시간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422592"/>
                  </a:ext>
                </a:extLst>
              </a:tr>
              <a:tr h="158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수락 버튼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요청 수락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548227"/>
                  </a:ext>
                </a:extLst>
              </a:tr>
              <a:tr h="158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거절 버튼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요청 거절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007233"/>
                  </a:ext>
                </a:extLst>
              </a:tr>
              <a:tr h="158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⑪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페이지네이션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Pagination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 초대 목록 페이지 이동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74093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983480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983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95604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21574"/>
              </p:ext>
            </p:extLst>
          </p:nvPr>
        </p:nvGraphicFramePr>
        <p:xfrm>
          <a:off x="6199632" y="5257800"/>
          <a:ext cx="5623560" cy="94488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receivedInvites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Array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</a:t>
                      </a: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초대 목록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(UUID, </a:t>
                      </a: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닉네임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요청시각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en-US" altLang="ko-KR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isNew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pendingInviteCount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받은 초대 탭 배지에 표시되는 대기 건수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currentPage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현재 조회중인 페이지 번호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Text 71">
            <a:extLst>
              <a:ext uri="{FF2B5EF4-FFF2-40B4-BE49-F238E27FC236}">
                <a16:creationId xmlns:a16="http://schemas.microsoft.com/office/drawing/2014/main" id="{42C8CD5B-1A02-451A-B60D-EEFE9FF19C30}"/>
              </a:ext>
            </a:extLst>
          </p:cNvPr>
          <p:cNvSpPr/>
          <p:nvPr/>
        </p:nvSpPr>
        <p:spPr>
          <a:xfrm>
            <a:off x="6492240" y="781939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</a:rPr>
              <a:t>화면 정보</a:t>
            </a:r>
            <a:endParaRPr lang="en-US" sz="145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DB2DF73-31BF-4EAF-9724-2A72FED6E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92" y="1145207"/>
            <a:ext cx="4829695" cy="27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91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103907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390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76475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378227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103120" y="2517923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59171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35917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331739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909778"/>
              </p:ext>
            </p:extLst>
          </p:nvPr>
        </p:nvGraphicFramePr>
        <p:xfrm>
          <a:off x="365760" y="3606059"/>
          <a:ext cx="5623560" cy="281461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초대 대기 건수 조회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화면 마운트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group_request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테이블에서 수신자가 본인이고 상태가 대기 중인 레코드 카운트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배지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(Badge)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 해당 숫자 출력 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(0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건일 경우 배지 숨김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초대 팝업 호출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초대 수락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서브 화면인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 초대 목록 팝업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컴포넌트 마운트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화면 중앙에 초대 목록 팝업 노출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개인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조회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화면 마운트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본인 소유의 시트 정보 및 태스크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달성률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데이터를 조회하여 바인딩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이미지 바인딩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만다라트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 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영역에 카드 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 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FUNC-004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조회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화면 마운트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테이블에서 본인이 속한 방 목록 데이터와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달성률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데이터를 조회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 만다라트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 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영역에 리스트 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 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 삭제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카드 우측 상단 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 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데이터 삭제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삭제 팝업 노출 및 삭제 성공 시 리스트 갱신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17599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FUNC-006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 상세 진입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개인 카드 또는 그룹 리스트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이동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클릭한 개인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그룹시트를 파라미터로 상세 화면 이동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개인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2D/3D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또는 그룹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뷰로 라우팅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256321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103907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10390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76475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724998"/>
              </p:ext>
            </p:extLst>
          </p:nvPr>
        </p:nvGraphicFramePr>
        <p:xfrm>
          <a:off x="6199632" y="378227"/>
          <a:ext cx="5623560" cy="122529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만다라트목록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헤더 메뉴의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‘</a:t>
                      </a:r>
                      <a:r>
                        <a:rPr lang="ko-KR" altLang="en-US" sz="900" dirty="0"/>
                        <a:t>내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탭</a:t>
                      </a:r>
                      <a:r>
                        <a:rPr lang="en-US" altLang="ko-KR" sz="900" dirty="0"/>
                        <a:t>’</a:t>
                      </a:r>
                      <a:r>
                        <a:rPr lang="ko-KR" altLang="en-US" sz="900" dirty="0"/>
                        <a:t> 클릭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마이페이지 </a:t>
                      </a:r>
                      <a:r>
                        <a:rPr lang="en-US" altLang="ko-KR" sz="900" dirty="0"/>
                        <a:t>‘</a:t>
                      </a:r>
                      <a:r>
                        <a:rPr lang="ko-KR" altLang="en-US" sz="900" dirty="0"/>
                        <a:t>내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보기</a:t>
                      </a:r>
                      <a:r>
                        <a:rPr lang="en-US" altLang="ko-KR" sz="900" dirty="0"/>
                        <a:t>’ </a:t>
                      </a:r>
                      <a:r>
                        <a:rPr lang="ko-KR" altLang="en-US" sz="900" dirty="0"/>
                        <a:t>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생성 화면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그룹 초대 목록 팝업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상세</a:t>
                      </a:r>
                      <a:r>
                        <a:rPr lang="en-US" altLang="ko-KR" sz="900" dirty="0"/>
                        <a:t>(2D/3D), </a:t>
                      </a:r>
                      <a:r>
                        <a:rPr lang="ko-KR" altLang="en-US" sz="900" dirty="0"/>
                        <a:t>그룹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상세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생성된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시트 목록을 시각적으로 제공하며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그룹 초대 알림을 확인하고 수락할 수 있는 </a:t>
                      </a:r>
                      <a:r>
                        <a:rPr lang="ko-KR" altLang="en-US" sz="900" dirty="0" err="1"/>
                        <a:t>진입점</a:t>
                      </a:r>
                      <a:r>
                        <a:rPr lang="ko-KR" altLang="en-US" sz="900" dirty="0"/>
                        <a:t> 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1612043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161204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1584611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058761"/>
              </p:ext>
            </p:extLst>
          </p:nvPr>
        </p:nvGraphicFramePr>
        <p:xfrm>
          <a:off x="6194845" y="1881576"/>
          <a:ext cx="5623560" cy="25966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[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초대 수락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]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버튼 및 배지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미확인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/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대기 중인 그룹 초대건수를 빨간색 배지로 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[</a:t>
                      </a:r>
                      <a:r>
                        <a:rPr lang="ko-KR" altLang="en-US" sz="85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만다라트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 생성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]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개인용 신규 </a:t>
                      </a:r>
                      <a:r>
                        <a:rPr lang="ko-KR" altLang="en-US" sz="85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만다라트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 시트 생성 페이지 이동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개인 </a:t>
                      </a:r>
                      <a:r>
                        <a:rPr lang="ko-KR" altLang="en-US" sz="85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만다라트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 카드 목록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Card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기간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공개 여부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목표 썸네일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제목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전체 </a:t>
                      </a:r>
                      <a:r>
                        <a:rPr lang="ko-KR" altLang="en-US" sz="85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달성률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(%)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및 진행률 바 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그룹 </a:t>
                      </a:r>
                      <a:r>
                        <a:rPr lang="ko-KR" altLang="en-US" sz="85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만다라트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 리스트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List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소속된 그룹 방의 아이콘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제목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전체 완료 과제 수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멤버 수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85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달성률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(%)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및 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[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이동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]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버튼 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⑤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[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그룹 </a:t>
                      </a:r>
                      <a:r>
                        <a:rPr lang="ko-KR" altLang="en-US" sz="85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만다라트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 생성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]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새로운 그룹 방을 생성하는 페이지 호출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⑥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그룹 </a:t>
                      </a:r>
                      <a:r>
                        <a:rPr lang="ko-KR" altLang="en-US" sz="85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만다라트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 이동 버튼</a:t>
                      </a:r>
                      <a:endParaRPr lang="en-US" sz="85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그룹 상세 </a:t>
                      </a:r>
                      <a:r>
                        <a:rPr lang="ko-KR" altLang="en-US" sz="85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만다라트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 페이지 이동</a:t>
                      </a:r>
                      <a:endParaRPr lang="en-US" sz="85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7873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b="0" i="0" dirty="0">
                          <a:solidFill>
                            <a:srgbClr val="000000"/>
                          </a:solidFill>
                          <a:effectLst/>
                          <a:latin typeface="se-nanumbarungothic"/>
                        </a:rPr>
                        <a:t>⑦ </a:t>
                      </a:r>
                      <a:endParaRPr lang="en-US" sz="85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삭제 버튼</a:t>
                      </a:r>
                      <a:endParaRPr lang="en-US" sz="85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Button</a:t>
                      </a:r>
                      <a:endParaRPr lang="en-US" sz="85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카드 우측 상단 </a:t>
                      </a:r>
                      <a:r>
                        <a:rPr lang="en-US" altLang="ko-KR" sz="900" dirty="0"/>
                        <a:t>x </a:t>
                      </a:r>
                      <a:r>
                        <a:rPr lang="ko-KR" altLang="en-US" sz="900" dirty="0"/>
                        <a:t>아이콘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 err="1"/>
                        <a:t>클릭시</a:t>
                      </a:r>
                      <a:r>
                        <a:rPr lang="ko-KR" altLang="en-US" sz="900" dirty="0"/>
                        <a:t> 삭제 확인 팝업 이동</a:t>
                      </a:r>
                      <a:endParaRPr lang="en-US" sz="85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359855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549367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54936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521935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</a:t>
            </a: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124741"/>
              </p:ext>
            </p:extLst>
          </p:nvPr>
        </p:nvGraphicFramePr>
        <p:xfrm>
          <a:off x="6199632" y="4823687"/>
          <a:ext cx="5623560" cy="2033454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pendingCount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아직 확인이나 처리하지 않은 수신 초대 건수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sheetId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시트 고유 </a:t>
                      </a: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핵심 목표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건강한 몸 만들기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periodType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기간 유형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월간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연간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무기한 등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"MONTHLY"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progress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 태스크 중 완료된 비율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groupId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 방 고유 </a:t>
                      </a:r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5405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 방 제목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스터디 그룹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·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알고리즘 마스터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155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memberCount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 방에 소속된 인원 수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최대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4134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totalProgress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 전체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달성률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969760"/>
                  </a:ext>
                </a:extLst>
              </a:tr>
            </a:tbl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C1E716E-32F2-482E-AB02-5636D95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CFF61B-7902-484D-B3E2-8A526F77C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44" y="378227"/>
            <a:ext cx="5039591" cy="28673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01089" y="38342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103120" y="25231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6436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3643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33693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592298"/>
              </p:ext>
            </p:extLst>
          </p:nvPr>
        </p:nvGraphicFramePr>
        <p:xfrm>
          <a:off x="365760" y="3594219"/>
          <a:ext cx="5623560" cy="223658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FUNC-001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초대 목록 페이징 조회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팝업 마운트 및 하단 페이지 번호 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- </a:t>
                      </a:r>
                      <a:r>
                        <a:rPr lang="en-US" altLang="ko-KR" sz="73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group_request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테이블에서 수신자가 본인이고 상태가 대기 중인 레코드를 페이지 단위로 조회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해당 페이지의 초대장 데이터 리스트 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FUNC-002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초대 수락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특정 카드의 </a:t>
                      </a:r>
                      <a:r>
                        <a:rPr lang="en-US" altLang="ko-KR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[</a:t>
                      </a:r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수락하기</a:t>
                      </a:r>
                      <a:r>
                        <a:rPr lang="en-US" altLang="ko-KR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] </a:t>
                      </a:r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- </a:t>
                      </a:r>
                      <a:r>
                        <a:rPr lang="en-US" altLang="ko-KR" sz="73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group_request.progress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를 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accepted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로 업데이트</a:t>
                      </a:r>
                    </a:p>
                    <a:p>
                      <a:b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</a:b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- group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테이블의 빈 슬롯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(user_id2~4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중 하나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)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에 본인 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ID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업데이트</a:t>
                      </a:r>
                      <a:endParaRPr lang="en-US" altLang="ko-KR" sz="73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해당 카드가 리스트에서 즉시 사라지며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,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 </a:t>
                      </a:r>
                      <a:r>
                        <a:rPr lang="ko-KR" altLang="en-US" sz="73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만다라트의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 그룹 리스트 및 알림 배지 숫자 자동 갱신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FUNC-003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초대 거절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특정 카드의 </a:t>
                      </a:r>
                      <a:r>
                        <a:rPr lang="en-US" altLang="ko-KR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[</a:t>
                      </a:r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거절</a:t>
                      </a:r>
                      <a:r>
                        <a:rPr lang="en-US" altLang="ko-KR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] </a:t>
                      </a:r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-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레코드 삭제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카드가 리스트에서 삭제되며 알림 배지 숫자 차감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79453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FUNC-005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팝업 닫기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우측 상단 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[x]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버튼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- </a:t>
                      </a:r>
                      <a:r>
                        <a:rPr lang="ko-KR" altLang="en-US" sz="73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모달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 컴포넌트 </a:t>
                      </a:r>
                      <a:r>
                        <a:rPr lang="ko-KR" altLang="en-US" sz="73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언마운트</a:t>
                      </a:r>
                      <a:endParaRPr lang="en-US" altLang="ko-KR" sz="73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팝업이 닫히고 기존 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'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내 </a:t>
                      </a:r>
                      <a:r>
                        <a:rPr lang="ko-KR" altLang="en-US" sz="73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만다라트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 목록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'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화면 활성화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884030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01204"/>
              </p:ext>
            </p:extLst>
          </p:nvPr>
        </p:nvGraphicFramePr>
        <p:xfrm>
          <a:off x="6199632" y="38342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그룹 초대 목록 팝업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'</a:t>
                      </a:r>
                      <a:r>
                        <a:rPr lang="ko-KR" altLang="en-US" sz="900" dirty="0"/>
                        <a:t>내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목록</a:t>
                      </a:r>
                      <a:r>
                        <a:rPr lang="en-US" altLang="ko-KR" sz="900" dirty="0"/>
                        <a:t>' </a:t>
                      </a:r>
                      <a:r>
                        <a:rPr lang="ko-KR" altLang="en-US" sz="900" dirty="0"/>
                        <a:t>화면 우측 상단의 </a:t>
                      </a:r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초대 수락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버튼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팝업 닫기 시 기존 화면 유지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수락 시 배경의 그룹 목록 자동 갱신</a:t>
                      </a:r>
                      <a:r>
                        <a:rPr lang="en-US" altLang="ko-KR" sz="900" dirty="0"/>
                        <a:t>)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대기 중인 초대장을 </a:t>
                      </a:r>
                      <a:r>
                        <a:rPr lang="ko-KR" altLang="en-US" sz="900" dirty="0" err="1"/>
                        <a:t>페이징</a:t>
                      </a:r>
                      <a:r>
                        <a:rPr lang="ko-KR" altLang="en-US" sz="900" dirty="0"/>
                        <a:t> 처리하여 보여주고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각 요청에 대한 승인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거절 상태를 업데이트함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173673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173673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170930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968436"/>
              </p:ext>
            </p:extLst>
          </p:nvPr>
        </p:nvGraphicFramePr>
        <p:xfrm>
          <a:off x="6199632" y="2011054"/>
          <a:ext cx="5623560" cy="184491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팝업 헤더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Text/Button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팝업 타이틀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서브 텍스트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그리고 우측 상단의 닫기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(x)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②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초대 카드 리스트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List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한 페이지당 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n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개씩 노출되는 초대장 카드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.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그룹 아이콘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방 제목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초대한 사람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현재 멤버 수 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③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5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[</a:t>
                      </a:r>
                      <a:r>
                        <a:rPr lang="ko-KR" altLang="en-US" sz="85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거절</a:t>
                      </a:r>
                      <a:r>
                        <a:rPr lang="en-US" altLang="ko-KR" sz="85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] / [</a:t>
                      </a:r>
                      <a:r>
                        <a:rPr lang="ko-KR" altLang="en-US" sz="85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수락하기</a:t>
                      </a:r>
                      <a:r>
                        <a:rPr lang="en-US" altLang="ko-KR" sz="85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]</a:t>
                      </a:r>
                      <a:endParaRPr lang="ko-KR" altLang="en-US" sz="850" kern="120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각 초대 카드 하단에 위치한 액션 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④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페이지네이션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Pagination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팝업 하단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. 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대기 중인 초대가 많을 경우 페이지를 이동할 수 있는 숫자 및 이전</a:t>
                      </a:r>
                      <a:r>
                        <a:rPr lang="en-US" altLang="ko-KR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/</a:t>
                      </a:r>
                      <a:r>
                        <a:rPr lang="ko-KR" altLang="en-US" sz="85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다음 화살표 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509054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05133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05133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02390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329314"/>
              </p:ext>
            </p:extLst>
          </p:nvPr>
        </p:nvGraphicFramePr>
        <p:xfrm>
          <a:off x="6199632" y="4325654"/>
          <a:ext cx="5623560" cy="2525488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초대장 객체 배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... 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content[].</a:t>
                      </a:r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requestId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group_request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테이블의 고유 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1052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content[].groupId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연결된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group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테이블의 고유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content[].groupTitle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초대받은 방 제목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꾸준한 독서 모임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0353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content[].creatorName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방장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creator_id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 닉네임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4242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content[].memberCount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해당 방의 현재 인원 수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516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totalPages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페이지네이션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렌더링을 위한 총 페이지 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435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변경할 처리 상태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"ACCEPTED"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786129"/>
                  </a:ext>
                </a:extLst>
              </a:tr>
            </a:tbl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C1E716E-32F2-482E-AB02-5636D95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31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B4BB6F-8818-44F9-9723-A0E06FB06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94" y="405033"/>
            <a:ext cx="4995949" cy="284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89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119493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1949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92061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393813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103120" y="2533509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74757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37475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347325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497932"/>
              </p:ext>
            </p:extLst>
          </p:nvPr>
        </p:nvGraphicFramePr>
        <p:xfrm>
          <a:off x="365760" y="3621645"/>
          <a:ext cx="5623560" cy="2794584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kern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b="1" kern="1200" dirty="0">
                        <a:solidFill>
                          <a:srgbClr val="FFFFFF"/>
                        </a:solidFill>
                        <a:latin typeface="Malgun Gothic" pitchFamily="34" charset="0"/>
                        <a:ea typeface="Malgun Gothic" pitchFamily="34" charset="-122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kern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b="1" kern="1200" dirty="0">
                        <a:solidFill>
                          <a:srgbClr val="FFFFFF"/>
                        </a:solidFill>
                        <a:latin typeface="Malgun Gothic" pitchFamily="34" charset="0"/>
                        <a:ea typeface="Malgun Gothic" pitchFamily="34" charset="-122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kern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b="1" kern="1200" dirty="0">
                        <a:solidFill>
                          <a:srgbClr val="FFFFFF"/>
                        </a:solidFill>
                        <a:latin typeface="Malgun Gothic" pitchFamily="34" charset="0"/>
                        <a:ea typeface="Malgun Gothic" pitchFamily="34" charset="-122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kern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b="1" kern="1200" dirty="0">
                        <a:solidFill>
                          <a:srgbClr val="FFFFFF"/>
                        </a:solidFill>
                        <a:latin typeface="Malgun Gothic" pitchFamily="34" charset="0"/>
                        <a:ea typeface="Malgun Gothic" pitchFamily="34" charset="-122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kern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b="1" kern="1200" dirty="0">
                        <a:solidFill>
                          <a:srgbClr val="FFFFFF"/>
                        </a:solidFill>
                        <a:latin typeface="Malgun Gothic" pitchFamily="34" charset="0"/>
                        <a:ea typeface="Malgun Gothic" pitchFamily="34" charset="-122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FUNC-001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기본 정보 입력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기본 설정 데이터 입력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기본 설정 작성</a:t>
                      </a:r>
                      <a:endParaRPr lang="en-US" altLang="ko-KR" sz="73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</a:endParaRPr>
                    </a:p>
                    <a:p>
                      <a:pPr marL="171450" indent="-171450" algn="ctr" rtl="0" fontAlgn="b">
                        <a:buFontTx/>
                        <a:buChar char="-"/>
                      </a:pP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핵심목표</a:t>
                      </a:r>
                      <a:endParaRPr lang="en-US" altLang="ko-KR" sz="73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</a:endParaRPr>
                    </a:p>
                    <a:p>
                      <a:pPr marL="171450" indent="-171450" algn="ctr" rtl="0" fontAlgn="b">
                        <a:buFontTx/>
                        <a:buChar char="-"/>
                      </a:pP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기간설정 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: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현재시간부터 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1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개월 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~ 1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년 달력</a:t>
                      </a:r>
                      <a:endParaRPr lang="en-US" altLang="ko-KR" sz="73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</a:endParaRPr>
                    </a:p>
                    <a:p>
                      <a:pPr marL="171450" indent="-171450" algn="ctr" rtl="0" fontAlgn="b">
                        <a:buFontTx/>
                        <a:buChar char="-"/>
                      </a:pP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공개 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/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비공개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기본 설정 업데이트</a:t>
                      </a:r>
                    </a:p>
                  </a:txBody>
                  <a:tcPr marL="0" marR="0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FUNC-002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AI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태스크 생성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‘AI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로 태스크 생성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’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클릭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AI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태스크 페이지 이동 및 처리 결과에 따라 태스크 자동 완성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AI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태스크 페이지 이동</a:t>
                      </a:r>
                    </a:p>
                  </a:txBody>
                  <a:tcPr marL="0" marR="0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50954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FUNC-003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도메인 확대 연동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9x9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격자 내 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3x3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도메인 블록 클릭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클릭한 도메인 영역식별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-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우측 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3x3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뷰어에 해당 도메인 데이터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표시</a:t>
                      </a:r>
                      <a:endParaRPr lang="en-US" altLang="ko-KR" sz="73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</a:endParaRP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우측 확대 패널에 선택된 도메인 상세 내용 렌더링</a:t>
                      </a:r>
                    </a:p>
                  </a:txBody>
                  <a:tcPr marL="0" marR="0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39964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FUNC-004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수동 과제 추가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‘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수동 태스크 생성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’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클릭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태스크 세부 설정 팝업 이동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텍스트 입력 완료 시 셀에 내용과 </a:t>
                      </a:r>
                      <a:endParaRPr lang="en-US" altLang="ko-KR" sz="73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</a:endParaRPr>
                    </a:p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체크마크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표시</a:t>
                      </a:r>
                    </a:p>
                  </a:txBody>
                  <a:tcPr marL="0" marR="0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83374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FUNC-005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만다라트 뷰 전환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[2D </a:t>
                      </a:r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뷰</a:t>
                      </a:r>
                      <a:r>
                        <a:rPr lang="en-US" altLang="ko-KR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] / [3D </a:t>
                      </a:r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뷰</a:t>
                      </a:r>
                      <a:r>
                        <a:rPr lang="en-US" altLang="ko-KR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] </a:t>
                      </a:r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탭 클릭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선택한 뷰 모드에 따라 중앙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/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우측 렌더링 컴포넌트 교체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화면 중앙 영역이 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2D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격자 또는 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3D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마을 배치 </a:t>
                      </a:r>
                      <a:r>
                        <a:rPr lang="ko-KR" altLang="en-US" sz="73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맵으로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 전환</a:t>
                      </a:r>
                    </a:p>
                  </a:txBody>
                  <a:tcPr marL="0" marR="0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04685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FUNC-006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만다라트 저장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[</a:t>
                      </a:r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저장</a:t>
                      </a:r>
                      <a:r>
                        <a:rPr lang="en-US" altLang="ko-KR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] </a:t>
                      </a:r>
                      <a:r>
                        <a:rPr lang="ko-KR" altLang="en-US" sz="730" kern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버튼 클릭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-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필수 </a:t>
                      </a:r>
                      <a:r>
                        <a:rPr lang="ko-KR" altLang="en-US" sz="73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입력값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(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핵심 목표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,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기간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)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및 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81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칸 전체 작성 완료 여부 검증</a:t>
                      </a:r>
                      <a:endParaRPr lang="en-US" altLang="ko-KR" sz="73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</a:endParaRPr>
                    </a:p>
                    <a:p>
                      <a:pPr algn="ctr" rtl="0" fontAlgn="b"/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-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완료 시 서버로 데이터 전체 저장</a:t>
                      </a:r>
                      <a:endParaRPr lang="en-US" altLang="ko-KR" sz="73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</a:endParaRP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성공 시 데이터 저장 후 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'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내 </a:t>
                      </a:r>
                      <a:r>
                        <a:rPr lang="ko-KR" altLang="en-US" sz="73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만다라트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 목록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' </a:t>
                      </a:r>
                      <a:r>
                        <a:rPr lang="ko-KR" altLang="en-US" sz="73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리다이렉트</a:t>
                      </a:r>
                      <a:endParaRPr lang="en-US" altLang="ko-KR" sz="73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</a:endParaRPr>
                    </a:p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미완성시 경고 팝업</a:t>
                      </a:r>
                    </a:p>
                  </a:txBody>
                  <a:tcPr marL="0" marR="0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3338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FUNC-006</a:t>
                      </a:r>
                      <a:endParaRPr lang="en-US" sz="73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</a:endParaRP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만다라트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 취소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[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취소</a:t>
                      </a:r>
                      <a:r>
                        <a:rPr lang="en-US" altLang="ko-KR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] 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버튼 클릭</a:t>
                      </a: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 err="1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만다라트</a:t>
                      </a:r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 작성 취소</a:t>
                      </a:r>
                      <a:endParaRPr lang="en-US" altLang="ko-KR" sz="730" kern="1200" dirty="0">
                        <a:solidFill>
                          <a:srgbClr val="1F2937"/>
                        </a:solidFill>
                        <a:latin typeface="Malgun Gothic" pitchFamily="34" charset="0"/>
                        <a:ea typeface="Malgun Gothic" pitchFamily="34" charset="-122"/>
                      </a:endParaRPr>
                    </a:p>
                  </a:txBody>
                  <a:tcPr marL="16329" marR="16329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30" kern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취소 확인 팝업</a:t>
                      </a:r>
                    </a:p>
                  </a:txBody>
                  <a:tcPr marL="0" marR="0" marT="10886" marB="10886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236148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119493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11949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92061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202536"/>
              </p:ext>
            </p:extLst>
          </p:nvPr>
        </p:nvGraphicFramePr>
        <p:xfrm>
          <a:off x="6199632" y="393813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새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만들기 </a:t>
                      </a:r>
                      <a:r>
                        <a:rPr lang="en-US" altLang="ko-KR" sz="900" dirty="0"/>
                        <a:t>– 2D </a:t>
                      </a:r>
                      <a:r>
                        <a:rPr lang="ko-KR" altLang="en-US" sz="900" dirty="0"/>
                        <a:t>뷰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태스크</a:t>
                      </a:r>
                      <a:r>
                        <a:rPr lang="en-US" altLang="ko-KR" sz="900" dirty="0"/>
                        <a:t>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'</a:t>
                      </a:r>
                      <a:r>
                        <a:rPr lang="ko-KR" altLang="en-US" sz="900" dirty="0"/>
                        <a:t>내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목록</a:t>
                      </a:r>
                      <a:r>
                        <a:rPr lang="en-US" altLang="ko-KR" sz="900" dirty="0"/>
                        <a:t>' </a:t>
                      </a:r>
                      <a:r>
                        <a:rPr lang="ko-KR" altLang="en-US" sz="900" dirty="0"/>
                        <a:t>화면의 </a:t>
                      </a:r>
                      <a:r>
                        <a:rPr lang="en-US" altLang="ko-KR" sz="900" dirty="0"/>
                        <a:t>[+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생성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버튼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내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목록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저장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취소 시</a:t>
                      </a:r>
                      <a:r>
                        <a:rPr lang="en-US" altLang="ko-KR" sz="900" dirty="0"/>
                        <a:t>), AI </a:t>
                      </a:r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(AI </a:t>
                      </a:r>
                      <a:r>
                        <a:rPr lang="ko-KR" altLang="en-US" sz="900" dirty="0"/>
                        <a:t>버튼 클릭 시</a:t>
                      </a:r>
                      <a:r>
                        <a:rPr lang="en-US" altLang="ko-KR" sz="900" dirty="0"/>
                        <a:t>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사용자가 새로운 </a:t>
                      </a:r>
                      <a:r>
                        <a:rPr lang="ko-KR" altLang="en-US" sz="900" dirty="0" err="1"/>
                        <a:t>만다라트의</a:t>
                      </a:r>
                      <a:r>
                        <a:rPr lang="ko-KR" altLang="en-US" sz="900" dirty="0"/>
                        <a:t> 핵심 목표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기간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공개 여부를 설정하고 세부 과제를 입력하여 최종 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1747125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174712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1719693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591417"/>
              </p:ext>
            </p:extLst>
          </p:nvPr>
        </p:nvGraphicFramePr>
        <p:xfrm>
          <a:off x="6199632" y="2021445"/>
          <a:ext cx="5623560" cy="18470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기본 설정 패널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dirty="0"/>
                        <a:t>Form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핵심 목표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텍스트</a:t>
                      </a:r>
                      <a:r>
                        <a:rPr lang="en-US" altLang="ko-KR" sz="900" dirty="0"/>
                        <a:t>), </a:t>
                      </a:r>
                      <a:r>
                        <a:rPr lang="ko-KR" altLang="en-US" sz="900" dirty="0"/>
                        <a:t>기간 설정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달력</a:t>
                      </a:r>
                      <a:r>
                        <a:rPr lang="en-US" altLang="ko-KR" sz="900" dirty="0"/>
                        <a:t>), </a:t>
                      </a:r>
                      <a:r>
                        <a:rPr lang="ko-KR" altLang="en-US" sz="900" dirty="0"/>
                        <a:t>공개 여부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라디오</a:t>
                      </a:r>
                      <a:r>
                        <a:rPr lang="en-US" altLang="ko-KR" sz="900" dirty="0"/>
                        <a:t>) </a:t>
                      </a:r>
                      <a:r>
                        <a:rPr lang="ko-KR" altLang="en-US" sz="900" dirty="0"/>
                        <a:t>입력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AI </a:t>
                      </a:r>
                      <a:r>
                        <a:rPr lang="ko-KR" altLang="en-US" sz="900" dirty="0"/>
                        <a:t>태스크 생성 버튼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dirty="0"/>
                        <a:t>Button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AI </a:t>
                      </a: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태스크 추천 페이지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뷰 전환 </a:t>
                      </a:r>
                      <a:r>
                        <a:rPr lang="ko-KR" altLang="en-US" sz="900" dirty="0" err="1"/>
                        <a:t>토글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dirty="0"/>
                        <a:t>Tab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2D </a:t>
                      </a:r>
                      <a:r>
                        <a:rPr lang="ko-KR" altLang="en-US" sz="900" dirty="0"/>
                        <a:t>뷰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태스크</a:t>
                      </a:r>
                      <a:r>
                        <a:rPr lang="en-US" altLang="ko-KR" sz="900" dirty="0"/>
                        <a:t>) / 3D </a:t>
                      </a:r>
                      <a:r>
                        <a:rPr lang="ko-KR" altLang="en-US" sz="900" dirty="0"/>
                        <a:t>뷰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건물</a:t>
                      </a:r>
                      <a:r>
                        <a:rPr lang="en-US" altLang="ko-KR" sz="900" dirty="0"/>
                        <a:t>) </a:t>
                      </a:r>
                      <a:r>
                        <a:rPr lang="ko-KR" altLang="en-US" sz="900" dirty="0"/>
                        <a:t>전환 </a:t>
                      </a:r>
                      <a:r>
                        <a:rPr lang="ko-KR" altLang="en-US" sz="900" dirty="0" err="1"/>
                        <a:t>토글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9x9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격자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dirty="0"/>
                        <a:t>Grid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중앙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핵심 목표</a:t>
                      </a:r>
                      <a:r>
                        <a:rPr lang="en-US" altLang="ko-KR" sz="900" dirty="0"/>
                        <a:t>), </a:t>
                      </a:r>
                      <a:r>
                        <a:rPr lang="ko-KR" altLang="en-US" sz="900" dirty="0"/>
                        <a:t>주변 </a:t>
                      </a:r>
                      <a:r>
                        <a:rPr lang="en-US" altLang="ko-KR" sz="900" dirty="0"/>
                        <a:t>8</a:t>
                      </a:r>
                      <a:r>
                        <a:rPr lang="ko-KR" altLang="en-US" sz="900" dirty="0"/>
                        <a:t>칸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도메인</a:t>
                      </a:r>
                      <a:r>
                        <a:rPr lang="en-US" altLang="ko-KR" sz="900" dirty="0"/>
                        <a:t>), </a:t>
                      </a:r>
                      <a:r>
                        <a:rPr lang="ko-KR" altLang="en-US" sz="900" dirty="0"/>
                        <a:t>외곽 </a:t>
                      </a:r>
                      <a:r>
                        <a:rPr lang="en-US" altLang="ko-KR" sz="900" dirty="0"/>
                        <a:t>64</a:t>
                      </a:r>
                      <a:r>
                        <a:rPr lang="ko-KR" altLang="en-US" sz="900" dirty="0"/>
                        <a:t>칸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실천과제</a:t>
                      </a:r>
                      <a:r>
                        <a:rPr lang="en-US" altLang="ko-KR" sz="900" dirty="0"/>
                        <a:t>) </a:t>
                      </a:r>
                      <a:r>
                        <a:rPr lang="ko-KR" altLang="en-US" sz="900" dirty="0"/>
                        <a:t>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3x3 </a:t>
                      </a:r>
                      <a:r>
                        <a:rPr lang="ko-KR" altLang="en-US" sz="900" dirty="0"/>
                        <a:t>도메인 확대 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dirty="0"/>
                        <a:t>Grid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9x9 </a:t>
                      </a:r>
                      <a:r>
                        <a:rPr lang="ko-KR" altLang="en-US" sz="900" dirty="0"/>
                        <a:t>격자에서 선택한 특정 도메인 블록을 크게 보여주는 패널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b="0" i="0" dirty="0">
                          <a:solidFill>
                            <a:srgbClr val="000000"/>
                          </a:solidFill>
                          <a:effectLst/>
                          <a:latin typeface="se-nanumbarungothic"/>
                        </a:rPr>
                        <a:t>⑥ 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취소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저장 버튼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dirty="0"/>
                        <a:t>Button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작업 취소 및 최종 저장 버튼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346630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104825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10482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077393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</a:t>
            </a: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70345"/>
              </p:ext>
            </p:extLst>
          </p:nvPr>
        </p:nvGraphicFramePr>
        <p:xfrm>
          <a:off x="6199632" y="4379145"/>
          <a:ext cx="5623560" cy="1939836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최종 핵심 목표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건강한 몸 만들기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startDate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진행 시작 일자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created_at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과는 별개의 수행 기간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"2026-06-01"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endDate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진행 종료 일자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"2026-06-30"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isOpen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공개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비공개 여부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(true: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공개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domains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 도메인 객체 배열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(domain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테이블 매핑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{ title: "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식단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", 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position: 1, subjects: [...] }, ... 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도메인 내 실천과제 배열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(subject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테이블 매핑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{ title: "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물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마시기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", 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position: 1 }, ... 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381735"/>
                  </a:ext>
                </a:extLst>
              </a:tr>
            </a:tbl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C1E716E-32F2-482E-AB02-5636D95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31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376D61-3216-4066-BF95-82E4E461E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01" y="439533"/>
            <a:ext cx="4994877" cy="28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29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38342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103120" y="25231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6436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3643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33693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345866"/>
              </p:ext>
            </p:extLst>
          </p:nvPr>
        </p:nvGraphicFramePr>
        <p:xfrm>
          <a:off x="365760" y="3611254"/>
          <a:ext cx="5623560" cy="291367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기능 ID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기능명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트리거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처리 내용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결과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인벤토리 조회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탭 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보유 건물 목록 및 남은 수량 표시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우측 하단 목록에 아이콘 및 잔여 수량 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카테고리 필터링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 목록 상단 탭 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주택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상업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자연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랜드마크 탭 선택 시 리스트 데이터 필터링 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선택한 속성의 건물만 리스트에 노출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 자유 배치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인벤토리 건물 드래그 → 격자 드롭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해당 셀에 건물 아이콘 맵핑 및 인벤토리  수량 차감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빈칸에 기본 건물 자동 채움 로직 적용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 내 아이콘 표시 및 우측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미리보기에 해당 건물 모델링 즉시 생성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FUNC-004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배치 취소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회전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격자에 배치된 건물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우클릭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재클릭</a:t>
                      </a:r>
                      <a:endParaRPr lang="ko-KR" altLang="en-US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배치 취소 시 수량 반환</a:t>
                      </a:r>
                    </a:p>
                    <a:p>
                      <a:b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회전 옵션 적용 시 방향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데이터 변경 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 내 아이콘 삭제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회전 및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실시간 동기화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뷰어 동기화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 상태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변경된 좌표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ID,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방향 값 등의 데이터를 전달 후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렌더링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미리보기 즉각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리렌더링</a:t>
                      </a:r>
                      <a:endParaRPr lang="ko-KR" altLang="en-US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30467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FUNC-006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저장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저장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입력값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핵심 목표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기간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칸 전체 작성 완료 여부 검증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 fontAlgn="b"/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완료 시 서버로 데이터 전체 저장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성공 시 데이터 저장 후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리다이렉트</a:t>
                      </a:r>
                      <a:endParaRPr lang="ko-KR" altLang="en-US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30873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149880"/>
              </p:ext>
            </p:extLst>
          </p:nvPr>
        </p:nvGraphicFramePr>
        <p:xfrm>
          <a:off x="6199632" y="38342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새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만들기 </a:t>
                      </a:r>
                      <a:r>
                        <a:rPr lang="en-US" altLang="ko-KR" sz="900" dirty="0"/>
                        <a:t>- 3D </a:t>
                      </a:r>
                      <a:r>
                        <a:rPr lang="ko-KR" altLang="en-US" sz="900" dirty="0"/>
                        <a:t>뷰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건물 배치</a:t>
                      </a:r>
                      <a:r>
                        <a:rPr lang="en-US" altLang="ko-KR" sz="900" dirty="0"/>
                        <a:t>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[3D </a:t>
                      </a:r>
                      <a:r>
                        <a:rPr lang="ko-KR" altLang="en-US" sz="900" dirty="0"/>
                        <a:t>뷰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건물</a:t>
                      </a:r>
                      <a:r>
                        <a:rPr lang="en-US" altLang="ko-KR" sz="900" dirty="0"/>
                        <a:t>)] </a:t>
                      </a:r>
                      <a:r>
                        <a:rPr lang="ko-KR" altLang="en-US" sz="900" dirty="0" err="1"/>
                        <a:t>토글</a:t>
                      </a:r>
                      <a:r>
                        <a:rPr lang="ko-KR" altLang="en-US" sz="900" dirty="0"/>
                        <a:t> 버튼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2D </a:t>
                      </a:r>
                      <a:r>
                        <a:rPr lang="ko-KR" altLang="en-US" sz="900" dirty="0"/>
                        <a:t>뷰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태스크</a:t>
                      </a:r>
                      <a:r>
                        <a:rPr lang="en-US" altLang="ko-KR" sz="900" dirty="0"/>
                        <a:t>) </a:t>
                      </a:r>
                      <a:r>
                        <a:rPr lang="ko-KR" altLang="en-US" sz="900" dirty="0"/>
                        <a:t>모드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내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목록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최종 저장 시</a:t>
                      </a:r>
                      <a:r>
                        <a:rPr lang="en-US" altLang="ko-KR" sz="900" dirty="0"/>
                        <a:t>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작성한 태스크 격자</a:t>
                      </a:r>
                      <a:r>
                        <a:rPr lang="en-US" altLang="ko-KR" sz="900" dirty="0"/>
                        <a:t>(81</a:t>
                      </a:r>
                      <a:r>
                        <a:rPr lang="ko-KR" altLang="en-US" sz="900" dirty="0"/>
                        <a:t>칸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에 맞춰 인벤토리의 건물을 맵핑 및 자유 배치하고</a:t>
                      </a:r>
                      <a:r>
                        <a:rPr lang="en-US" altLang="ko-KR" sz="900" dirty="0"/>
                        <a:t>, 3D </a:t>
                      </a:r>
                      <a:r>
                        <a:rPr lang="ko-KR" altLang="en-US" sz="900" dirty="0"/>
                        <a:t>엔진 뷰어로 시각적 피드백 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1528918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152891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150148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656499"/>
              </p:ext>
            </p:extLst>
          </p:nvPr>
        </p:nvGraphicFramePr>
        <p:xfrm>
          <a:off x="6199632" y="1803238"/>
          <a:ext cx="5623560" cy="1641281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번호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요소명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타입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+mn-cs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전환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토글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태스크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/ 3D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전환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토글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 배치 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중앙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9x9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 맵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인벤토리에서 건물을 드래그앤 드롭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실시간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미리보기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Canvas?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Three.js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임베드되어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좌측 격자 배치도를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그래픽으로 실시간 렌더링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설치 가능한 건물 목록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사용자가 보유한 건물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데이터 리스트 및 필터 탭 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1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⑤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저장 상태 버튼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/>
                        <a:t>작업 취소 및 최종 저장 버튼</a:t>
                      </a:r>
                      <a:endParaRPr lang="en-US" altLang="ko-KR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3543727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354372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3516295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</a:t>
            </a: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661868"/>
              </p:ext>
            </p:extLst>
          </p:nvPr>
        </p:nvGraphicFramePr>
        <p:xfrm>
          <a:off x="6199632" y="3818047"/>
          <a:ext cx="5623560" cy="3024054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itemId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건물의 고유 식별자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(item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테이블 매핑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건물명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오피스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카테고리 구분 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상업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주택 등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"COMMERCIAL"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quantity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사용자가 현재 보유 중인 사용 가능한 수량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itemSpots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 셀에 대한 건물 배치 정보 배열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... 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itemSpots[].subjectId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어떤 태스크에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매핑되었는지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식별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0206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itemSpots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[].</a:t>
                      </a:r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inventoryId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배치에 사용한 인벤토리 객체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4647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itemSpots[].itemPosition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9x9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격자 내 좌표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 (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정중앙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랜드마크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5535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itemSpots[].dir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Enum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건물의 회전 방향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(0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90, 180, 270)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“90"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02118"/>
                  </a:ext>
                </a:extLst>
              </a:tr>
            </a:tbl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C1E716E-32F2-482E-AB02-5636D95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31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52AB05-C68A-4B9F-A328-ACD629655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151" y="369330"/>
            <a:ext cx="4342777" cy="290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47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38342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103120" y="25231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6436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3643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33693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732334"/>
              </p:ext>
            </p:extLst>
          </p:nvPr>
        </p:nvGraphicFramePr>
        <p:xfrm>
          <a:off x="365760" y="3611254"/>
          <a:ext cx="5623560" cy="1966614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도메인 확대 및 과제 선택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9x9/3x3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 내 개별 셀 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클릭한 도메인의 하위 태스크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데이터를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3x3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뷰에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렌더링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선택된 셀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하이라이트 처리</a:t>
                      </a:r>
                    </a:p>
                    <a:p>
                      <a:b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하단 패널에 해당 도메인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태스크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바인딩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우측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3x3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뷰어 및 하단 액션 패널 데이터 즉각 갱신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실천과제 수행 완료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수행 완료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해당 태스크의 현재 횟수 추가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포인트 지급 및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기록</a:t>
                      </a:r>
                    </a:p>
                    <a:p>
                      <a:b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연결된 건물 성장 단계 연산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셀 체크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표시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달성률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게이지 증가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FUNC-004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전환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[3D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토글 버튼 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현재의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달성률과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배치된 건물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데이터를 전달하여 화면 전환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마을 뷰 화면으로 컴포넌트 교체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877966"/>
              </p:ext>
            </p:extLst>
          </p:nvPr>
        </p:nvGraphicFramePr>
        <p:xfrm>
          <a:off x="6199632" y="38342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상세 조회 </a:t>
                      </a:r>
                      <a:r>
                        <a:rPr lang="en-US" altLang="ko-KR" sz="900" dirty="0"/>
                        <a:t>(2D </a:t>
                      </a:r>
                      <a:r>
                        <a:rPr lang="ko-KR" altLang="en-US" sz="900" dirty="0"/>
                        <a:t>뷰</a:t>
                      </a:r>
                      <a:r>
                        <a:rPr lang="en-US" altLang="ko-KR" sz="900" dirty="0"/>
                        <a:t>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'</a:t>
                      </a:r>
                      <a:r>
                        <a:rPr lang="ko-KR" altLang="en-US" sz="900" dirty="0"/>
                        <a:t>내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목록</a:t>
                      </a:r>
                      <a:r>
                        <a:rPr lang="en-US" altLang="ko-KR" sz="900" dirty="0"/>
                        <a:t>' </a:t>
                      </a:r>
                      <a:r>
                        <a:rPr lang="ko-KR" altLang="en-US" sz="900" dirty="0"/>
                        <a:t>화면에서 진행 중인 특정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카드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3D </a:t>
                      </a:r>
                      <a:r>
                        <a:rPr lang="ko-KR" altLang="en-US" sz="900" dirty="0"/>
                        <a:t>뷰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건물 성장 확인</a:t>
                      </a:r>
                      <a:r>
                        <a:rPr lang="en-US" altLang="ko-KR" sz="900" dirty="0"/>
                        <a:t>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9x9</a:t>
                      </a:r>
                      <a:r>
                        <a:rPr lang="ko-KR" altLang="en-US" sz="900" dirty="0"/>
                        <a:t> 전체 격자 및 </a:t>
                      </a:r>
                      <a:r>
                        <a:rPr lang="en-US" altLang="ko-KR" sz="900" dirty="0"/>
                        <a:t>3x3 </a:t>
                      </a:r>
                      <a:r>
                        <a:rPr lang="ko-KR" altLang="en-US" sz="900" dirty="0"/>
                        <a:t>도메인 확대 뷰를 제공하여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사용자가 직관적으로 오늘의 과제를 찾아 수행 </a:t>
                      </a:r>
                      <a:r>
                        <a:rPr lang="ko-KR" altLang="en-US" sz="900" dirty="0" err="1"/>
                        <a:t>완료처리할</a:t>
                      </a:r>
                      <a:r>
                        <a:rPr lang="ko-KR" altLang="en-US" sz="900" dirty="0"/>
                        <a:t> 수 있도록 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1591269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159126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1563837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472155"/>
              </p:ext>
            </p:extLst>
          </p:nvPr>
        </p:nvGraphicFramePr>
        <p:xfrm>
          <a:off x="6199632" y="1865589"/>
          <a:ext cx="5623560" cy="195376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정보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Info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만다라트의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목표</a:t>
                      </a:r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공개여부</a:t>
                      </a:r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기간</a:t>
                      </a:r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진행률 표시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전환 </a:t>
                      </a:r>
                      <a:r>
                        <a:rPr lang="ko-KR" altLang="en-US" sz="8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토글</a:t>
                      </a:r>
                      <a:endParaRPr lang="ko-KR" altLang="en-US"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[2D 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</a:t>
                      </a:r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/ [3D 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</a:t>
                      </a:r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전환 버튼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9x9 </a:t>
                      </a:r>
                      <a:r>
                        <a:rPr lang="ko-KR" altLang="en-US" sz="8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격자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칸 전체 현황</a:t>
                      </a:r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완료된 </a:t>
                      </a:r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 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셀 우측 상단에 체크</a:t>
                      </a:r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아이콘 노출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3x3 </a:t>
                      </a:r>
                      <a:r>
                        <a:rPr lang="ko-KR" altLang="en-US"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도메인 확대 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9x9 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격자에서 선택한 특정 도메인의 </a:t>
                      </a:r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3x3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을 우측 상단에 확대 렌더링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⑤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과제 수행 패널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Panel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선택된 태스크의 타이틀</a:t>
                      </a:r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독려 메시지</a:t>
                      </a:r>
                      <a:r>
                        <a:rPr lang="en-US" altLang="ko-KR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수행 액션 버튼 및 전체 </a:t>
                      </a:r>
                      <a:r>
                        <a:rPr lang="ko-KR" altLang="en-US" sz="8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달성률</a:t>
                      </a:r>
                      <a:r>
                        <a:rPr lang="ko-KR" altLang="en-US"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게이지 제공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39126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39126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38851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143742"/>
              </p:ext>
            </p:extLst>
          </p:nvPr>
        </p:nvGraphicFramePr>
        <p:xfrm>
          <a:off x="6199632" y="4186922"/>
          <a:ext cx="5623560" cy="2575562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tryCount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액션 처리 후 갱신된 현재 누적 수행 횟수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targetCount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기간에 따라 계산된 해당 과제의 총 목표 횟수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3711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isDone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목표횟수 도달에 따른 최종 완료 여부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3181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updatedAt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Timestamp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활성화 처리용 마지막 수행 시간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"2026-07-22T10:22:02Z"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0636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earnedPoint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수행시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얻는 포인트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currentProgress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 시트 전체에서 </a:t>
                      </a:r>
                      <a:r>
                        <a:rPr lang="en-US" altLang="ko-KR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is_done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true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달성한 과제의 총합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isBuildingLevelUp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이번 액션으로 연결된 건물의 크기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 성장했는지 여부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C1E716E-32F2-482E-AB02-5636D95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31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5DBC72-5F12-4444-AE89-99411BCD1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425397"/>
            <a:ext cx="4914900" cy="279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07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38342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103120" y="25231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6436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3643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33693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781179"/>
              </p:ext>
            </p:extLst>
          </p:nvPr>
        </p:nvGraphicFramePr>
        <p:xfrm>
          <a:off x="365760" y="3611254"/>
          <a:ext cx="5623560" cy="214514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마을 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탭 마운트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데이터를 조회하여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three.js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 전달</a:t>
                      </a:r>
                    </a:p>
                    <a:p>
                      <a:b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각 태스크의 완료 누적 상태에 따라 건물의 층수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크기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결정 및 렌더링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캔버스 내에 현재 달성률이 반영된 마을 그래픽 출력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뷰어 인터랙션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캔버스 영역 내 마우스 드래그 및 스크롤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마우스 좌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우클릭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드래그로 회전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휠 스크롤로 확대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축소 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실시간으로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마을의 시점변경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 교체 진입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 변경하기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패널 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 배치 화면으로 전환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 배치 화면으로 전환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FUNC-004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전환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토글 버튼 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 모드로 컴포넌트 교체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화면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 범례 매핑 표시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탭 렌더링 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도메인 정보와 핵심 목표를 화면 디자인에 정의된 고정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색상값과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매핑</a:t>
                      </a:r>
                      <a:endParaRPr lang="ko-KR" altLang="en-US" sz="75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도메인별 색상 칩과 텍스트 출력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643504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197730"/>
              </p:ext>
            </p:extLst>
          </p:nvPr>
        </p:nvGraphicFramePr>
        <p:xfrm>
          <a:off x="6199632" y="38342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상세 조회 </a:t>
                      </a:r>
                      <a:r>
                        <a:rPr lang="en-US" altLang="ko-KR" sz="900" dirty="0"/>
                        <a:t>(3D </a:t>
                      </a:r>
                      <a:r>
                        <a:rPr lang="ko-KR" altLang="en-US" sz="900" dirty="0"/>
                        <a:t>뷰</a:t>
                      </a:r>
                      <a:r>
                        <a:rPr lang="en-US" altLang="ko-KR" sz="900" dirty="0"/>
                        <a:t>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상세</a:t>
                      </a:r>
                      <a:r>
                        <a:rPr lang="en-US" altLang="ko-KR" sz="900" dirty="0"/>
                        <a:t>(2D </a:t>
                      </a:r>
                      <a:r>
                        <a:rPr lang="ko-KR" altLang="en-US" sz="900" dirty="0"/>
                        <a:t>뷰</a:t>
                      </a:r>
                      <a:r>
                        <a:rPr lang="en-US" altLang="ko-KR" sz="900" dirty="0"/>
                        <a:t>) </a:t>
                      </a:r>
                      <a:r>
                        <a:rPr lang="ko-KR" altLang="en-US" sz="900" dirty="0"/>
                        <a:t>화면 우측 상단의 </a:t>
                      </a:r>
                      <a:r>
                        <a:rPr lang="en-US" altLang="ko-KR" sz="900" dirty="0"/>
                        <a:t>[3D </a:t>
                      </a:r>
                      <a:r>
                        <a:rPr lang="ko-KR" altLang="en-US" sz="900" dirty="0"/>
                        <a:t>뷰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 err="1"/>
                        <a:t>토글</a:t>
                      </a:r>
                      <a:r>
                        <a:rPr lang="ko-KR" altLang="en-US" sz="900" dirty="0"/>
                        <a:t> 버튼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상세</a:t>
                      </a:r>
                      <a:r>
                        <a:rPr lang="en-US" altLang="ko-KR" sz="900" dirty="0"/>
                        <a:t>(2D </a:t>
                      </a:r>
                      <a:r>
                        <a:rPr lang="ko-KR" altLang="en-US" sz="900" dirty="0"/>
                        <a:t>뷰</a:t>
                      </a:r>
                      <a:r>
                        <a:rPr lang="en-US" altLang="ko-KR" sz="900" dirty="0"/>
                        <a:t>), </a:t>
                      </a:r>
                      <a:r>
                        <a:rPr lang="ko-KR" altLang="en-US" sz="900" dirty="0"/>
                        <a:t>건물 스킨 변경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전체 격자의 달성도에 따라 성장한 건물을 </a:t>
                      </a:r>
                      <a:r>
                        <a:rPr lang="en-US" altLang="ko-KR" sz="900" dirty="0"/>
                        <a:t>3D </a:t>
                      </a:r>
                      <a:r>
                        <a:rPr lang="ko-KR" altLang="en-US" sz="900" dirty="0"/>
                        <a:t>환경에서 탐색하고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도메인별 범례 및 건설 통계를 한눈에 파악함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173673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173673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170930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701555"/>
              </p:ext>
            </p:extLst>
          </p:nvPr>
        </p:nvGraphicFramePr>
        <p:xfrm>
          <a:off x="6199632" y="2011054"/>
          <a:ext cx="5623560" cy="174258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정보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Info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만다라트의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공개여부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진행률 표시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전환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토글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[2D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/ [3D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전환 버튼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마을 뷰어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Canvas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마을 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 변경하기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보유한 건물로 현재 배치된 건물을 변경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⑤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 범례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뷰의 블록 색상과 매칭되는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domain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목록 확인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10857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473699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47369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446267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726386"/>
              </p:ext>
            </p:extLst>
          </p:nvPr>
        </p:nvGraphicFramePr>
        <p:xfrm>
          <a:off x="6199632" y="4748019"/>
          <a:ext cx="5623560" cy="1902824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completedCount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수행 완료된 칸의 총합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게이지 렌더링 용도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inProgressCount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착공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진행 중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 칸의 총합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총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81 -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완료 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미설정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domains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범례 렌더링을 위한 도메인 정보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색상 매핑용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position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포함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[{"position": 1, "title": "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유산소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", "</a:t>
                      </a:r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colorCode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": "#A7E6B8"}, ...]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itemSpots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칸의 건물 배치 및 성장 상태 데이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[{"position": 40, "</a:t>
                      </a:r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itemId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": 101, "level": 3, "</a:t>
                      </a:r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dir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": "N"}, ...]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C1E716E-32F2-482E-AB02-5636D95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31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D876F1-6CE9-4871-AD7F-7705A166E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90" y="410854"/>
            <a:ext cx="4968500" cy="28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82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401710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103120" y="25231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6436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3643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33693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16146"/>
              </p:ext>
            </p:extLst>
          </p:nvPr>
        </p:nvGraphicFramePr>
        <p:xfrm>
          <a:off x="365760" y="3611254"/>
          <a:ext cx="5623560" cy="305518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기존 배치 데이터 로드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화면 컴포넌트 마운트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선택된 </a:t>
                      </a:r>
                      <a:r>
                        <a:rPr lang="en-US" altLang="ko-KR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sheet_id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 해당하는 기존 </a:t>
                      </a:r>
                      <a:r>
                        <a:rPr lang="en-US" altLang="ko-KR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item_spot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배열 로드</a:t>
                      </a:r>
                    </a:p>
                    <a:p>
                      <a:b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사용자의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inventory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데이터 로드 및 잔여 수량 계산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격자에 기존 배치 상태가 그려지고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인벤토리 목록 출력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카테고리 및 페이지 이동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인벤토리 상단 탭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하단 페이지 번호 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보유 아이템 리스트 데이터를 카테고리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상업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주택 등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 맞게 필터링 및 페이징 처리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선택한 조건에 맞는 아이템 리스트로 하단 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 교체 및 자유 배치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인벤토리 아이템 드래그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격자 드롭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해당 셀에 기존 건물이 있다면 수량을 인벤토리로 반환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드롭한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새 건물의 수량을 차감하고 셀 데이터 업데이트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(NID-54, 65)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 내 아이콘 변경 및 잔여 보유 수량 증감 처리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FUNC-004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미리보기 실시간 동기화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 내 아이템 상태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배치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회전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삭제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변경된 좌표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item_position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및 속성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dir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Three.js Canvas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인스턴스에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State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 전달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우측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미니맵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뷰어에 변경된 건물 모델링 즉각 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배치 최종 저장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저장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변경된 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item_spot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배열을 백엔드로 전송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(PUT/PATCH)</a:t>
                      </a:r>
                    </a:p>
                    <a:p>
                      <a:b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트랜잭션 적용하여 기존 배치 레코드 수정 및 인벤토리 정합성 체크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반영 성공 시 토스트 알림 노출 후 이전 화면으로 라우팅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304672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725101"/>
              </p:ext>
            </p:extLst>
          </p:nvPr>
        </p:nvGraphicFramePr>
        <p:xfrm>
          <a:off x="6199632" y="38342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도시 수정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상세 조회</a:t>
                      </a:r>
                      <a:r>
                        <a:rPr lang="en-US" altLang="ko-KR" sz="900" dirty="0"/>
                        <a:t>(3D </a:t>
                      </a:r>
                      <a:r>
                        <a:rPr lang="ko-KR" altLang="en-US" sz="900" dirty="0"/>
                        <a:t>뷰</a:t>
                      </a:r>
                      <a:r>
                        <a:rPr lang="en-US" altLang="ko-KR" sz="900" dirty="0"/>
                        <a:t>) </a:t>
                      </a:r>
                      <a:r>
                        <a:rPr lang="ko-KR" altLang="en-US" sz="900" dirty="0"/>
                        <a:t>우측 상단 </a:t>
                      </a:r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건물 변경하기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패널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이전 화면</a:t>
                      </a:r>
                      <a:r>
                        <a:rPr lang="en-US" altLang="ko-KR" sz="900" dirty="0"/>
                        <a:t>(3D </a:t>
                      </a:r>
                      <a:r>
                        <a:rPr lang="ko-KR" altLang="en-US" sz="900" dirty="0"/>
                        <a:t>뷰 화면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으로 복귀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저장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취소 시</a:t>
                      </a:r>
                      <a:r>
                        <a:rPr lang="en-US" altLang="ko-KR" sz="900" dirty="0"/>
                        <a:t>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현재 배치된 </a:t>
                      </a:r>
                      <a:r>
                        <a:rPr lang="en-US" altLang="ko-KR" sz="900" dirty="0"/>
                        <a:t>9x9 </a:t>
                      </a:r>
                      <a:r>
                        <a:rPr lang="ko-KR" altLang="en-US" sz="900" dirty="0"/>
                        <a:t>건물 상태를 로드하고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인벤토리에 있는 아이템을 드래그 앤 </a:t>
                      </a:r>
                      <a:r>
                        <a:rPr lang="ko-KR" altLang="en-US" sz="900" dirty="0" err="1"/>
                        <a:t>드롭하여</a:t>
                      </a:r>
                      <a:r>
                        <a:rPr lang="ko-KR" altLang="en-US" sz="900" dirty="0"/>
                        <a:t> 기존 건물을 교체한 뒤 최종 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173673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173673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170930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181864"/>
              </p:ext>
            </p:extLst>
          </p:nvPr>
        </p:nvGraphicFramePr>
        <p:xfrm>
          <a:off x="6199632" y="2011054"/>
          <a:ext cx="5623560" cy="189063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액션 버튼 영역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배치 내역을 초기화하는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와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 반영하는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저장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 배치 격자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 배치된 건물에 등록된 데이터를 바탕으로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9x9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격자에 건물 아이콘이 배치된 상태를 출력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실시간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미리보기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Canvas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Three.js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엔진으로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렌더링되는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미니 맵 뷰어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2D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격자에서 교체된 건물의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Mesh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즉각 반영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92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인벤토리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설치 가능한 건물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사용자가 보유한 건물 목록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필터 탭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주택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상업 등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과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페이지네이션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제공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473699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47369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446267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</a:t>
            </a: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872715"/>
              </p:ext>
            </p:extLst>
          </p:nvPr>
        </p:nvGraphicFramePr>
        <p:xfrm>
          <a:off x="6199632" y="4748019"/>
          <a:ext cx="5623560" cy="198991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itemSpots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칸 중 빈칸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기본 건물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을 제외하고 명시적으로 배치된 건물 정보 배열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... 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itemSpots[].spotId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기존에 배치되어 있던 건물일 경우 식별하기 위한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1042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itemSpots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[].</a:t>
                      </a:r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inventoryId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어떤 보유 아이템을 사용했는지 명시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itemSpots[].itemPosition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9x9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 내 배치 위치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(0~80)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itemSpots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[].</a:t>
                      </a:r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dir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건물의 회전 방향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"0"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C1E716E-32F2-482E-AB02-5636D95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31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B347D4-E990-4442-9CF1-467F6F770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06" y="410854"/>
            <a:ext cx="4951268" cy="281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63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38342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103120" y="25231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6436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3643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33693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663274"/>
              </p:ext>
            </p:extLst>
          </p:nvPr>
        </p:nvGraphicFramePr>
        <p:xfrm>
          <a:off x="365760" y="3611254"/>
          <a:ext cx="5623560" cy="122094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좋아요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토글</a:t>
                      </a:r>
                      <a:endParaRPr lang="ko-KR" altLang="en-US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좋아요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 로그인한 사용자와 조회 중인 시트 정보로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likes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테이블 기록 검사</a:t>
                      </a:r>
                    </a:p>
                    <a:p>
                      <a:b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기록아 없으면 좋아요 기록 생성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sheet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테이블 누적 카운트 증가</a:t>
                      </a:r>
                    </a:p>
                    <a:p>
                      <a:b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레코드가 존재하면 좋아요 기록 삭제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및 카운트 감소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배경색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아이콘 상태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활성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비활성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토글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및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괄호 안의 카운트 숫자 즉시 증감 처리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076622"/>
              </p:ext>
            </p:extLst>
          </p:nvPr>
        </p:nvGraphicFramePr>
        <p:xfrm>
          <a:off x="6199632" y="383422"/>
          <a:ext cx="5623560" cy="1005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16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타인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상세 조회  </a:t>
                      </a:r>
                      <a:r>
                        <a:rPr lang="en-US" altLang="ko-KR" sz="900" dirty="0"/>
                        <a:t>(2D </a:t>
                      </a:r>
                      <a:r>
                        <a:rPr lang="ko-KR" altLang="en-US" sz="900" dirty="0"/>
                        <a:t>뷰</a:t>
                      </a:r>
                      <a:r>
                        <a:rPr lang="en-US" altLang="ko-KR" sz="900" dirty="0"/>
                        <a:t>)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목록 클릭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그룹원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이동 팝업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3D </a:t>
                      </a:r>
                      <a:r>
                        <a:rPr lang="ko-KR" altLang="en-US" sz="900" dirty="0"/>
                        <a:t>뷰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건물 성장 확인</a:t>
                      </a:r>
                      <a:r>
                        <a:rPr lang="en-US" altLang="ko-KR" sz="900" dirty="0"/>
                        <a:t>)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타인의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뷰를 제공하여 이를 확인하고 좋아요 버튼을 누를 수 있도록 한다</a:t>
                      </a:r>
                      <a:r>
                        <a:rPr lang="en-US" altLang="ko-KR" sz="900" dirty="0"/>
                        <a:t>.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173673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173673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170930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038536"/>
              </p:ext>
            </p:extLst>
          </p:nvPr>
        </p:nvGraphicFramePr>
        <p:xfrm>
          <a:off x="6199632" y="2011054"/>
          <a:ext cx="5623560" cy="9849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좋아요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패널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Panel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기존의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과제 수행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패널을 대체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친구를 응원하는 메시지와 좋아요 버튼이 위치함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좋아요 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클릭 시 하트 아이콘과 함께 해당 시트가 받은 총 좋아요 누적 개수를 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473699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47369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446267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677369"/>
              </p:ext>
            </p:extLst>
          </p:nvPr>
        </p:nvGraphicFramePr>
        <p:xfrm>
          <a:off x="6199632" y="4748019"/>
          <a:ext cx="5623560" cy="768532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isLiked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요청 처리 후 현재 사용자의 좋아요 클릭 여부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totalLikeCount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해당 시트가 받은 전체 좋아요 총합 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C1E716E-32F2-482E-AB02-5636D95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31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BA533A-3F10-493E-B1A5-1102C82C5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69" y="444726"/>
            <a:ext cx="4868141" cy="276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406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38342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103120" y="25231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6436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3643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33693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810949"/>
              </p:ext>
            </p:extLst>
          </p:nvPr>
        </p:nvGraphicFramePr>
        <p:xfrm>
          <a:off x="365760" y="3594219"/>
          <a:ext cx="5623560" cy="305518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 마을 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화면 렌더링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group_sheet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맵핑된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domain_id1~8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을 조회</a:t>
                      </a:r>
                      <a:b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빈 슬롯은 기본 회색으로 유지</a:t>
                      </a:r>
                      <a:b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가져온 도메인은 개인 시트에서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꾸며놓은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건물 스킨 및 성장 상태를 그대로 불러와 배치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좌측 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캔버스에 그룹 전체 마을 그래픽 출력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중앙 건물 성장 연산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화면 렌더링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멤버별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기여도를 통해 전체 그룹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달성률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계산</a:t>
                      </a:r>
                      <a:b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 진행 현황에 비례하여 중앙 대형 건물의 성장 단계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달성률에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따라 중앙 건물이 점진적으로 성장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79453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멤버 선택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기여도 리스트 내 특정 멤버 영역 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클릭한 멤버의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활성화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배경색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테두리 변경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b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하단 버튼 활성화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선택된 멤버의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업데이트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88403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FUNC-006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선택된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만다라트로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이동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선택된 만다라트로 이동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이동 팝업 생성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기여도 리스트에서 선택된 멤버의 해당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개인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시트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상세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)'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화면으로 라우팅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이동 팝업 및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해당 멤버의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2D/3D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화면으로 이동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807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FUNC-007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멤버 초대하기 팝업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멤버 초대하기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멤버 초대하기 팝업 이동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친구 초대하기 팝업 생성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60013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51204"/>
              </p:ext>
            </p:extLst>
          </p:nvPr>
        </p:nvGraphicFramePr>
        <p:xfrm>
          <a:off x="6199632" y="38342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17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그룹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상세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'</a:t>
                      </a:r>
                      <a:r>
                        <a:rPr lang="ko-KR" altLang="en-US" sz="900" dirty="0"/>
                        <a:t>내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목록</a:t>
                      </a:r>
                      <a:r>
                        <a:rPr lang="en-US" altLang="ko-KR" sz="900" dirty="0"/>
                        <a:t>' </a:t>
                      </a:r>
                      <a:r>
                        <a:rPr lang="ko-KR" altLang="en-US" sz="900" dirty="0"/>
                        <a:t>하단의 그룹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리스트에서 </a:t>
                      </a:r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이동 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버튼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선택된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상세</a:t>
                      </a:r>
                      <a:r>
                        <a:rPr lang="en-US" altLang="ko-KR" sz="900" dirty="0"/>
                        <a:t>(2D/3D), </a:t>
                      </a:r>
                      <a:r>
                        <a:rPr lang="ko-KR" altLang="en-US" sz="900" dirty="0"/>
                        <a:t>도메인 불러오기 </a:t>
                      </a:r>
                      <a:r>
                        <a:rPr lang="ko-KR" altLang="en-US" sz="900" dirty="0" err="1"/>
                        <a:t>모달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멤버 초대 </a:t>
                      </a:r>
                      <a:r>
                        <a:rPr lang="ko-KR" altLang="en-US" sz="900" dirty="0" err="1"/>
                        <a:t>모달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그룹 전체의 목표 </a:t>
                      </a:r>
                      <a:r>
                        <a:rPr lang="ko-KR" altLang="en-US" sz="900" dirty="0" err="1"/>
                        <a:t>달성률</a:t>
                      </a:r>
                      <a:r>
                        <a:rPr lang="en-US" altLang="ko-KR" sz="900" dirty="0"/>
                        <a:t>(%)</a:t>
                      </a:r>
                      <a:r>
                        <a:rPr lang="ko-KR" altLang="en-US" sz="900" dirty="0"/>
                        <a:t>과 </a:t>
                      </a:r>
                      <a:r>
                        <a:rPr lang="ko-KR" altLang="en-US" sz="900" dirty="0" err="1"/>
                        <a:t>멤버별</a:t>
                      </a:r>
                      <a:r>
                        <a:rPr lang="ko-KR" altLang="en-US" sz="900" dirty="0"/>
                        <a:t> 기여도를 확인하고</a:t>
                      </a:r>
                      <a:r>
                        <a:rPr lang="en-US" altLang="ko-KR" sz="900" dirty="0"/>
                        <a:t>, 3D </a:t>
                      </a:r>
                      <a:r>
                        <a:rPr lang="ko-KR" altLang="en-US" sz="900" dirty="0"/>
                        <a:t>뷰를 통해 각자가 맡은 구역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도메인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의 건물 성장 상태를 한눈에 파악함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1643218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164321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161578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806585"/>
              </p:ext>
            </p:extLst>
          </p:nvPr>
        </p:nvGraphicFramePr>
        <p:xfrm>
          <a:off x="6199632" y="1917538"/>
          <a:ext cx="5623560" cy="243056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 메타 정보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Info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그룹명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 멤버 수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총 목표 개수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및 우측에 그룹 전체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달성률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(%)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 마을 뷰어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Canvas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정중앙에 대형 랜드마크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 배치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 주변으로 멤버들이 불러온 도메인 렌더링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미참여로 인한 빈 슬롯은 회색 블록으로 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멤버별 기여도 패널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참여 중인 멤버 목록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최대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과 각자의 기여도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진행바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형태로 표시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특정 멤버 클릭 시 하이라이트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안내 메시지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남은 자리 등을 안내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50905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⑤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선택된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이동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기여도 패널에서 선택된 멤버의 해당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 화면으로 이동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59092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⑥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멤버 초대하기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인원이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 미만일 경우 노출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클릭 시 초대 팝업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014072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380183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38018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352751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978072"/>
              </p:ext>
            </p:extLst>
          </p:nvPr>
        </p:nvGraphicFramePr>
        <p:xfrm>
          <a:off x="6199632" y="4654503"/>
          <a:ext cx="5623560" cy="214884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groupTitle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 방 제목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알고리즘 마스터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totalProgress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 전체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달성률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소속 멤버 배열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최대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[{"</a:t>
                      </a:r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userId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": 1, "nickname": "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", "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contribution": 28}, ...]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0353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centerBuilding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Object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팀장이 지정한 중앙 랜드마크 건물 정보 및 레벨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{"itemId": 305, "level": 2}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4242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importedDomains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멤버들이 불러온 도메인 정보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최대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).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빈 자리는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Null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또는 속성 없음으로 처리하여 프론트에서 회색 렌더링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[{"</a:t>
                      </a:r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domainId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": 42, "</a:t>
                      </a:r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userId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": 1, "title": "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알고리즘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", "</a:t>
                      </a:r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itemSpots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": [...]}, ...]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516268"/>
                  </a:ext>
                </a:extLst>
              </a:tr>
            </a:tbl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C1E716E-32F2-482E-AB02-5636D95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31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6F53E7-F41A-460B-8A08-6027F67E2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61" y="413213"/>
            <a:ext cx="5002357" cy="284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97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7772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107899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405993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059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403250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/>
        </p:nvGraphicFramePr>
        <p:xfrm>
          <a:off x="365760" y="4306824"/>
          <a:ext cx="5623560" cy="140817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FUNC-001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목록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로드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필터 또는 페이지 변경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카테고리 또는 페이지 조건에 따른 건물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카드 목록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FUNC-002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카테고리 필터링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필터 탭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선택 카테고리에 해당하는 건물만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재조회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 갱신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1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페이지로 초기화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FUNC-003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시작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버튼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선택 건물 정보를 구매 확인 팝업에 전달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확인 팝업 오픈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FUNC-004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이동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번호 또는 화살표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해당 페이지 건물 목록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재조회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 갱신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FUNC-005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포인트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로드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포인트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포인트 배지 갱신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4151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111607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849056"/>
              </p:ext>
            </p:extLst>
          </p:nvPr>
        </p:nvGraphicFramePr>
        <p:xfrm>
          <a:off x="6199632" y="1078992"/>
          <a:ext cx="5623560" cy="1005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상점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메뉴에서 상점 탭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버튼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확인 팝업 오픈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카테고리별 건물 조회 및 포인트를 사용한 건물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243230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2432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240487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/>
        </p:nvGraphicFramePr>
        <p:xfrm>
          <a:off x="6199632" y="2706624"/>
          <a:ext cx="5623560" cy="2120661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4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Link(Tab)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홈</a:t>
                      </a:r>
                      <a:r>
                        <a:rPr lang="en-US" altLang="ko-KR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8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내만다라트</a:t>
                      </a:r>
                      <a:r>
                        <a:rPr lang="en-US" altLang="ko-KR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상점</a:t>
                      </a:r>
                      <a:r>
                        <a:rPr lang="en-US" altLang="ko-KR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</a:t>
                      </a:r>
                      <a:r>
                        <a:rPr lang="en-US" altLang="ko-KR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</a:t>
                      </a:r>
                      <a:r>
                        <a:rPr lang="en-US" altLang="ko-KR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리더보드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상점 활성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4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포인트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Badge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포인트 실시간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4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아이콘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목록 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4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프로필 아바타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마이페이지 진입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4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타이틀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‘</a:t>
                      </a: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상점</a:t>
                      </a:r>
                      <a:r>
                        <a:rPr lang="en-US" altLang="ko-KR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‘ </a:t>
                      </a: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타이틀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4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카테고리 필터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Tab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카테고리 전환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15363"/>
                  </a:ext>
                </a:extLst>
              </a:tr>
              <a:tr h="1934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⑦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카드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Card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카테고리 배지</a:t>
                      </a:r>
                      <a:r>
                        <a:rPr lang="en-US" altLang="ko-KR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아이콘</a:t>
                      </a:r>
                      <a:r>
                        <a:rPr lang="en-US" altLang="ko-KR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이름</a:t>
                      </a:r>
                      <a:r>
                        <a:rPr lang="en-US" altLang="ko-KR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가격</a:t>
                      </a:r>
                      <a:r>
                        <a:rPr lang="en-US" altLang="ko-KR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버튼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14412"/>
                  </a:ext>
                </a:extLst>
              </a:tr>
              <a:tr h="2769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⑧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페이지네이션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Pagination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목록 페이지 이동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422592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983480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983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95604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/>
        </p:nvGraphicFramePr>
        <p:xfrm>
          <a:off x="6199632" y="5257800"/>
          <a:ext cx="5623560" cy="102108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bulidings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Array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</a:t>
                      </a: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(id, </a:t>
                      </a: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이름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카테고리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가격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아이콘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points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사용자 보유 포인트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categoryFilter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현재 선택된 카테고리 필터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currentPage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현재 조회 중인 페이지 번호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Text 71">
            <a:extLst>
              <a:ext uri="{FF2B5EF4-FFF2-40B4-BE49-F238E27FC236}">
                <a16:creationId xmlns:a16="http://schemas.microsoft.com/office/drawing/2014/main" id="{42C8CD5B-1A02-451A-B60D-EEFE9FF19C30}"/>
              </a:ext>
            </a:extLst>
          </p:cNvPr>
          <p:cNvSpPr/>
          <p:nvPr/>
        </p:nvSpPr>
        <p:spPr>
          <a:xfrm>
            <a:off x="6492240" y="781939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</a:rPr>
              <a:t>화면 정보</a:t>
            </a:r>
            <a:endParaRPr lang="en-US" sz="145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1A26BE-5A72-4ED8-9B5E-2B51F4E88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16076"/>
            <a:ext cx="506245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79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7772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107899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405993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059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403250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/>
        </p:nvGraphicFramePr>
        <p:xfrm>
          <a:off x="365760" y="4306824"/>
          <a:ext cx="5623560" cy="14325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FUNC-001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오픈 및 잔액 계산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상점 화면 구매 버튼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선택 건물의 가격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포인트를 불러와 구매 후 잔액을 계산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노출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가격 정보 박스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FUNC-002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확정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확정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포인트가 건물 가격 이상인지 검증 후 통과 시 포인트 차감 및 건물 보유 목록 추가 요청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성공 시 구매 확정 팝업으로 전환</a:t>
                      </a:r>
                      <a:endParaRPr lang="en-US" altLang="ko-KR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실패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포인트 부족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시 에러 메시지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FUNC-003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취소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취소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요청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미실행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닫힘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상점 화면 유지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FUNC-004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닫기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X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버튼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요청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미실행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닫힘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상점 화면 유지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111607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251834"/>
              </p:ext>
            </p:extLst>
          </p:nvPr>
        </p:nvGraphicFramePr>
        <p:xfrm>
          <a:off x="6199632" y="107899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확인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상점 페이지에서 아무 건물 카드의 구매 버튼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확정 버튼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성공 시 구매 확정 팝업으로 전환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취소 또는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X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버튼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-&gt;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모달만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닫히고 상점 화면 유지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전 건물 가격 및 보유 포인트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후 잔액을 확인시키고 최종 구매를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243230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2432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240487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/>
        </p:nvGraphicFramePr>
        <p:xfrm>
          <a:off x="6199632" y="2706625"/>
          <a:ext cx="5623560" cy="209397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배경 오버레이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Overlay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오픈 시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뒷화면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딤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처리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닫기 버튼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모달을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즉시 닫음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미실행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확인 문구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구매 안내 문구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대상 건물의 이름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가격 정보 박스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Info Box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가격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포인트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후 잔액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확정 버튼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결제 실행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15363"/>
                  </a:ext>
                </a:extLst>
              </a:tr>
              <a:tr h="2483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취소 버튼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취소 후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닫기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14412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983480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983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95604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/>
        </p:nvGraphicFramePr>
        <p:xfrm>
          <a:off x="6199632" y="5257800"/>
          <a:ext cx="5623560" cy="127349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24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buildingId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대상 건물 </a:t>
                      </a:r>
                      <a:r>
                        <a:rPr lang="en-US" altLang="ko-KR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ID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buildingName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대상 건물명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buildingPrice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가격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currentPoints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모달</a:t>
                      </a: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오픈 시점의 보유 포인트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balanceAfterPurchase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구매 후 잔액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" name="Text 71">
            <a:extLst>
              <a:ext uri="{FF2B5EF4-FFF2-40B4-BE49-F238E27FC236}">
                <a16:creationId xmlns:a16="http://schemas.microsoft.com/office/drawing/2014/main" id="{42C8CD5B-1A02-451A-B60D-EEFE9FF19C30}"/>
              </a:ext>
            </a:extLst>
          </p:cNvPr>
          <p:cNvSpPr/>
          <p:nvPr/>
        </p:nvSpPr>
        <p:spPr>
          <a:xfrm>
            <a:off x="6492240" y="781939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</a:rPr>
              <a:t>화면 정보</a:t>
            </a:r>
            <a:endParaRPr lang="en-US" sz="145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476E6A-FFD1-4D6E-9CFB-97C9660EC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73" y="1153015"/>
            <a:ext cx="4882604" cy="277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453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7772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107899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405993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059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403250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/>
        </p:nvGraphicFramePr>
        <p:xfrm>
          <a:off x="365760" y="4306824"/>
          <a:ext cx="5623560" cy="137769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FUNC-001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컬렉션 목록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로드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건물 목록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카드 목록 및 보유 개수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FUNC-002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카테고리 필터링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필터 탭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선택 카테고리 건물만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재조회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 갱신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1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페이지로 초기화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FUNC-003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이름 검색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검색창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입력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입력된 이름과 일치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포함하는 건물로 필터링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 갱신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FUNC-004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정렬 변경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정렬 드롭다운 선택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선택 기준으로 목록 재정렬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 갱신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FUNC-005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이동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번호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해당 페이지 컬렉션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재조회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목록 갱신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4151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111607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683469"/>
              </p:ext>
            </p:extLst>
          </p:nvPr>
        </p:nvGraphicFramePr>
        <p:xfrm>
          <a:off x="6199632" y="107899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컬렉션 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마이페이지에서 수집품 보기 카드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과제 완료를 통해 획득한 포인트로 구매한 건물들을 카테고리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검색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정렬 조건으로 검색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224942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22494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222199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/>
        </p:nvGraphicFramePr>
        <p:xfrm>
          <a:off x="6199632" y="2523744"/>
          <a:ext cx="5623560" cy="237771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Link(Tab)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홈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내만다라트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상점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리더보드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포인트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Badge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포인트 실시간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아이콘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목록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프로필 아바타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마이페이지 진입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 타이틀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‘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 컬렉션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‘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타이틀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서브 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Tab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카테고리 전환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15363"/>
                  </a:ext>
                </a:extLst>
              </a:tr>
              <a:tr h="152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검색창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Input(Text)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이름으로 컬렉션 내 검색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14412"/>
                  </a:ext>
                </a:extLst>
              </a:tr>
              <a:tr h="2182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정렬 드롭다운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Select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최근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획득순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등 정렬 기준 선택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422592"/>
                  </a:ext>
                </a:extLst>
              </a:tr>
              <a:tr h="152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컬렉션 요약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건물 총 개수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548227"/>
                  </a:ext>
                </a:extLst>
              </a:tr>
              <a:tr h="152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희귀도 배지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Badge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전설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희귀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일반 등급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007233"/>
                  </a:ext>
                </a:extLst>
              </a:tr>
              <a:tr h="152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⑪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카드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Card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아이콘 및 이름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74093"/>
                  </a:ext>
                </a:extLst>
              </a:tr>
              <a:tr h="152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⑫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배치 상태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Badge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해당 건물이 현재 마을에 배치되었는지 여부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002794"/>
                  </a:ext>
                </a:extLst>
              </a:tr>
              <a:tr h="1524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페이지네이션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Pagination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컬렉션 목록 페이지 이동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345208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506577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50657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503834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/>
        </p:nvGraphicFramePr>
        <p:xfrm>
          <a:off x="6199632" y="5340096"/>
          <a:ext cx="5623560" cy="128016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collectionBuildings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Array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</a:t>
                      </a: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목록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totalOwnedCount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건물 총 개수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categoryFilter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현재 선택된 카테고리 필터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searchKeyword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이름 검색어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sortOption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정렬 기준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currentPage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3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현재 조회 중인 페이지 번호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942615"/>
                  </a:ext>
                </a:extLst>
              </a:tr>
            </a:tbl>
          </a:graphicData>
        </a:graphic>
      </p:graphicFrame>
      <p:sp>
        <p:nvSpPr>
          <p:cNvPr id="48" name="Text 71">
            <a:extLst>
              <a:ext uri="{FF2B5EF4-FFF2-40B4-BE49-F238E27FC236}">
                <a16:creationId xmlns:a16="http://schemas.microsoft.com/office/drawing/2014/main" id="{42C8CD5B-1A02-451A-B60D-EEFE9FF19C30}"/>
              </a:ext>
            </a:extLst>
          </p:cNvPr>
          <p:cNvSpPr/>
          <p:nvPr/>
        </p:nvSpPr>
        <p:spPr>
          <a:xfrm>
            <a:off x="6492240" y="781939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</a:rPr>
              <a:t>화면 정보</a:t>
            </a:r>
            <a:endParaRPr lang="en-US" sz="145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0E221D-D9F8-4276-BFA9-F1A1450A3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64" y="1106424"/>
            <a:ext cx="4999551" cy="284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17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7772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107899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405993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059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403250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/>
        </p:nvGraphicFramePr>
        <p:xfrm>
          <a:off x="365760" y="4306824"/>
          <a:ext cx="5623560" cy="154533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FUNC-001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주간 리포트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화면 진입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 탭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최신 주간 리포트 데이터 수신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요약 카드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강점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개선점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카테고리별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실천율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렌더링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FUNC-002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기간 탭 전환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월간 탭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월간 리포트 화면으로 라우팅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월간 리포트 화면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FUNC-003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카테고리별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실천율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시각화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데이터 수신 완료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도메인별 진행률을 막대그래프로 매핑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도메인별 진행 바 렌더링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FUNC-004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 부재 처리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해당 주 리포트 데이터 없음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빈 상태 분기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FUNC-005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조회 실패 처리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API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응답 실패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또는 타임아웃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에러 코드 확인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4151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111607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745776"/>
              </p:ext>
            </p:extLst>
          </p:nvPr>
        </p:nvGraphicFramePr>
        <p:xfrm>
          <a:off x="6199632" y="107899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21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AI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주간 리포트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 리포트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월간 탭 선택 시 월간 리포트로 전환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 생성 중이면 생성 대기 화면 진입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주간 단위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달성률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완료 과제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연속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스트릭과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강점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개선점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도메인별 실천율을 한 눈에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2317618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231761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229018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/>
        </p:nvGraphicFramePr>
        <p:xfrm>
          <a:off x="6199632" y="2591937"/>
          <a:ext cx="5623560" cy="1848089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95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8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Link(Tab)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홈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내만다라트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상점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리더보드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 활성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포인트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Badge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포인트 실시간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5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아이콘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목록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프로필 아바타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마이페이지 진입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5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기간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토글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Tab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주간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월간 전환 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4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종합 퍼포먼스 요약 카드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Card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AI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생성 요약 타이틀 및 코멘트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+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주간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달성률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완료 과제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연속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스트릭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개 지표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15363"/>
                  </a:ext>
                </a:extLst>
              </a:tr>
              <a:tr h="1295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강점 카드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List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AI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 도출한 강점 항목 리스트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14412"/>
                  </a:ext>
                </a:extLst>
              </a:tr>
              <a:tr h="1854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개선점 카드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List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AI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 도출한 개선점 항목 리스트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422592"/>
                  </a:ext>
                </a:extLst>
              </a:tr>
              <a:tr h="1658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카테고리별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실천율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Progression Bar List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도메인별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실천율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막대그래프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548227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522321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52232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494889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/>
        </p:nvGraphicFramePr>
        <p:xfrm>
          <a:off x="6199632" y="4796641"/>
          <a:ext cx="5623560" cy="1738884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91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reportId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 고유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period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 기간 구분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periodLabel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기간 라벨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4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summaryTitle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AI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요약 타이틀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4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summaryComment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AI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요약 코멘트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4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achievementRate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주간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달성률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(%)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494281"/>
                  </a:ext>
                </a:extLst>
              </a:tr>
              <a:tr h="134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completedTasks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완료 과제 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104759"/>
                  </a:ext>
                </a:extLst>
              </a:tr>
              <a:tr h="134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streakDays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연속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스트릭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일 수 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655104"/>
                  </a:ext>
                </a:extLst>
              </a:tr>
              <a:tr h="134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strengths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Array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강점 리스트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793489"/>
                  </a:ext>
                </a:extLst>
              </a:tr>
              <a:tr h="134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Improvements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Array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개선점 리스트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586136"/>
                  </a:ext>
                </a:extLst>
              </a:tr>
              <a:tr h="134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categoryStats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Array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Y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도메인별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실천율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017212"/>
                  </a:ext>
                </a:extLst>
              </a:tr>
            </a:tbl>
          </a:graphicData>
        </a:graphic>
      </p:graphicFrame>
      <p:sp>
        <p:nvSpPr>
          <p:cNvPr id="48" name="Text 71">
            <a:extLst>
              <a:ext uri="{FF2B5EF4-FFF2-40B4-BE49-F238E27FC236}">
                <a16:creationId xmlns:a16="http://schemas.microsoft.com/office/drawing/2014/main" id="{42C8CD5B-1A02-451A-B60D-EEFE9FF19C30}"/>
              </a:ext>
            </a:extLst>
          </p:cNvPr>
          <p:cNvSpPr/>
          <p:nvPr/>
        </p:nvSpPr>
        <p:spPr>
          <a:xfrm>
            <a:off x="6492240" y="781939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</a:rPr>
              <a:t>화면 정보</a:t>
            </a:r>
            <a:endParaRPr lang="en-US" sz="145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CD2319-11E8-42DA-83AC-3C26FB4E3B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39" t="17066" r="12572" b="17547"/>
          <a:stretch/>
        </p:blipFill>
        <p:spPr>
          <a:xfrm>
            <a:off x="1042305" y="1172551"/>
            <a:ext cx="4261699" cy="270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97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7772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107899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405993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0599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403250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034434"/>
              </p:ext>
            </p:extLst>
          </p:nvPr>
        </p:nvGraphicFramePr>
        <p:xfrm>
          <a:off x="365760" y="4306824"/>
          <a:ext cx="5623560" cy="165201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FUNC-001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월간 리포트 조회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월간 탭 클릭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화면 진입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최신 주간 리포트 데이터 수신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요약 카드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강점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개선점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주차별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추이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획득 건물 렌더링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FUNC-002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기간 탭 전환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주간 탭 클릭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주간 리포트 화면으로 라우팅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주간 리포트 화면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FUNC-003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주차별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추이 시각화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데이터 수신 완료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주차별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달성률을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주차 순서대로 막대그래프 매핑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1-N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주차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달성률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그래프 렌더링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FUNC-004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이달의 획득 건물 렌더링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데이터 수신 완료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획득한 건물 배열 순회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건물 아이콘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+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이름 나열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총 개수 </a:t>
                      </a:r>
                      <a:r>
                        <a:rPr lang="ko-KR" altLang="en-US" sz="7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뱃지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표시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FUNC-005</a:t>
                      </a: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 부재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실패 처리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데이터 없음 또는 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API 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실패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빈 상태</a:t>
                      </a:r>
                      <a:r>
                        <a:rPr lang="en-US" altLang="ko-KR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7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에러 상태 분기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4151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80467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804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111607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709390"/>
              </p:ext>
            </p:extLst>
          </p:nvPr>
        </p:nvGraphicFramePr>
        <p:xfrm>
          <a:off x="6199632" y="1078992"/>
          <a:ext cx="5623560" cy="1005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7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AI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월간 리포트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주간 리포트에서 월간 탭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주간 탭 선택 시 주간 리포트로 전환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 생성 중이면 생성 대기 화면 진입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월간 누적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달성률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완료 과제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최고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스트릭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주차별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추이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도메인별 월평균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실천율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이달의 획득 건물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2157540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21575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213010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/>
        </p:nvGraphicFramePr>
        <p:xfrm>
          <a:off x="6199632" y="2431861"/>
          <a:ext cx="5623560" cy="184861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38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GNB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Link(Tab)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홈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내만다라트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상점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친구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리더보드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리포트 활성 표시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8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포인트 표시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Badge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보유 포인트 실시간 표시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8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아이콘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목록 조회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8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프로필 아바타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Button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마이페이지 진입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8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기간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토글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탭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Tab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주간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월간 전환 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⑥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종합 퍼포먼스 요약 카드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Card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AI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생성 요약 타이틀 및 코멘트 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+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주간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달성률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완료 과제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연속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스트릭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개 지표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15363"/>
                  </a:ext>
                </a:extLst>
              </a:tr>
              <a:tr h="1108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⑦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강점 카드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List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AI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 도출한 강점 항목 리스트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14412"/>
                  </a:ext>
                </a:extLst>
              </a:tr>
              <a:tr h="1108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⑧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개선점 카드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List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AI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 도출한 개선점 항목 리스트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422592"/>
                  </a:ext>
                </a:extLst>
              </a:tr>
              <a:tr h="1108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⑨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주차별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달성률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추이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Bar Chart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1~4(5)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주차별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달성률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막대그래프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548227"/>
                  </a:ext>
                </a:extLst>
              </a:tr>
              <a:tr h="1108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⑩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카테고리별 월 평균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실천율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Progression Bar List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도메인별 월평균 </a:t>
                      </a:r>
                      <a:r>
                        <a:rPr lang="ko-KR" altLang="en-US" sz="6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실천율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007233"/>
                  </a:ext>
                </a:extLst>
              </a:tr>
              <a:tr h="1900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⑪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이달의 획득 건물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Icon List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이번 달 신규 해금된 건물 아이콘 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+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이름</a:t>
                      </a:r>
                      <a:r>
                        <a:rPr lang="en-US" altLang="ko-KR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6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총 개수 표시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74093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362770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36277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33533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/>
        </p:nvGraphicFramePr>
        <p:xfrm>
          <a:off x="6199632" y="4637091"/>
          <a:ext cx="5623560" cy="2540508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08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709">
                <a:tc>
                  <a:txBody>
                    <a:bodyPr/>
                    <a:lstStyle/>
                    <a:p>
                      <a:r>
                        <a:rPr lang="en-US" sz="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reportId</a:t>
                      </a:r>
                      <a:endParaRPr 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Number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리포트 고유 </a:t>
                      </a: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709"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period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리포트 기간 구분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618977"/>
                  </a:ext>
                </a:extLst>
              </a:tr>
              <a:tr h="146709"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periodLabel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 라벨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361514"/>
                  </a:ext>
                </a:extLst>
              </a:tr>
              <a:tr h="146709"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summaryTitle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 타이틀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640164"/>
                  </a:ext>
                </a:extLst>
              </a:tr>
              <a:tr h="146709"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summaryComment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 코멘트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637370"/>
                  </a:ext>
                </a:extLst>
              </a:tr>
              <a:tr h="146709">
                <a:tc>
                  <a:txBody>
                    <a:bodyPr/>
                    <a:lstStyle/>
                    <a:p>
                      <a:r>
                        <a:rPr lang="en-US" sz="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achievementRate</a:t>
                      </a:r>
                      <a:endParaRPr 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Number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월간 </a:t>
                      </a:r>
                      <a:r>
                        <a:rPr lang="ko-KR" altLang="en-US" sz="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달성률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97073"/>
                  </a:ext>
                </a:extLst>
              </a:tr>
              <a:tr h="146709"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completedTasks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Number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 과제 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679121"/>
                  </a:ext>
                </a:extLst>
              </a:tr>
              <a:tr h="146709">
                <a:tc>
                  <a:txBody>
                    <a:bodyPr/>
                    <a:lstStyle/>
                    <a:p>
                      <a:r>
                        <a:rPr lang="en-US" sz="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bestStreak</a:t>
                      </a:r>
                      <a:endParaRPr 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Number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최고 연속 </a:t>
                      </a:r>
                      <a:r>
                        <a:rPr lang="ko-KR" altLang="en-US" sz="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스트릭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878225"/>
                  </a:ext>
                </a:extLst>
              </a:tr>
              <a:tr h="146709"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strengths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Array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이달의 강점 리스트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6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546252"/>
                  </a:ext>
                </a:extLst>
              </a:tr>
              <a:tr h="146709"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improvements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Array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이달의 개선점 리스트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709"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weeklyTrend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Array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주차별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달성률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709"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categoryStats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Array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도메인별 월평균 </a:t>
                      </a:r>
                      <a:r>
                        <a:rPr lang="ko-KR" altLang="en-US" sz="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실천율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709"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acquiredBuildings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Array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이달의 획득 건물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" name="Text 71">
            <a:extLst>
              <a:ext uri="{FF2B5EF4-FFF2-40B4-BE49-F238E27FC236}">
                <a16:creationId xmlns:a16="http://schemas.microsoft.com/office/drawing/2014/main" id="{42C8CD5B-1A02-451A-B60D-EEFE9FF19C30}"/>
              </a:ext>
            </a:extLst>
          </p:cNvPr>
          <p:cNvSpPr/>
          <p:nvPr/>
        </p:nvSpPr>
        <p:spPr>
          <a:xfrm>
            <a:off x="6492240" y="781939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</a:rPr>
              <a:t>화면 정보</a:t>
            </a:r>
            <a:endParaRPr lang="en-US" sz="145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7F91AB-0050-4054-B599-8C4C814FB5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13" t="13403" r="12591" b="14011"/>
          <a:stretch/>
        </p:blipFill>
        <p:spPr>
          <a:xfrm>
            <a:off x="1628461" y="1143000"/>
            <a:ext cx="3098157" cy="276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21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38342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103120" y="25231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6436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3643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33693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268898"/>
              </p:ext>
            </p:extLst>
          </p:nvPr>
        </p:nvGraphicFramePr>
        <p:xfrm>
          <a:off x="365760" y="3594219"/>
          <a:ext cx="5623560" cy="1471314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FUNC-001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5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랭킹 리스트 페이징 조회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화면 마운트 및 하단 페이지 번호 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- sheet </a:t>
                      </a:r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테이블에서 </a:t>
                      </a:r>
                      <a:r>
                        <a:rPr lang="en-US" altLang="ko-KR" sz="65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is_open</a:t>
                      </a:r>
                      <a:r>
                        <a:rPr lang="en-US" altLang="ko-KR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= TRUE</a:t>
                      </a:r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인 레코드를 대상으로 </a:t>
                      </a:r>
                      <a:r>
                        <a:rPr lang="en-US" altLang="ko-KR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like </a:t>
                      </a:r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컬럼 값 기준 내림차순 정렬하여 데이터 </a:t>
                      </a:r>
                      <a:r>
                        <a:rPr lang="ko-KR" altLang="en-US" sz="65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패칭</a:t>
                      </a:r>
                      <a:endParaRPr lang="ko-KR" altLang="en-US" sz="65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b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</a:br>
                      <a:r>
                        <a:rPr lang="en-US" altLang="ko-KR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요청된 페이지와 사이즈에 맞게 데이터 분할 조회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5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순위에 맞는 리스트 항목 및 하단 페이지네이션 바 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FUNC-002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상위 랭크 시각적 강조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랭킹 리스트 렌더링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  <a:r>
                        <a:rPr lang="ko-KR" altLang="en-US" sz="65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응답받은</a:t>
                      </a:r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데이터의 순위를 확인하여 </a:t>
                      </a:r>
                      <a:r>
                        <a:rPr lang="en-US" altLang="ko-KR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1~3</a:t>
                      </a:r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위일 경우 시각적 강조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1~3</a:t>
                      </a:r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위 항목 시각적 강조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65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FUNC-003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5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타인 만다라트 방문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65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[</a:t>
                      </a:r>
                      <a:r>
                        <a:rPr lang="ko-KR" altLang="en-US" sz="65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만다라트 보기 →</a:t>
                      </a:r>
                      <a:r>
                        <a:rPr lang="en-US" altLang="ko-KR" sz="65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] </a:t>
                      </a:r>
                      <a:r>
                        <a:rPr lang="ko-KR" altLang="en-US" sz="65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버튼 클릭 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해당 항목의 </a:t>
                      </a:r>
                      <a:r>
                        <a:rPr lang="en-US" altLang="ko-KR" sz="65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sheet_id</a:t>
                      </a:r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를 파라미터로 포함하여 </a:t>
                      </a:r>
                      <a:r>
                        <a:rPr lang="en-US" altLang="ko-KR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'</a:t>
                      </a:r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친구 </a:t>
                      </a:r>
                      <a:r>
                        <a:rPr lang="ko-KR" altLang="en-US" sz="65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만다라트</a:t>
                      </a:r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상세</a:t>
                      </a:r>
                      <a:r>
                        <a:rPr lang="en-US" altLang="ko-KR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' </a:t>
                      </a:r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화면으로 라우팅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타인 </a:t>
                      </a:r>
                      <a:r>
                        <a:rPr lang="ko-KR" altLang="en-US" sz="65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만다라트</a:t>
                      </a:r>
                      <a:r>
                        <a:rPr lang="ko-KR" altLang="en-US" sz="65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상세 뷰로 화면 전환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794536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189744"/>
              </p:ext>
            </p:extLst>
          </p:nvPr>
        </p:nvGraphicFramePr>
        <p:xfrm>
          <a:off x="6199632" y="38342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리더보드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좋아요 랭킹</a:t>
                      </a:r>
                      <a:r>
                        <a:rPr lang="en-US" altLang="ko-KR" sz="900" dirty="0"/>
                        <a:t>)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글로벌 네비게이션 바의 리더보드 메뉴 탭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타인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상세 조회 화면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 err="1"/>
                        <a:t>is_open</a:t>
                      </a:r>
                      <a:r>
                        <a:rPr lang="en-US" altLang="ko-KR" sz="900" dirty="0"/>
                        <a:t> = true</a:t>
                      </a:r>
                      <a:r>
                        <a:rPr lang="ko-KR" altLang="en-US" sz="900" dirty="0"/>
                        <a:t>인 시트들을 </a:t>
                      </a:r>
                      <a:r>
                        <a:rPr lang="en-US" altLang="ko-KR" sz="900" dirty="0"/>
                        <a:t>like </a:t>
                      </a:r>
                      <a:r>
                        <a:rPr lang="ko-KR" altLang="en-US" sz="900" dirty="0"/>
                        <a:t>수 기준으로 내림차순 정렬하여 </a:t>
                      </a:r>
                      <a:r>
                        <a:rPr lang="ko-KR" altLang="en-US" sz="900" dirty="0" err="1"/>
                        <a:t>페이지네이션</a:t>
                      </a:r>
                      <a:r>
                        <a:rPr lang="ko-KR" altLang="en-US" sz="900" dirty="0"/>
                        <a:t> 리스트 형태로 제공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173673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173673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170930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111582"/>
              </p:ext>
            </p:extLst>
          </p:nvPr>
        </p:nvGraphicFramePr>
        <p:xfrm>
          <a:off x="6199632" y="2000664"/>
          <a:ext cx="5623560" cy="170339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순위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Icon/Text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각 행의 좌측 끝에 순위 표기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. 1~3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위는 금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,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은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,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동으로 시각적 강조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, 4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위부터는 일반 표기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작성자 프로필 및 제목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Info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프로필 아이콘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,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만다라트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 핵심 목표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,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작성자의 닉네임 노출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좋아요 카운트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Text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빨간색 하트 아이콘과 해당 시트가 받은 누적 좋아요 수 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50905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[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만다라트 보기 →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]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클릭 시 해당 사용자의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만다라트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 마을로 방문할 수 있는 액션 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59092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페이지네이션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Pagination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</a:rPr>
                        <a:t>랭킹 리스트가 많을 경우 페이지를 이동할 수 있는 숫자 및 화살표 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014072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473699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47369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446267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174122"/>
              </p:ext>
            </p:extLst>
          </p:nvPr>
        </p:nvGraphicFramePr>
        <p:xfrm>
          <a:off x="6199632" y="4748019"/>
          <a:ext cx="5623560" cy="1539242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totalPages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페이지네이션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렌더링을 위한 총 페이지 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1404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content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랭킹 시트 객체 배열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 ... 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content[].rank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시트의 현재 순위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content[].sheetId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sheet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테이블의 고유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892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0353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content[].title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String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만다라트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핵심 목표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"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미라클모닝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4242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content[].nickname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String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유저의 닉네임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"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박하늘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516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content[].likeCount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시트의 누적 좋아요 수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412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43593"/>
                  </a:ext>
                </a:extLst>
              </a:tr>
            </a:tbl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C1E716E-32F2-482E-AB02-5636D95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31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43042A-A115-403D-A7F9-73AF8C690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83422"/>
            <a:ext cx="5024005" cy="28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58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38342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103120" y="25231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6436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3643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33693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211261"/>
              </p:ext>
            </p:extLst>
          </p:nvPr>
        </p:nvGraphicFramePr>
        <p:xfrm>
          <a:off x="365760" y="3594219"/>
          <a:ext cx="5623560" cy="234217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음성 인식 및 응답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발화 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 AI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응답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마이크를 통해 입력된 음성을 텍스트로 변환하여 채팅창에 띄우고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AI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 대화 문맥을 분석해 음성 및 텍스트로 답변함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채팅창 실시간 업데이트 및 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음성 출력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텍스트 채팅 전송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전송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또는 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Enter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입력창의 텍스트를 서버로 전송하고 채팅 내역에 즉시 추가함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채팅창에 사용자 메시지 버블 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태스크 추천 갱신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새로고침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현재까지의 대화 데이터를 바탕으로 백엔드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(AI)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 새로운 태스크 목록을 요청함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추천 태스크 리스트 리렌더링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79453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FUNC-004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태스크 선택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해제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태스크 항목 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체크박스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리스트 내 항목의 체크 상태를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토글하고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하단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적용하기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버튼의 카운트를 증감시킴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적용하기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(N)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텍스트 실시간 반영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1138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추천 태스크 적용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적용하기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체크된 태스크 배열을 상태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(State)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 넘기며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새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만들기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화면으로 라우팅 처리함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이전 화면 복귀 및 빈 격자에 태스크 자동 할당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88403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FUNC-006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통화 종료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통화 종료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WebRTC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또는 오디오 세션을 종료하고 마이크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스피커 권한을 해제함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타이머 중지 및 통화 상태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뱃지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변경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80705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899235"/>
              </p:ext>
            </p:extLst>
          </p:nvPr>
        </p:nvGraphicFramePr>
        <p:xfrm>
          <a:off x="6199632" y="38342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AI </a:t>
                      </a:r>
                      <a:r>
                        <a:rPr lang="ko-KR" altLang="en-US" sz="900" dirty="0"/>
                        <a:t>음성 코칭 화면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새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만들기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페이지에서 </a:t>
                      </a:r>
                      <a:r>
                        <a:rPr lang="en-US" altLang="ko-KR" sz="900" dirty="0"/>
                        <a:t>[AI</a:t>
                      </a:r>
                      <a:r>
                        <a:rPr lang="ko-KR" altLang="en-US" sz="900" dirty="0"/>
                        <a:t>로 태스크 생성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버튼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새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만들기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화면 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/>
                        <a:t>AI</a:t>
                      </a:r>
                      <a:r>
                        <a:rPr lang="ko-KR" altLang="en-US" sz="900" dirty="0"/>
                        <a:t>와 음성 및 텍스트로 대화하며 사용자 목표에 맞는 맞춤형 태스크를 </a:t>
                      </a:r>
                      <a:r>
                        <a:rPr lang="ko-KR" altLang="en-US" sz="900" dirty="0" err="1"/>
                        <a:t>추천받고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이를 선택하여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시트에 바로 적용하기 위함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1549698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154969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152226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718676"/>
              </p:ext>
            </p:extLst>
          </p:nvPr>
        </p:nvGraphicFramePr>
        <p:xfrm>
          <a:off x="6199632" y="1824018"/>
          <a:ext cx="5623560" cy="281112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9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좌측 채널 메뉴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업데이트 소식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추천 태스크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채팅 등 카테고리 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접속자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 음성 채널에 참여 중인 만다린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AI,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상태 표시줄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Area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좌측 하단에 본인의 프로필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통화 상태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마이크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설정 아이콘 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상단 통화 상태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중앙 뷰 상단에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통화 중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뱃지와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타이머표시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50905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프로필 아바타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Image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중앙에 대화 참여자의 프로필 이미지 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59092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통화 제어 바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 Group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하단 중앙에 마이크 토글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오디오 출력 설정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통화 종료 버튼 배치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01407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추천 태스크 리스트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List (Checkbox)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대화 문맥을 바탕으로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 제안한 태스크목록 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00406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새로고침 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우측 상단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클릭 시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에게 새로운 추천 태스크 리스트를 요청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4607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적용하기 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체크된 태스크 개수를 포함하여 표시하며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클릭 시 적용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69855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채팅창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대화 내역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Scroll View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음성 인식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(STT)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결과 및 사용자가 직접 입력한 텍스트 대화 내역 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3139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메시지 입력창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Input / 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텍스트 메시지를 직접 입력할 수 있는 필드와 전송 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459258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858169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85816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830737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203499"/>
              </p:ext>
            </p:extLst>
          </p:nvPr>
        </p:nvGraphicFramePr>
        <p:xfrm>
          <a:off x="6199632" y="5132489"/>
          <a:ext cx="5623560" cy="147175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chat_history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와 사용자가 주고받은 대화 내역 목록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[{"sender": "user", "message": "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피곤해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"}]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recommended_tasks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 생성하여 화면에 띄워준 태스크 목록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[{"domain": "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수면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", "title": "23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 전 취침하기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"}]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selected_tasks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사용자가 체크박스로 선택하여 적용할 태스크 목록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[{"domain": "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운동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", "title": "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스트레칭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"}]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call_duration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화면에 표시될 현재 통화 진행 시간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타이머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"00:04"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0353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mic_enabled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사용자의 마이크 활성화 여부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true (ON), false (OFF)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424252"/>
                  </a:ext>
                </a:extLst>
              </a:tr>
            </a:tbl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C1E716E-32F2-482E-AB02-5636D95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31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C55E6D-1408-4E80-8A40-047971051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29142"/>
            <a:ext cx="5010441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16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38342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103120" y="25231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6436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3643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33693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858088"/>
              </p:ext>
            </p:extLst>
          </p:nvPr>
        </p:nvGraphicFramePr>
        <p:xfrm>
          <a:off x="365760" y="3594219"/>
          <a:ext cx="5623560" cy="245647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공개 시트 목록 로드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화면 최초 진입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서버에 내 만다라트 목록을 요청하여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비공개 시트를 제외한 목록을 드롭다운에 세팅함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드롭다운 목록 구성 및 최상단 시트 자동 선택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시트 데이터 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드롭다운 항목 변경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선택된 </a:t>
                      </a:r>
                      <a:r>
                        <a:rPr lang="en-US" altLang="ko-KR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sheetId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 전체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칸 데이터를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 뷰에 렌더링함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좌측 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전체 내용 갱신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도메인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구역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뷰의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3x3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 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클릭한 도메인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상태 배열에 추가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제거함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배열 크기가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초과하려 하면 막는다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시각적 강조 및 상단 저장 버튼 텍스트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실시간 갱신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79453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FUNC-004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도메인 미리보기 갱신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특정 도메인 클릭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우측 미리보기 영역에 해당 도메인에 속한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개의 과제 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우측 패널 내용 갱신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1138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 도메인 저장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저장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호출하여 선택된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sheetId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와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domainIds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개를 전송함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성공 시 해당 그룹 </a:t>
                      </a:r>
                      <a:r>
                        <a:rPr lang="ko-KR" altLang="en-US" sz="7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 화면으로 이동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88403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FUNC-006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모드 전환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/ [3D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</a:t>
                      </a:r>
                      <a:r>
                        <a:rPr lang="en-US" altLang="ko-KR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탭 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우측 미리보기 렌더링 방식을 텍스트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(2D)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렌더링 캔버스로 전환함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모드 전환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80705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425764"/>
              </p:ext>
            </p:extLst>
          </p:nvPr>
        </p:nvGraphicFramePr>
        <p:xfrm>
          <a:off x="6199632" y="383422"/>
          <a:ext cx="5623560" cy="122529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25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그룹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참여 화면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방장의 </a:t>
                      </a:r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방 생성 완료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후 자동 </a:t>
                      </a:r>
                      <a:r>
                        <a:rPr lang="ko-KR" altLang="en-US" sz="900" dirty="0" err="1"/>
                        <a:t>리다이렉트</a:t>
                      </a:r>
                      <a:endParaRPr lang="ko-KR" altLang="en-US" sz="900" dirty="0"/>
                    </a:p>
                    <a:p>
                      <a:r>
                        <a:rPr lang="ko-KR" altLang="en-US" sz="900" dirty="0"/>
                        <a:t>팀원의 </a:t>
                      </a:r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그룹 초대 수락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후 자동 </a:t>
                      </a:r>
                      <a:r>
                        <a:rPr lang="ko-KR" altLang="en-US" sz="900" dirty="0" err="1"/>
                        <a:t>리다이렉트</a:t>
                      </a:r>
                      <a:endParaRPr lang="ko-KR" alt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해당 그룹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상세 화면 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그룹에 기여할 자신의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'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공개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'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처리된 </a:t>
                      </a:r>
                      <a:r>
                        <a:rPr lang="ko-KR" altLang="en-US" sz="9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만다라트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시트를 불러오고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그 중 정확히 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개의 도메인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(3x3 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영역</a:t>
                      </a: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</a:t>
                      </a:r>
                      <a:r>
                        <a:rPr lang="ko-KR" altLang="en-US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을 선택하여 그룹 합류를 최종 완료함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173673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173673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170930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745956"/>
              </p:ext>
            </p:extLst>
          </p:nvPr>
        </p:nvGraphicFramePr>
        <p:xfrm>
          <a:off x="6199632" y="2011054"/>
          <a:ext cx="5623560" cy="270662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9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상단 그룹 안내 배너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Area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사용자가 합류 중인 대상 그룹명과 안내 문구 표시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시트 선택 드롭다운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Select Box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사용자가 보유한 개인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중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공개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상태인 시트 목록만 필터링하여 제공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 격자 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드롭다운에서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선택된 시트의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칸 데이터를 렌더링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개별 칸이 아닌 도메인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(3x3)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단위로 클릭이 가능함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도메인 선택 하이라이트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 Effect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사용자가 클릭한 도메인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(3x3)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영역을 표시하여 선택 상태임을 시각적으로 피드백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50905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 도메인 미리보기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우측 패널에 사용자가 포커스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선택한 특정 도메인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(3x3)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 상세 내용을 확대하여 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59092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/ 3D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토글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 Group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우측 미리보기 영역을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텍스트 타일로 볼지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3D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 블록으로 볼지 전환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01407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 불가 경고 문구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 번 저장하면 수정할 수 없어요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!'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라는 붉은 텍스트로 사용자 주의 환기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00406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취소 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도메인 선택 및 합류를 취소하고 이전 화면으로 복귀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3976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저장 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선택된 도메인 개수에 따라 텍스트가 실시간 변경됨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2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개가 선택되었을 때만 클릭 가능상태로 변경됨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73424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71269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7126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6852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256816"/>
              </p:ext>
            </p:extLst>
          </p:nvPr>
        </p:nvGraphicFramePr>
        <p:xfrm>
          <a:off x="6199632" y="4987012"/>
          <a:ext cx="5623560" cy="183751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group_info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Object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 합류를 진행 중인 그룹의 메타 정보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ID)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{"groupId": 5, "title": "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알고리즘 마스터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"}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public_sheets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드롭다운에 표시될 공개 상태의 만다라트 시트 목록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[{"sheetId": 12, "title": "2026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목표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"}]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selected_sheet_id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 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화면에 불러와져 있는 만다라트 시트의 고유 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selected_domain_ids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격자에서 선택된 도메인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(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반드시 크기가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여야 저장 가능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[3, 7]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0353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preview_domain_data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Object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우측에 미리보기로 띄워줄 선택 도메인의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칸 상세 과제 데이터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{"</a:t>
                      </a:r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domainTitle</a:t>
                      </a: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": "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식단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", "</a:t>
                      </a: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subjects": [...]}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424252"/>
                  </a:ext>
                </a:extLst>
              </a:tr>
            </a:tbl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C1E716E-32F2-482E-AB02-5636D95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31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A45665-4AE4-4D72-BF0E-E48985534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442024"/>
            <a:ext cx="4914900" cy="279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113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38342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103120" y="25231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6436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3643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33693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76501"/>
              </p:ext>
            </p:extLst>
          </p:nvPr>
        </p:nvGraphicFramePr>
        <p:xfrm>
          <a:off x="365760" y="3594219"/>
          <a:ext cx="5623560" cy="21527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미니맵 렌더링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[3D 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탭 진입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선택된 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sheetId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 건물 배치 데이터를 기반으로 좌측 격자에 아이콘 형태의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미니맵을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렌더링함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좌측 격자 아이콘 갱신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 미리보기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특정 도메인 클릭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우측 상단 캔버스에 해당 도메인에 속한 건물들의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모델을 조합하여 렌더링함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캔버스 화면 갱신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메인 건물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본인이 방장일 경우 보유한 랜드마크 목록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모달을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호출하여 스킨을 교체함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팀원일 경우 비활성화 처리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메인 건물 선택 패널의 스킨 텍스트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이미지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화면 갱신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79453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FUNC-005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저장 로직 분기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저장</a:t>
                      </a:r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클릭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방장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방 생성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와 도메인 맵핑을  처리</a:t>
                      </a:r>
                    </a:p>
                    <a:p>
                      <a:b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팀원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선택된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개의 도메인 맵핑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 호출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성공 시 해당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 화면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으로 이동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884030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246732"/>
              </p:ext>
            </p:extLst>
          </p:nvPr>
        </p:nvGraphicFramePr>
        <p:xfrm>
          <a:off x="6199632" y="383422"/>
          <a:ext cx="562356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그룹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참여 화면 </a:t>
                      </a:r>
                      <a:r>
                        <a:rPr lang="en-US" altLang="ko-KR" sz="900" dirty="0"/>
                        <a:t>(3D </a:t>
                      </a:r>
                      <a:r>
                        <a:rPr lang="ko-KR" altLang="en-US" sz="900" dirty="0"/>
                        <a:t>뷰</a:t>
                      </a:r>
                      <a:r>
                        <a:rPr lang="en-US" altLang="ko-KR" sz="900" dirty="0"/>
                        <a:t>)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그룹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참여 화면에서 </a:t>
                      </a:r>
                      <a:r>
                        <a:rPr lang="en-US" altLang="ko-KR" sz="900" dirty="0"/>
                        <a:t>[3D </a:t>
                      </a:r>
                      <a:r>
                        <a:rPr lang="ko-KR" altLang="en-US" sz="900" dirty="0"/>
                        <a:t>뷰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 err="1"/>
                        <a:t>토글</a:t>
                      </a:r>
                      <a:r>
                        <a:rPr lang="ko-KR" altLang="en-US" sz="900" dirty="0"/>
                        <a:t> 버튼 클릭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해당 그룹 </a:t>
                      </a:r>
                      <a:r>
                        <a:rPr lang="ko-KR" altLang="en-US" sz="900" dirty="0" err="1"/>
                        <a:t>만다라트</a:t>
                      </a:r>
                      <a:r>
                        <a:rPr lang="ko-KR" altLang="en-US" sz="900" dirty="0"/>
                        <a:t> 상세 화면 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/>
                        <a:t>시트의 건물 배치 상태를 도메인 단위로 확인하고</a:t>
                      </a:r>
                      <a:r>
                        <a:rPr lang="en-US" altLang="ko-KR" sz="900" dirty="0"/>
                        <a:t>, 3D </a:t>
                      </a:r>
                      <a:r>
                        <a:rPr lang="ko-KR" altLang="en-US" sz="900" dirty="0"/>
                        <a:t>렌더링으로 </a:t>
                      </a:r>
                      <a:r>
                        <a:rPr lang="ko-KR" altLang="en-US" sz="900" dirty="0" err="1"/>
                        <a:t>미리본</a:t>
                      </a:r>
                      <a:r>
                        <a:rPr lang="ko-KR" altLang="en-US" sz="900" dirty="0"/>
                        <a:t> 뒤 도메인을 선택하여 저장하기 위함</a:t>
                      </a: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1575677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157567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1548245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774729"/>
              </p:ext>
            </p:extLst>
          </p:nvPr>
        </p:nvGraphicFramePr>
        <p:xfrm>
          <a:off x="6199632" y="1849997"/>
          <a:ext cx="5623560" cy="241358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4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6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미니맵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격자 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Grid (Icon)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텍스트 대신 건물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아이템 아이콘으로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칸의 배치 상태를 보여주는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미니맵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2D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뷰와 동일하게 도메인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(3x3)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단위로 클릭하여 선택 가능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도메인 선택 하이라이트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 Effect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클릭한 도메인 영역에 녹색 계열의 배경색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테두리를 표시하여 선택된 상태를 시각적으로 안내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시트 선택 드롭다운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Select Box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공개된 내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만다라트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시트 목록 중 하나를 선택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 / 3D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 토글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 Group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[2D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 클릭 시 텍스트 기반의 이전 화면으로 전환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50905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마을 미리보기 캔버스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Canvas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좌측 </a:t>
                      </a:r>
                      <a:r>
                        <a:rPr lang="ko-KR" altLang="en-US" sz="7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미니맵에서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포커스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선택된 도메인의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칸을 실제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건물 블록으로 우측 상단에 렌더링함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59092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메인 건물 선택 패널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Area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우측 하단에 위치하며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그룹의 중앙에 배치될 랜드마크 건물을 표시함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01407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메인 건물 변경 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랜드마크를 다른 스킨으로 교체할 수 있는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버튼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안내 문구에 따라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방장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에게만 활성화됨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00406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저장 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도메인 </a:t>
                      </a: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 선택을 완료하고 그룹에 최종 저장하는 버튼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815710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473699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47369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446267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332654"/>
              </p:ext>
            </p:extLst>
          </p:nvPr>
        </p:nvGraphicFramePr>
        <p:xfrm>
          <a:off x="6199632" y="4748019"/>
          <a:ext cx="5623560" cy="1628504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item_spots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선택된 시트의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칸 건물 배치 정보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[{"position": 1, "buildingId": 101}]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is_leader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 화면을 보고 있는 사용자가 해당 그룹의 방장인지 여부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center_building_id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Y(</a:t>
                      </a:r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방장</a:t>
                      </a:r>
                      <a:r>
                        <a:rPr lang="en-US" altLang="ko-KR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우측 하단에 설정된 메인 랜드마크 건물의 식별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999 (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스카이 타워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selected_domain_ids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 선택된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개의 도메인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[3, 7]</a:t>
                      </a: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035367"/>
                  </a:ext>
                </a:extLst>
              </a:tr>
            </a:tbl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C1E716E-32F2-482E-AB02-5636D95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31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A27B47-4925-4EF4-89B6-117618797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69" y="461560"/>
            <a:ext cx="4868141" cy="276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40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365760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와이어프레임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65760" y="383422"/>
            <a:ext cx="5623560" cy="2880360"/>
          </a:xfrm>
          <a:prstGeom prst="roundRect">
            <a:avLst>
              <a:gd name="adj" fmla="val 1905"/>
            </a:avLst>
          </a:prstGeom>
          <a:solidFill>
            <a:srgbClr val="FAFBFF"/>
          </a:solidFill>
          <a:ln w="12700">
            <a:solidFill>
              <a:srgbClr val="D8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103120" y="252311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3364366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336436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33693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명세</a:t>
            </a:r>
            <a:endParaRPr lang="en-US" sz="14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/>
        </p:nvGraphicFramePr>
        <p:xfrm>
          <a:off x="365760" y="3594219"/>
          <a:ext cx="5623560" cy="241401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ID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기능명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endParaRPr lang="en-US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79453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1138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88403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807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911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4565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693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525551"/>
                  </a:ext>
                </a:extLst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199632" y="109102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0" name="Text 67"/>
          <p:cNvSpPr/>
          <p:nvPr/>
        </p:nvSpPr>
        <p:spPr>
          <a:xfrm>
            <a:off x="6199632" y="10910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492240" y="8167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정보</a:t>
            </a:r>
            <a:endParaRPr lang="en-US" sz="1450" dirty="0"/>
          </a:p>
        </p:txBody>
      </p:sp>
      <p:graphicFrame>
        <p:nvGraphicFramePr>
          <p:cNvPr id="72" name="Table 1"/>
          <p:cNvGraphicFramePr>
            <a:graphicFrameLocks noGrp="1"/>
          </p:cNvGraphicFramePr>
          <p:nvPr/>
        </p:nvGraphicFramePr>
        <p:xfrm>
          <a:off x="6199632" y="383422"/>
          <a:ext cx="5623560" cy="1005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목적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alt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Shape 69"/>
          <p:cNvSpPr/>
          <p:nvPr/>
        </p:nvSpPr>
        <p:spPr>
          <a:xfrm>
            <a:off x="6199632" y="1736734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4" name="Text 70"/>
          <p:cNvSpPr/>
          <p:nvPr/>
        </p:nvSpPr>
        <p:spPr>
          <a:xfrm>
            <a:off x="6199632" y="173673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492240" y="170930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구성 요소</a:t>
            </a:r>
            <a:endParaRPr lang="en-US" sz="145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/>
        </p:nvGraphicFramePr>
        <p:xfrm>
          <a:off x="6199632" y="2011054"/>
          <a:ext cx="5623560" cy="162502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50905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59092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01407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004066"/>
                  </a:ext>
                </a:extLst>
              </a:tr>
            </a:tbl>
          </a:graphicData>
        </a:graphic>
      </p:graphicFrame>
      <p:sp>
        <p:nvSpPr>
          <p:cNvPr id="77" name="Shape 72"/>
          <p:cNvSpPr/>
          <p:nvPr/>
        </p:nvSpPr>
        <p:spPr>
          <a:xfrm>
            <a:off x="6199632" y="4473699"/>
            <a:ext cx="219456" cy="21945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78" name="Text 73"/>
          <p:cNvSpPr/>
          <p:nvPr/>
        </p:nvSpPr>
        <p:spPr>
          <a:xfrm>
            <a:off x="6199632" y="447369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6492240" y="4446267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</a:t>
            </a:r>
            <a:endParaRPr lang="en-US" sz="1450" dirty="0"/>
          </a:p>
        </p:txBody>
      </p:sp>
      <p:graphicFrame>
        <p:nvGraphicFramePr>
          <p:cNvPr id="80" name="Table 3"/>
          <p:cNvGraphicFramePr>
            <a:graphicFrameLocks noGrp="1"/>
          </p:cNvGraphicFramePr>
          <p:nvPr/>
        </p:nvGraphicFramePr>
        <p:xfrm>
          <a:off x="6199632" y="4748019"/>
          <a:ext cx="5623560" cy="1545772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314" marR="65314" marT="43543" marB="43543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0353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4242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5162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43593"/>
                  </a:ext>
                </a:extLst>
              </a:tr>
            </a:tbl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C1E716E-32F2-482E-AB02-5636D9542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8312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252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1407</TotalTime>
  <Words>9904</Words>
  <Application>Microsoft Office PowerPoint</Application>
  <PresentationFormat>와이드스크린</PresentationFormat>
  <Paragraphs>3097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se-nanumbarungothic</vt:lpstr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SSAFY</cp:lastModifiedBy>
  <cp:revision>73</cp:revision>
  <dcterms:created xsi:type="dcterms:W3CDTF">2026-07-21T01:14:38Z</dcterms:created>
  <dcterms:modified xsi:type="dcterms:W3CDTF">2026-07-24T01:41:49Z</dcterms:modified>
</cp:coreProperties>
</file>