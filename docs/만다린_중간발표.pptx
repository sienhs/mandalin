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379" autoAdjust="0"/>
    <p:restoredTop sz="94610"/>
  </p:normalViewPr>
  <p:slideViewPr>
    <p:cSldViewPr snapToGrid="0" snapToObjects="1">
      <p:cViewPr>
        <p:scale>
          <a:sx n="130" d="100"/>
          <a:sy n="130" d="100"/>
        </p:scale>
        <p:origin x="1368" y="726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presProps" Target="presProps.xml"  /><Relationship Id="rId32" Type="http://schemas.openxmlformats.org/officeDocument/2006/relationships/viewProps" Target="viewProps.xml"  /><Relationship Id="rId33" Type="http://schemas.openxmlformats.org/officeDocument/2006/relationships/theme" Target="theme/theme1.xml"  /><Relationship Id="rId34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charts/_rels/chart1.xml.rels><?xml version="1.0" encoding="UTF-8" standalone="yes" ?><Relationships xmlns="http://schemas.openxmlformats.org/package/2006/relationships"><Relationship Id="rId1" Type="http://schemas.microsoft.com/office/2011/relationships/chartStyle" Target="style1.xml"  /><Relationship Id="rId2" Type="http://schemas.microsoft.com/office/2011/relationships/chartColorStyle" Target="colors1.xml"  /><Relationship Id="rId3" Type="http://schemas.openxmlformats.org/officeDocument/2006/relationships/package" Target="../embeddings/Microsoft_Excel_Worksheet.xlsx" 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8966857920375"/>
          <c:y val="1.8901947062912094E-2"/>
          <c:w val="0.62995667337250538"/>
          <c:h val="0.9621961058741758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rgbClr val="D9D9D9"/>
            </a:solidFill>
          </c:spPr>
          <c:dPt>
            <c:idx val="0"/>
            <c:bubble3D val="0"/>
            <c:spPr>
              <a:solidFill>
                <a:srgbClr val="D9D9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CA99-4DCA-A4DF-4BF66E903CC4}"/>
              </c:ext>
            </c:extLst>
          </c:dPt>
          <c:dPt>
            <c:idx val="1"/>
            <c:bubble3D val="0"/>
            <c:spPr>
              <a:solidFill>
                <a:srgbClr val="ED8B1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A99-4DCA-A4DF-4BF66E903CC4}"/>
              </c:ext>
            </c:extLst>
          </c:dPt>
          <c:cat>
            <c:strRef>
              <c:f>Sheet1!$A$2:$A$3</c:f>
              <c:strCache>
                <c:ptCount val="2"/>
                <c:pt idx="0">
                  <c:v>사용중</c:v>
                </c:pt>
                <c:pt idx="1">
                  <c:v>사용 안 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99-4DCA-A4DF-4BF66E903C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0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2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팀 소개 및 서비스 한 줄 소개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1" name="Google Shape;6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만다라트의 어원과 오타니 쇼헤이 사례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1" name="Google Shape;6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시장 성장 규모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목표를 공유했을 때 달성률이 높아진다는 연구 결과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갓생 실천 경험 비율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갓생 실천 경험 비율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66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118명 대상 설문조사 시행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투두앱 사용 경험 및 사용 도구 유형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목표를 포기한 이유 순위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컨셉 검증 5점 척도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서비스 분석: 만다라트 계열과 습관 챌린지 계열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err="1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체크·배지는</a:t>
            </a:r>
            <a:r>
              <a:rPr lang="en-US" altLang="ko-KR" sz="1200" dirty="0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1200" dirty="0" err="1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쌓여도</a:t>
            </a:r>
            <a:r>
              <a:rPr lang="en-US" altLang="ko-KR" sz="1200" dirty="0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1200" dirty="0" err="1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장기</a:t>
            </a:r>
            <a:r>
              <a:rPr lang="en-US" altLang="ko-KR" sz="1200" dirty="0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1200" dirty="0" err="1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목표와</a:t>
            </a:r>
            <a:r>
              <a:rPr lang="en-US" altLang="ko-KR" sz="1200" dirty="0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1200" dirty="0" err="1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연결이</a:t>
            </a:r>
            <a:r>
              <a:rPr lang="en-US" altLang="ko-KR" sz="1200" dirty="0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1200" dirty="0" err="1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약함</a:t>
            </a:r>
            <a:endParaRPr lang="en-US" altLang="ko-KR" sz="1200" dirty="0"/>
          </a:p>
          <a:p>
            <a:pPr marL="0" indent="0" algn="l">
              <a:buNone/>
            </a:pPr>
            <a:r>
              <a:rPr lang="en-US" altLang="ko-KR" sz="1200" dirty="0" err="1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금전</a:t>
            </a:r>
            <a:r>
              <a:rPr lang="en-US" altLang="ko-KR" sz="1200" dirty="0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1200" dirty="0" err="1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동기</a:t>
            </a:r>
            <a:r>
              <a:rPr lang="en-US" altLang="ko-KR" sz="1200" dirty="0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1200" dirty="0" err="1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의존</a:t>
            </a:r>
            <a:r>
              <a:rPr lang="en-US" altLang="ko-KR" sz="1200" dirty="0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→ </a:t>
            </a:r>
            <a:r>
              <a:rPr lang="en-US" altLang="ko-KR" sz="1200" dirty="0" err="1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종료</a:t>
            </a:r>
            <a:r>
              <a:rPr lang="en-US" altLang="ko-KR" sz="1200" dirty="0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후 </a:t>
            </a:r>
            <a:r>
              <a:rPr lang="en-US" altLang="ko-KR" sz="1200" dirty="0" err="1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지속이</a:t>
            </a:r>
            <a:r>
              <a:rPr lang="en-US" altLang="ko-KR" sz="1200" dirty="0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1200" dirty="0" err="1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어려움</a:t>
            </a:r>
            <a:endParaRPr lang="en-US" altLang="ko-K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6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3230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자동 목표 설계 화면 명세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WebRTC 기반 실시간 AI 음성 소통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WebRTC 기반 실시간 AI 음성 소통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94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자동 목표 설계 화면 명세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088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FFBCA-21D2-9279-87C2-0A7918240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87DA1-C9AA-DD02-FC08-420D688D9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C1664-E561-3A98-7822-7D7424238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자동 목표 설계 화면 명세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7543C-1C57-93CA-821B-BF2618547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827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73246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만다라트 요소와 도시 요소의 매핑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만다라트 요소와 도시 요소의 매핑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만다라트 요소와 도시 요소의 매핑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만다라트 요소와 도시 요소의 매핑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만다라트 요소와 도시 요소의 매핑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기술 아키텍처 전체 구성도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감사 인사로 마무리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2.jpeg"  /><Relationship Id="rId4" Type="http://schemas.openxmlformats.org/officeDocument/2006/relationships/image" Target="../media/image3.jpe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chart" Target="../charts/char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6.png"  /><Relationship Id="rId4" Type="http://schemas.openxmlformats.org/officeDocument/2006/relationships/image" Target="../media/image7.jpe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10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11.png"  /><Relationship Id="rId4" Type="http://schemas.openxmlformats.org/officeDocument/2006/relationships/image" Target="../media/image12.jpeg"  /><Relationship Id="rId5" Type="http://schemas.openxmlformats.org/officeDocument/2006/relationships/image" Target="../media/image13.png"  /><Relationship Id="rId6" Type="http://schemas.openxmlformats.org/officeDocument/2006/relationships/image" Target="../media/image14.png"  /><Relationship Id="rId7" Type="http://schemas.openxmlformats.org/officeDocument/2006/relationships/image" Target="../media/image15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9.xml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26.png"  /><Relationship Id="rId11" Type="http://schemas.openxmlformats.org/officeDocument/2006/relationships/image" Target="../media/image27.png"  /><Relationship Id="rId2" Type="http://schemas.openxmlformats.org/officeDocument/2006/relationships/notesSlide" Target="../notesSlides/notesSlide20.xml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Relationship Id="rId6" Type="http://schemas.openxmlformats.org/officeDocument/2006/relationships/image" Target="../media/image22.png"  /><Relationship Id="rId7" Type="http://schemas.openxmlformats.org/officeDocument/2006/relationships/image" Target="../media/image23.png"  /><Relationship Id="rId8" Type="http://schemas.openxmlformats.org/officeDocument/2006/relationships/image" Target="../media/image24.png"  /><Relationship Id="rId9" Type="http://schemas.openxmlformats.org/officeDocument/2006/relationships/image" Target="../media/image25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1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2.xml"  /><Relationship Id="rId3" Type="http://schemas.openxmlformats.org/officeDocument/2006/relationships/image" Target="../media/image28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3.xml"  /><Relationship Id="rId3" Type="http://schemas.openxmlformats.org/officeDocument/2006/relationships/image" Target="../media/image29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4.xml"  /><Relationship Id="rId3" Type="http://schemas.openxmlformats.org/officeDocument/2006/relationships/image" Target="../media/image30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5.xml"  /><Relationship Id="rId3" Type="http://schemas.openxmlformats.org/officeDocument/2006/relationships/image" Target="../media/image31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6.xml"  /><Relationship Id="rId3" Type="http://schemas.openxmlformats.org/officeDocument/2006/relationships/image" Target="../media/image32.png"  /><Relationship Id="rId4" Type="http://schemas.openxmlformats.org/officeDocument/2006/relationships/image" Target="../media/image33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4.png"  /><Relationship Id="rId4" Type="http://schemas.openxmlformats.org/officeDocument/2006/relationships/image" Target="../media/image35.png"  /><Relationship Id="rId5" Type="http://schemas.openxmlformats.org/officeDocument/2006/relationships/image" Target="../media/image36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8.xml"  /><Relationship Id="rId3" Type="http://schemas.openxmlformats.org/officeDocument/2006/relationships/image" Target="../media/image37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8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-1488" b="-1488"/>
          <a:stretch/>
        </p:blipFill>
        <p:spPr>
          <a:xfrm>
            <a:off x="8448574" y="895350"/>
            <a:ext cx="8763000" cy="876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1238250"/>
            <a:ext cx="1030128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FBE3C4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AI GOAL PLANNER · GAMIFIED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52500" y="1928586"/>
            <a:ext cx="1100137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471"/>
              </a:lnSpc>
              <a:buNone/>
            </a:pPr>
            <a:r>
              <a:rPr lang="en-US" sz="7800" b="1" dirty="0" err="1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GmarketSans" pitchFamily="34" charset="-120"/>
              </a:rPr>
              <a:t>만다린</a:t>
            </a:r>
            <a:endParaRPr lang="en-US" sz="7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52500" y="3035300"/>
            <a:ext cx="1100137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450" dirty="0">
                <a:solidFill>
                  <a:srgbClr val="FBE3C4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MANDAL-IN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52500" y="3810000"/>
            <a:ext cx="11001375" cy="6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FFFFFF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목표를 세우면, 도시가 자랍니다.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952500" y="8794750"/>
            <a:ext cx="606008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SSAFY 2학기 공통 프로젝트 · 6인 팀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2500" y="9258300"/>
            <a:ext cx="647193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BE3C4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정희성(팀장) · 권병수 · 김재현 · 이성현 · 지성근 · 황우찬(PM)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7C4D3408-D03E-F178-67AC-44E9B314C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>
            <a:extLst>
              <a:ext uri="{FF2B5EF4-FFF2-40B4-BE49-F238E27FC236}">
                <a16:creationId xmlns:a16="http://schemas.microsoft.com/office/drawing/2014/main" id="{DF3BE41C-80DA-8E4C-A5F6-A51A7729E73A}"/>
              </a:ext>
            </a:extLst>
          </p:cNvPr>
          <p:cNvSpPr/>
          <p:nvPr/>
        </p:nvSpPr>
        <p:spPr>
          <a:xfrm>
            <a:off x="1577340" y="596646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US"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73;p5">
            <a:extLst>
              <a:ext uri="{FF2B5EF4-FFF2-40B4-BE49-F238E27FC236}">
                <a16:creationId xmlns:a16="http://schemas.microsoft.com/office/drawing/2014/main" id="{CC1C1F3E-FEA0-FDC8-5358-39C48708B7D3}"/>
              </a:ext>
            </a:extLst>
          </p:cNvPr>
          <p:cNvSpPr/>
          <p:nvPr/>
        </p:nvSpPr>
        <p:spPr>
          <a:xfrm>
            <a:off x="3177311" y="4212889"/>
            <a:ext cx="10880903" cy="1986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C3C3C"/>
              </a:buClr>
              <a:buSzPts val="3000"/>
            </a:pPr>
            <a:r>
              <a:rPr lang="en-US" altLang="ko-KR" sz="14400" b="1" dirty="0">
                <a:solidFill>
                  <a:srgbClr val="ED8B1F"/>
                </a:solidFill>
                <a:latin typeface="Malgun Gothic"/>
                <a:ea typeface="Malgun Gothic"/>
                <a:cs typeface="Malgun Gothic"/>
                <a:sym typeface="Malgun Gothic"/>
              </a:rPr>
              <a:t>Mandal</a:t>
            </a:r>
            <a:r>
              <a:rPr lang="en-US" altLang="ko-KR" sz="14400" b="1" dirty="0">
                <a:solidFill>
                  <a:srgbClr val="F6B15C"/>
                </a:solidFill>
                <a:latin typeface="Malgun Gothic"/>
                <a:ea typeface="Malgun Gothic"/>
                <a:cs typeface="Malgun Gothic"/>
                <a:sym typeface="Malgun Gothic"/>
              </a:rPr>
              <a:t>-In</a:t>
            </a:r>
            <a:endParaRPr sz="14400" dirty="0">
              <a:solidFill>
                <a:srgbClr val="F6B1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3;p5">
            <a:extLst>
              <a:ext uri="{FF2B5EF4-FFF2-40B4-BE49-F238E27FC236}">
                <a16:creationId xmlns:a16="http://schemas.microsoft.com/office/drawing/2014/main" id="{BA482F49-8E42-AEC9-958C-5116F59A3A1B}"/>
              </a:ext>
            </a:extLst>
          </p:cNvPr>
          <p:cNvSpPr/>
          <p:nvPr/>
        </p:nvSpPr>
        <p:spPr>
          <a:xfrm>
            <a:off x="3177311" y="6446520"/>
            <a:ext cx="1099011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C3C3C"/>
              </a:buClr>
              <a:buSzPts val="3000"/>
            </a:pPr>
            <a:r>
              <a:rPr lang="ko-KR" altLang="en-US" sz="4200" b="1" dirty="0">
                <a:solidFill>
                  <a:srgbClr val="3C3C3C"/>
                </a:solidFill>
                <a:latin typeface="Malgun Gothic"/>
                <a:ea typeface="Malgun Gothic"/>
                <a:cs typeface="Calibri"/>
                <a:sym typeface="Malgun Gothic"/>
              </a:rPr>
              <a:t>사용자를 </a:t>
            </a:r>
            <a:r>
              <a:rPr lang="en-US" sz="4200" b="1" dirty="0">
                <a:solidFill>
                  <a:srgbClr val="3C3C3C"/>
                </a:solidFill>
                <a:latin typeface="Malgun Gothic"/>
                <a:ea typeface="Malgun Gothic"/>
                <a:cs typeface="Calibri"/>
                <a:sym typeface="Malgun Gothic"/>
              </a:rPr>
              <a:t>Mandal-art</a:t>
            </a:r>
            <a:r>
              <a:rPr lang="ko-KR" altLang="en-US" sz="4200" b="1" dirty="0">
                <a:solidFill>
                  <a:srgbClr val="3C3C3C"/>
                </a:solidFill>
                <a:latin typeface="Malgun Gothic"/>
                <a:ea typeface="Malgun Gothic"/>
                <a:cs typeface="Calibri"/>
                <a:sym typeface="Malgun Gothic"/>
              </a:rPr>
              <a:t>에 참여시키게 만들겠다 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309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952500" y="671807"/>
            <a:ext cx="8191500" cy="1110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altLang="ko-KR" sz="7200" b="1" dirty="0">
                <a:solidFill>
                  <a:srgbClr val="3C3C3C"/>
                </a:solidFill>
                <a:latin typeface="Malgun Gothic"/>
                <a:ea typeface="Malgun Gothic"/>
                <a:cs typeface="Calibri"/>
                <a:sym typeface="Malgun Gothic"/>
              </a:rPr>
              <a:t>Mandal-art </a:t>
            </a:r>
            <a:r>
              <a:rPr lang="en-US" sz="72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란?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014492" y="2240177"/>
            <a:ext cx="11515888" cy="703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8750"/>
              </a:lnSpc>
              <a:buNone/>
            </a:pP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'</a:t>
            </a:r>
            <a:r>
              <a:rPr lang="en-US" sz="3600" b="1" dirty="0">
                <a:solidFill>
                  <a:srgbClr val="ED8B1F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Manda</a:t>
            </a: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(본질의 깨달음) + </a:t>
            </a:r>
            <a:r>
              <a:rPr lang="en-US" sz="3600" b="1" dirty="0">
                <a:solidFill>
                  <a:srgbClr val="ED8B1F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la</a:t>
            </a: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(달성) + </a:t>
            </a:r>
            <a:r>
              <a:rPr lang="en-US" sz="3600" b="1" dirty="0">
                <a:solidFill>
                  <a:srgbClr val="ED8B1F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art </a:t>
            </a: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(기술)'</a:t>
            </a:r>
            <a:r>
              <a:rPr lang="en-US" sz="3600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의 합성어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9525000" y="3238500"/>
            <a:ext cx="2667000" cy="3619500"/>
          </a:xfrm>
          <a:prstGeom prst="roundRect">
            <a:avLst>
              <a:gd name="adj" fmla="val 5714"/>
            </a:avLst>
          </a:prstGeom>
          <a:ln/>
          <a:effectLst>
            <a:outerShdw blurRad="304800" dist="1143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2420600" y="3238500"/>
            <a:ext cx="4762500" cy="3619500"/>
          </a:xfrm>
          <a:prstGeom prst="roundRect">
            <a:avLst>
              <a:gd name="adj" fmla="val 4211"/>
            </a:avLst>
          </a:prstGeom>
          <a:ln/>
          <a:effectLst>
            <a:outerShdw blurRad="304800" dist="1143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5" name="그림 24" descr="오타니 대존잘 사진 : MLBPARK">
            <a:extLst>
              <a:ext uri="{FF2B5EF4-FFF2-40B4-BE49-F238E27FC236}">
                <a16:creationId xmlns:a16="http://schemas.microsoft.com/office/drawing/2014/main" id="{CACB0353-AB78-47C3-9A4E-F1E48F8F4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4604" y="3755485"/>
            <a:ext cx="4246536" cy="5332118"/>
          </a:xfrm>
          <a:prstGeom prst="rect">
            <a:avLst/>
          </a:prstGeom>
        </p:spPr>
      </p:pic>
      <p:pic>
        <p:nvPicPr>
          <p:cNvPr id="26" name="그림 25" descr="20대의 삶을 업그레이드 하자] 만다라트 기법 편(feat.오타니 쇼헤이) - 20대에게 가장 필요한 커리어 정보, 슈퍼루키">
            <a:extLst>
              <a:ext uri="{FF2B5EF4-FFF2-40B4-BE49-F238E27FC236}">
                <a16:creationId xmlns:a16="http://schemas.microsoft.com/office/drawing/2014/main" id="{A1339240-36AC-49ED-BFCB-5C2E61216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955" y="3756186"/>
            <a:ext cx="5331417" cy="53314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3346960" y="3840480"/>
            <a:ext cx="11112959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C3C3C"/>
              </a:buClr>
              <a:buSzPts val="3000"/>
            </a:pPr>
            <a:r>
              <a:rPr lang="ko-KR" altLang="en-US" sz="8100" b="1" dirty="0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</a:t>
            </a:r>
            <a:r>
              <a:rPr lang="ko-KR" altLang="en-US" sz="8100" b="1" dirty="0" err="1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만다라트를</a:t>
            </a:r>
            <a:r>
              <a:rPr lang="ko-KR" altLang="en-US" sz="8100" b="1" dirty="0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선택했나</a:t>
            </a:r>
            <a:endParaRPr sz="8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577340" y="596646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US"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0035312" y="596646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US"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1071559" y="3749667"/>
            <a:ext cx="5448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8A8A8A"/>
                </a:solidFill>
                <a:latin typeface="+mn-ea"/>
                <a:cs typeface="GmarketSans" pitchFamily="34" charset="-120"/>
              </a:rPr>
              <a:t>2026년</a:t>
            </a:r>
            <a:endParaRPr lang="en-US" sz="1950"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7315" y="4111617"/>
            <a:ext cx="5448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약 149.5억 달러</a:t>
            </a:r>
            <a:endParaRPr lang="en-US" sz="390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71559" y="5233576"/>
            <a:ext cx="5448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D8B1F"/>
                </a:solidFill>
                <a:latin typeface="+mn-ea"/>
                <a:cs typeface="GmarketSans" pitchFamily="34" charset="-120"/>
              </a:rPr>
              <a:t>2035년</a:t>
            </a:r>
            <a:endParaRPr lang="en-US" sz="3600" dirty="0">
              <a:latin typeface="+mn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17315" y="5719886"/>
            <a:ext cx="644321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ED8B1F"/>
                </a:solidFill>
                <a:latin typeface="+mn-ea"/>
                <a:cs typeface="GmarketSans" pitchFamily="34" charset="-120"/>
              </a:rPr>
              <a:t>약 502.2억 달러</a:t>
            </a:r>
            <a:endParaRPr lang="en-US" sz="6600" dirty="0">
              <a:latin typeface="+mn-ea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67C1D0C-8971-4DB4-8BCC-8AD681B4ED6E}"/>
              </a:ext>
            </a:extLst>
          </p:cNvPr>
          <p:cNvGrpSpPr/>
          <p:nvPr/>
        </p:nvGrpSpPr>
        <p:grpSpPr>
          <a:xfrm>
            <a:off x="5888236" y="3551858"/>
            <a:ext cx="10668000" cy="5889625"/>
            <a:chOff x="6667500" y="2006600"/>
            <a:chExt cx="10668000" cy="5889625"/>
          </a:xfrm>
        </p:grpSpPr>
        <p:sp>
          <p:nvSpPr>
            <p:cNvPr id="16" name="Shape 14"/>
            <p:cNvSpPr/>
            <p:nvPr/>
          </p:nvSpPr>
          <p:spPr>
            <a:xfrm>
              <a:off x="6667500" y="6084887"/>
              <a:ext cx="946745" cy="1428750"/>
            </a:xfrm>
            <a:custGeom>
              <a:avLst/>
              <a:gdLst/>
              <a:ahLst/>
              <a:cxnLst/>
              <a:rect l="l" t="t" r="r" b="b"/>
              <a:pathLst>
                <a:path w="946745" h="952500">
                  <a:moveTo>
                    <a:pt x="57150" y="0"/>
                  </a:moveTo>
                  <a:lnTo>
                    <a:pt x="889595" y="0"/>
                  </a:lnTo>
                  <a:arcTo wR="57150" hR="57150" stAng="16200000" swAng="5400000"/>
                  <a:lnTo>
                    <a:pt x="946745" y="952500"/>
                  </a:lnTo>
                  <a:lnTo>
                    <a:pt x="0" y="952500"/>
                  </a:lnTo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rgbClr val="D9D9D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6973392" y="7566025"/>
              <a:ext cx="411163" cy="330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'26</a:t>
              </a:r>
              <a:endParaRPr lang="en-US" sz="1800" dirty="0">
                <a:latin typeface="+mn-ea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7747596" y="5850610"/>
              <a:ext cx="946845" cy="1639216"/>
            </a:xfrm>
            <a:custGeom>
              <a:avLst/>
              <a:gdLst/>
              <a:ahLst/>
              <a:cxnLst/>
              <a:rect l="l" t="t" r="r" b="b"/>
              <a:pathLst>
                <a:path w="946845" h="1190625">
                  <a:moveTo>
                    <a:pt x="57150" y="0"/>
                  </a:moveTo>
                  <a:lnTo>
                    <a:pt x="889695" y="0"/>
                  </a:lnTo>
                  <a:arcTo wR="57150" hR="57150" stAng="16200000" swAng="5400000"/>
                  <a:lnTo>
                    <a:pt x="946845" y="1190625"/>
                  </a:lnTo>
                  <a:lnTo>
                    <a:pt x="0" y="1190625"/>
                  </a:lnTo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rgbClr val="D9D9D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8057654" y="7566025"/>
              <a:ext cx="402927" cy="330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'27</a:t>
              </a:r>
              <a:endParaRPr lang="en-US" sz="1800" dirty="0">
                <a:latin typeface="+mn-ea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8827790" y="5556142"/>
              <a:ext cx="946745" cy="1933683"/>
            </a:xfrm>
            <a:custGeom>
              <a:avLst/>
              <a:gdLst/>
              <a:ahLst/>
              <a:cxnLst/>
              <a:rect l="l" t="t" r="r" b="b"/>
              <a:pathLst>
                <a:path w="946745" h="1428750">
                  <a:moveTo>
                    <a:pt x="57150" y="0"/>
                  </a:moveTo>
                  <a:lnTo>
                    <a:pt x="889595" y="0"/>
                  </a:lnTo>
                  <a:arcTo wR="57150" hR="57150" stAng="16200000" swAng="5400000"/>
                  <a:lnTo>
                    <a:pt x="946745" y="1428750"/>
                  </a:lnTo>
                  <a:lnTo>
                    <a:pt x="0" y="1428750"/>
                  </a:lnTo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rgbClr val="D9D9D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9132987" y="7566025"/>
              <a:ext cx="412552" cy="330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'28</a:t>
              </a:r>
              <a:endParaRPr lang="en-US" sz="1800" dirty="0">
                <a:latin typeface="+mn-ea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9907886" y="5215180"/>
              <a:ext cx="946845" cy="2274645"/>
            </a:xfrm>
            <a:custGeom>
              <a:avLst/>
              <a:gdLst/>
              <a:ahLst/>
              <a:cxnLst/>
              <a:rect l="l" t="t" r="r" b="b"/>
              <a:pathLst>
                <a:path w="946845" h="1619250">
                  <a:moveTo>
                    <a:pt x="57150" y="0"/>
                  </a:moveTo>
                  <a:lnTo>
                    <a:pt x="889695" y="0"/>
                  </a:lnTo>
                  <a:arcTo wR="57150" hR="57150" stAng="16200000" swAng="5400000"/>
                  <a:lnTo>
                    <a:pt x="946845" y="1619250"/>
                  </a:lnTo>
                  <a:lnTo>
                    <a:pt x="0" y="1619250"/>
                  </a:lnTo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rgbClr val="FBE3C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10213777" y="7566025"/>
              <a:ext cx="411163" cy="330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'29</a:t>
              </a:r>
              <a:endParaRPr lang="en-US" sz="1800" dirty="0">
                <a:latin typeface="+mn-ea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10988080" y="4914900"/>
              <a:ext cx="946745" cy="2574925"/>
            </a:xfrm>
            <a:custGeom>
              <a:avLst/>
              <a:gdLst/>
              <a:ahLst/>
              <a:cxnLst/>
              <a:rect l="l" t="t" r="r" b="b"/>
              <a:pathLst>
                <a:path w="946745" h="1857375">
                  <a:moveTo>
                    <a:pt x="57150" y="0"/>
                  </a:moveTo>
                  <a:lnTo>
                    <a:pt x="889595" y="0"/>
                  </a:lnTo>
                  <a:arcTo wR="57150" hR="57150" stAng="16200000" swAng="5400000"/>
                  <a:lnTo>
                    <a:pt x="946745" y="1857375"/>
                  </a:lnTo>
                  <a:lnTo>
                    <a:pt x="0" y="1857375"/>
                  </a:lnTo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rgbClr val="FBE3C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11288911" y="7566025"/>
              <a:ext cx="421184" cy="330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'30</a:t>
              </a:r>
              <a:endParaRPr lang="en-US" sz="1800" dirty="0">
                <a:latin typeface="+mn-ea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12068175" y="4610746"/>
              <a:ext cx="946845" cy="2879079"/>
            </a:xfrm>
            <a:custGeom>
              <a:avLst/>
              <a:gdLst/>
              <a:ahLst/>
              <a:cxnLst/>
              <a:rect l="l" t="t" r="r" b="b"/>
              <a:pathLst>
                <a:path w="946845" h="2095500">
                  <a:moveTo>
                    <a:pt x="57150" y="0"/>
                  </a:moveTo>
                  <a:lnTo>
                    <a:pt x="889695" y="0"/>
                  </a:lnTo>
                  <a:arcTo wR="57150" hR="57150" stAng="16200000" swAng="5400000"/>
                  <a:lnTo>
                    <a:pt x="946845" y="2095500"/>
                  </a:lnTo>
                  <a:lnTo>
                    <a:pt x="0" y="2095500"/>
                  </a:lnTo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rgbClr val="F6C58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12397680" y="7566025"/>
              <a:ext cx="364034" cy="330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'31</a:t>
              </a:r>
              <a:endParaRPr lang="en-US" sz="1800" dirty="0">
                <a:latin typeface="+mn-ea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13148370" y="4293032"/>
              <a:ext cx="946745" cy="3196794"/>
            </a:xfrm>
            <a:custGeom>
              <a:avLst/>
              <a:gdLst/>
              <a:ahLst/>
              <a:cxnLst/>
              <a:rect l="l" t="t" r="r" b="b"/>
              <a:pathLst>
                <a:path w="946745" h="2333625">
                  <a:moveTo>
                    <a:pt x="57150" y="0"/>
                  </a:moveTo>
                  <a:lnTo>
                    <a:pt x="889595" y="0"/>
                  </a:lnTo>
                  <a:arcTo wR="57150" hR="57150" stAng="16200000" swAng="5400000"/>
                  <a:lnTo>
                    <a:pt x="946745" y="2333625"/>
                  </a:lnTo>
                  <a:lnTo>
                    <a:pt x="0" y="2333625"/>
                  </a:lnTo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rgbClr val="F6C58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13453467" y="7566025"/>
              <a:ext cx="412750" cy="330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'32</a:t>
              </a:r>
              <a:endParaRPr lang="en-US" sz="1800" dirty="0">
                <a:latin typeface="+mn-ea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14228465" y="3913322"/>
              <a:ext cx="946845" cy="3576503"/>
            </a:xfrm>
            <a:custGeom>
              <a:avLst/>
              <a:gdLst/>
              <a:ahLst/>
              <a:cxnLst/>
              <a:rect l="l" t="t" r="r" b="b"/>
              <a:pathLst>
                <a:path w="946845" h="2571750">
                  <a:moveTo>
                    <a:pt x="57150" y="0"/>
                  </a:moveTo>
                  <a:lnTo>
                    <a:pt x="889695" y="0"/>
                  </a:lnTo>
                  <a:arcTo wR="57150" hR="57150" stAng="16200000" swAng="5400000"/>
                  <a:lnTo>
                    <a:pt x="946845" y="2571750"/>
                  </a:lnTo>
                  <a:lnTo>
                    <a:pt x="0" y="2571750"/>
                  </a:lnTo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rgbClr val="F6C58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14533364" y="7566025"/>
              <a:ext cx="413246" cy="330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'33</a:t>
              </a:r>
              <a:endParaRPr lang="en-US" sz="1800" dirty="0">
                <a:latin typeface="+mn-ea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15308660" y="3177154"/>
              <a:ext cx="946745" cy="4312672"/>
            </a:xfrm>
            <a:custGeom>
              <a:avLst/>
              <a:gdLst/>
              <a:ahLst/>
              <a:cxnLst/>
              <a:rect l="l" t="t" r="r" b="b"/>
              <a:pathLst>
                <a:path w="946745" h="2857500">
                  <a:moveTo>
                    <a:pt x="57150" y="0"/>
                  </a:moveTo>
                  <a:lnTo>
                    <a:pt x="889595" y="0"/>
                  </a:lnTo>
                  <a:arcTo wR="57150" hR="57150" stAng="16200000" swAng="5400000"/>
                  <a:lnTo>
                    <a:pt x="946745" y="2857500"/>
                  </a:lnTo>
                  <a:lnTo>
                    <a:pt x="0" y="2857500"/>
                  </a:lnTo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rgbClr val="ED8B1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15610880" y="7566025"/>
              <a:ext cx="418505" cy="330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'34</a:t>
              </a:r>
              <a:endParaRPr lang="en-US" sz="1800" dirty="0">
                <a:latin typeface="+mn-ea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16388755" y="2006600"/>
              <a:ext cx="946745" cy="5470525"/>
            </a:xfrm>
            <a:custGeom>
              <a:avLst/>
              <a:gdLst/>
              <a:ahLst/>
              <a:cxnLst/>
              <a:rect l="l" t="t" r="r" b="b"/>
              <a:pathLst>
                <a:path w="946745" h="3238500">
                  <a:moveTo>
                    <a:pt x="57150" y="0"/>
                  </a:moveTo>
                  <a:lnTo>
                    <a:pt x="889595" y="0"/>
                  </a:lnTo>
                  <a:arcTo wR="57150" hR="57150" stAng="16200000" swAng="5400000"/>
                  <a:lnTo>
                    <a:pt x="946745" y="3238500"/>
                  </a:lnTo>
                  <a:lnTo>
                    <a:pt x="0" y="3238500"/>
                  </a:lnTo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rgbClr val="ED8B1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16679962" y="7553325"/>
              <a:ext cx="440432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'35</a:t>
              </a:r>
              <a:endParaRPr lang="en-US" sz="1800" dirty="0">
                <a:latin typeface="+mn-ea"/>
              </a:endParaRPr>
            </a:p>
          </p:txBody>
        </p:sp>
      </p:grpSp>
      <p:sp>
        <p:nvSpPr>
          <p:cNvPr id="41" name="Text 25">
            <a:extLst>
              <a:ext uri="{FF2B5EF4-FFF2-40B4-BE49-F238E27FC236}">
                <a16:creationId xmlns:a16="http://schemas.microsoft.com/office/drawing/2014/main" id="{88FD87B6-8859-414B-A38E-7402D2F4F378}"/>
              </a:ext>
            </a:extLst>
          </p:cNvPr>
          <p:cNvSpPr/>
          <p:nvPr/>
        </p:nvSpPr>
        <p:spPr>
          <a:xfrm>
            <a:off x="952500" y="9258300"/>
            <a:ext cx="634336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8A8A"/>
                </a:solidFill>
                <a:latin typeface="+mn-ea"/>
                <a:cs typeface="GmarketSans" pitchFamily="34" charset="-120"/>
              </a:rPr>
              <a:t>출처: </a:t>
            </a:r>
            <a:r>
              <a:rPr lang="en-US" altLang="ko-KR" sz="1800" dirty="0">
                <a:solidFill>
                  <a:srgbClr val="8A8A8A"/>
                </a:solidFill>
                <a:latin typeface="+mn-ea"/>
                <a:cs typeface="GmarketSans" pitchFamily="34" charset="-120"/>
              </a:rPr>
              <a:t>Business Search Insight</a:t>
            </a:r>
            <a:endParaRPr lang="en-US" sz="1800" dirty="0">
              <a:latin typeface="+mn-ea"/>
            </a:endParaRP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08C35AEE-5797-48BE-8B47-AFCBD40C30F8}"/>
              </a:ext>
            </a:extLst>
          </p:cNvPr>
          <p:cNvSpPr/>
          <p:nvPr/>
        </p:nvSpPr>
        <p:spPr>
          <a:xfrm>
            <a:off x="1017315" y="2192283"/>
            <a:ext cx="16661324" cy="759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4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전 세계 </a:t>
            </a:r>
            <a:r>
              <a:rPr lang="en-US" altLang="ko-KR" sz="4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Habit Tracking </a:t>
            </a:r>
            <a:r>
              <a:rPr lang="en-US" altLang="ko-KR" sz="4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분야의</a:t>
            </a:r>
            <a:r>
              <a:rPr lang="en-US" altLang="ko-KR" sz="4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4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성장</a:t>
            </a:r>
            <a:endParaRPr lang="en-US" altLang="ko-KR" sz="4000" dirty="0">
              <a:latin typeface="+mn-ea"/>
            </a:endParaRPr>
          </a:p>
        </p:txBody>
      </p:sp>
      <p:sp>
        <p:nvSpPr>
          <p:cNvPr id="38" name="Google Shape;73;p5">
            <a:extLst>
              <a:ext uri="{FF2B5EF4-FFF2-40B4-BE49-F238E27FC236}">
                <a16:creationId xmlns:a16="http://schemas.microsoft.com/office/drawing/2014/main" id="{86AA1054-853B-492C-9AA6-ADDCD48DDB46}"/>
              </a:ext>
            </a:extLst>
          </p:cNvPr>
          <p:cNvSpPr/>
          <p:nvPr/>
        </p:nvSpPr>
        <p:spPr>
          <a:xfrm>
            <a:off x="3283087" y="470543"/>
            <a:ext cx="11112959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C3C3C"/>
              </a:buClr>
              <a:buSzPts val="3000"/>
            </a:pPr>
            <a:r>
              <a:rPr lang="ko-KR" altLang="en-US" sz="8100" b="1" dirty="0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</a:t>
            </a:r>
            <a:r>
              <a:rPr lang="ko-KR" altLang="en-US" sz="8100" b="1" dirty="0" err="1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만다라트를</a:t>
            </a:r>
            <a:r>
              <a:rPr lang="ko-KR" altLang="en-US" sz="8100" b="1" dirty="0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선택했나</a:t>
            </a:r>
            <a:endParaRPr sz="8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4BF628D1-1A90-4BB3-979F-0738F97F9503}"/>
              </a:ext>
            </a:extLst>
          </p:cNvPr>
          <p:cNvGrpSpPr/>
          <p:nvPr/>
        </p:nvGrpSpPr>
        <p:grpSpPr>
          <a:xfrm>
            <a:off x="1296234" y="2662071"/>
            <a:ext cx="15621000" cy="4612361"/>
            <a:chOff x="965874" y="3750589"/>
            <a:chExt cx="15621000" cy="4612361"/>
          </a:xfrm>
        </p:grpSpPr>
        <p:sp>
          <p:nvSpPr>
            <p:cNvPr id="11" name="Text 9"/>
            <p:cNvSpPr/>
            <p:nvPr/>
          </p:nvSpPr>
          <p:spPr>
            <a:xfrm>
              <a:off x="1585754" y="5101503"/>
              <a:ext cx="1686198" cy="10435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48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4.28</a:t>
              </a:r>
              <a:endParaRPr lang="en-US" sz="4800" dirty="0">
                <a:latin typeface="+mn-ea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965874" y="6076950"/>
              <a:ext cx="2849860" cy="1428750"/>
            </a:xfrm>
            <a:custGeom>
              <a:avLst/>
              <a:gdLst/>
              <a:ahLst/>
              <a:cxnLst/>
              <a:rect l="l" t="t" r="r" b="b"/>
              <a:pathLst>
                <a:path w="2849860" h="1428750">
                  <a:moveTo>
                    <a:pt x="95250" y="0"/>
                  </a:moveTo>
                  <a:lnTo>
                    <a:pt x="2754610" y="0"/>
                  </a:lnTo>
                  <a:arcTo wR="95250" hR="95250" stAng="16200000" swAng="5400000"/>
                  <a:lnTo>
                    <a:pt x="2849860" y="1428750"/>
                  </a:lnTo>
                  <a:lnTo>
                    <a:pt x="0" y="1428750"/>
                  </a:lnTo>
                  <a:lnTo>
                    <a:pt x="0" y="95250"/>
                  </a:lnTo>
                  <a:arcTo wR="95250" hR="95250" stAng="10800000" swAng="5400000"/>
                  <a:close/>
                </a:path>
              </a:pathLst>
            </a:custGeom>
            <a:solidFill>
              <a:srgbClr val="D9D9D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1309608" y="7658100"/>
              <a:ext cx="2187338" cy="6921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 err="1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목표를</a:t>
              </a:r>
              <a:r>
                <a:rPr lang="en-US" sz="3200" b="1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 </a:t>
              </a:r>
              <a:br>
                <a:rPr lang="en-US" sz="3200" b="1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</a:br>
              <a:r>
                <a:rPr lang="en-US" sz="3200" b="1" dirty="0" err="1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적지</a:t>
              </a:r>
              <a:r>
                <a:rPr lang="en-US" sz="3200" b="1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 </a:t>
              </a:r>
              <a:r>
                <a:rPr lang="en-US" sz="3200" b="1" dirty="0" err="1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않음</a:t>
              </a:r>
              <a:endParaRPr lang="en-US" sz="3200" b="1" dirty="0">
                <a:latin typeface="+mn-ea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778078" y="4748363"/>
              <a:ext cx="1697958" cy="10435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48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6.08</a:t>
              </a:r>
              <a:endParaRPr lang="en-US" sz="4800" dirty="0">
                <a:latin typeface="+mn-ea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4158634" y="5546725"/>
              <a:ext cx="2849959" cy="2028825"/>
            </a:xfrm>
            <a:custGeom>
              <a:avLst/>
              <a:gdLst/>
              <a:ahLst/>
              <a:cxnLst/>
              <a:rect l="l" t="t" r="r" b="b"/>
              <a:pathLst>
                <a:path w="2849959" h="2028825">
                  <a:moveTo>
                    <a:pt x="95250" y="0"/>
                  </a:moveTo>
                  <a:lnTo>
                    <a:pt x="2754709" y="0"/>
                  </a:lnTo>
                  <a:arcTo wR="95250" hR="95250" stAng="16200000" swAng="5400000"/>
                  <a:lnTo>
                    <a:pt x="2849959" y="2028825"/>
                  </a:lnTo>
                  <a:lnTo>
                    <a:pt x="0" y="2028825"/>
                  </a:lnTo>
                  <a:lnTo>
                    <a:pt x="0" y="95250"/>
                  </a:lnTo>
                  <a:arcTo wR="95250" hR="95250" stAng="10800000" swAng="5400000"/>
                  <a:close/>
                </a:path>
              </a:pathLst>
            </a:custGeom>
            <a:solidFill>
              <a:srgbClr val="F6C58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4476192" y="7715250"/>
              <a:ext cx="2187337" cy="622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 err="1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목표를</a:t>
              </a:r>
              <a:r>
                <a:rPr lang="en-US" sz="3200" b="1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 </a:t>
              </a:r>
              <a:br>
                <a:rPr lang="en-US" sz="3200" b="1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</a:br>
              <a:r>
                <a:rPr lang="en-US" sz="3200" b="1" dirty="0" err="1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적음</a:t>
              </a:r>
              <a:endParaRPr lang="en-US" sz="3200" b="1" dirty="0">
                <a:latin typeface="+mn-ea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7982162" y="5140210"/>
              <a:ext cx="1697958" cy="10435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48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5.08</a:t>
              </a:r>
              <a:endParaRPr lang="en-US" sz="4800" dirty="0">
                <a:latin typeface="+mn-ea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7351494" y="5880100"/>
              <a:ext cx="2849860" cy="1695450"/>
            </a:xfrm>
            <a:custGeom>
              <a:avLst/>
              <a:gdLst/>
              <a:ahLst/>
              <a:cxnLst/>
              <a:rect l="l" t="t" r="r" b="b"/>
              <a:pathLst>
                <a:path w="2849860" h="1695450">
                  <a:moveTo>
                    <a:pt x="95250" y="0"/>
                  </a:moveTo>
                  <a:lnTo>
                    <a:pt x="2754610" y="0"/>
                  </a:lnTo>
                  <a:arcTo wR="95250" hR="95250" stAng="16200000" swAng="5400000"/>
                  <a:lnTo>
                    <a:pt x="2849860" y="1695450"/>
                  </a:lnTo>
                  <a:lnTo>
                    <a:pt x="0" y="1695450"/>
                  </a:lnTo>
                  <a:lnTo>
                    <a:pt x="0" y="95250"/>
                  </a:lnTo>
                  <a:arcTo wR="95250" hR="95250" stAng="10800000" swAng="5400000"/>
                  <a:close/>
                </a:path>
              </a:pathLst>
            </a:custGeom>
            <a:solidFill>
              <a:srgbClr val="D9D9D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7351494" y="7715250"/>
              <a:ext cx="2849860" cy="622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실행계획까지 적음</a:t>
              </a:r>
              <a:endParaRPr lang="en-US" sz="3200" b="1" dirty="0">
                <a:latin typeface="+mn-ea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1191603" y="4618449"/>
              <a:ext cx="1555162" cy="10435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48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6.41</a:t>
              </a:r>
              <a:endParaRPr lang="en-US" sz="4800" dirty="0">
                <a:latin typeface="+mn-ea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10544254" y="5441950"/>
              <a:ext cx="2849860" cy="2133600"/>
            </a:xfrm>
            <a:custGeom>
              <a:avLst/>
              <a:gdLst/>
              <a:ahLst/>
              <a:cxnLst/>
              <a:rect l="l" t="t" r="r" b="b"/>
              <a:pathLst>
                <a:path w="2849860" h="2133600">
                  <a:moveTo>
                    <a:pt x="95250" y="0"/>
                  </a:moveTo>
                  <a:lnTo>
                    <a:pt x="2754610" y="0"/>
                  </a:lnTo>
                  <a:arcTo wR="95250" hR="95250" stAng="16200000" swAng="5400000"/>
                  <a:lnTo>
                    <a:pt x="2849860" y="2133600"/>
                  </a:lnTo>
                  <a:lnTo>
                    <a:pt x="0" y="2133600"/>
                  </a:lnTo>
                  <a:lnTo>
                    <a:pt x="0" y="95250"/>
                  </a:lnTo>
                  <a:arcTo wR="95250" hR="95250" stAng="10800000" swAng="5400000"/>
                  <a:close/>
                </a:path>
              </a:pathLst>
            </a:custGeom>
            <a:solidFill>
              <a:srgbClr val="F6C58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11124148" y="7727950"/>
              <a:ext cx="1773315" cy="622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8A8A8A"/>
                  </a:solidFill>
                  <a:latin typeface="+mn-ea"/>
                  <a:cs typeface="GmarketSans" pitchFamily="34" charset="-120"/>
                </a:rPr>
                <a:t>지인에게 약속함</a:t>
              </a:r>
              <a:endParaRPr lang="en-US" sz="3200" b="1" dirty="0">
                <a:latin typeface="+mn-ea"/>
              </a:endParaRP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53CFE18-8EB9-4F45-940B-36E0D0DABA10}"/>
                </a:ext>
              </a:extLst>
            </p:cNvPr>
            <p:cNvGrpSpPr/>
            <p:nvPr/>
          </p:nvGrpSpPr>
          <p:grpSpPr>
            <a:xfrm>
              <a:off x="14138190" y="3750589"/>
              <a:ext cx="2123707" cy="1214357"/>
              <a:chOff x="14722951" y="3719593"/>
              <a:chExt cx="2123707" cy="1214357"/>
            </a:xfrm>
          </p:grpSpPr>
          <p:sp>
            <p:nvSpPr>
              <p:cNvPr id="23" name="Shape 21"/>
              <p:cNvSpPr/>
              <p:nvPr/>
            </p:nvSpPr>
            <p:spPr>
              <a:xfrm>
                <a:off x="14722951" y="3719593"/>
                <a:ext cx="2123707" cy="1144507"/>
              </a:xfrm>
              <a:prstGeom prst="roundRect">
                <a:avLst>
                  <a:gd name="adj" fmla="val 17647"/>
                </a:avLst>
              </a:prstGeom>
              <a:solidFill>
                <a:srgbClr val="ED8B1F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14953344" y="3890429"/>
                <a:ext cx="1662919" cy="104352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4800" b="1" dirty="0">
                    <a:solidFill>
                      <a:srgbClr val="FFFFFF"/>
                    </a:solidFill>
                    <a:latin typeface="+mn-ea"/>
                    <a:cs typeface="GmarketSans" pitchFamily="34" charset="-120"/>
                  </a:rPr>
                  <a:t>7.60</a:t>
                </a:r>
                <a:endParaRPr lang="en-US" sz="4800" dirty="0">
                  <a:latin typeface="+mn-ea"/>
                </a:endParaRPr>
              </a:p>
            </p:txBody>
          </p:sp>
        </p:grpSp>
        <p:sp>
          <p:nvSpPr>
            <p:cNvPr id="25" name="Shape 23"/>
            <p:cNvSpPr/>
            <p:nvPr/>
          </p:nvSpPr>
          <p:spPr>
            <a:xfrm>
              <a:off x="13737014" y="5016500"/>
              <a:ext cx="2849860" cy="2533650"/>
            </a:xfrm>
            <a:custGeom>
              <a:avLst/>
              <a:gdLst/>
              <a:ahLst/>
              <a:cxnLst/>
              <a:rect l="l" t="t" r="r" b="b"/>
              <a:pathLst>
                <a:path w="2849860" h="2533650">
                  <a:moveTo>
                    <a:pt x="95250" y="0"/>
                  </a:moveTo>
                  <a:lnTo>
                    <a:pt x="2754610" y="0"/>
                  </a:lnTo>
                  <a:arcTo wR="95250" hR="95250" stAng="16200000" swAng="5400000"/>
                  <a:lnTo>
                    <a:pt x="2849860" y="2533650"/>
                  </a:lnTo>
                  <a:lnTo>
                    <a:pt x="0" y="2533650"/>
                  </a:lnTo>
                  <a:lnTo>
                    <a:pt x="0" y="95250"/>
                  </a:lnTo>
                  <a:arcTo wR="95250" hR="95250" stAng="10800000" swAng="5400000"/>
                  <a:close/>
                </a:path>
              </a:pathLst>
            </a:custGeom>
            <a:solidFill>
              <a:srgbClr val="ED8B1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13737014" y="7715250"/>
              <a:ext cx="2849860" cy="647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 err="1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진행상황을</a:t>
              </a:r>
              <a:r>
                <a:rPr lang="en-US" sz="32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 </a:t>
              </a:r>
              <a:br>
                <a:rPr lang="en-US" sz="32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</a:br>
              <a:r>
                <a:rPr lang="en-US" sz="3200" b="1" dirty="0" err="1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공유함</a:t>
              </a:r>
              <a:endParaRPr lang="en-US" sz="3200" dirty="0">
                <a:latin typeface="+mn-ea"/>
              </a:endParaRPr>
            </a:p>
          </p:txBody>
        </p:sp>
      </p:grpSp>
      <p:sp>
        <p:nvSpPr>
          <p:cNvPr id="27" name="Text 25"/>
          <p:cNvSpPr/>
          <p:nvPr/>
        </p:nvSpPr>
        <p:spPr>
          <a:xfrm>
            <a:off x="6547733" y="8792682"/>
            <a:ext cx="6343363" cy="6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8A8A"/>
                </a:solidFill>
                <a:latin typeface="+mn-ea"/>
                <a:cs typeface="GmarketSans" pitchFamily="34" charset="-120"/>
              </a:rPr>
              <a:t>출처: Gail Matthews - Goals Research Summary</a:t>
            </a:r>
            <a:endParaRPr lang="en-US" sz="1800" dirty="0">
              <a:latin typeface="+mn-ea"/>
            </a:endParaRPr>
          </a:p>
        </p:txBody>
      </p:sp>
      <p:sp>
        <p:nvSpPr>
          <p:cNvPr id="32" name="Google Shape;73;p5">
            <a:extLst>
              <a:ext uri="{FF2B5EF4-FFF2-40B4-BE49-F238E27FC236}">
                <a16:creationId xmlns:a16="http://schemas.microsoft.com/office/drawing/2014/main" id="{F61F4F57-EAA5-443D-8587-4ED7654C99BC}"/>
              </a:ext>
            </a:extLst>
          </p:cNvPr>
          <p:cNvSpPr/>
          <p:nvPr/>
        </p:nvSpPr>
        <p:spPr>
          <a:xfrm>
            <a:off x="3283087" y="470543"/>
            <a:ext cx="11112959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C3C3C"/>
              </a:buClr>
              <a:buSzPts val="3000"/>
            </a:pPr>
            <a:r>
              <a:rPr lang="ko-KR" altLang="en-US" sz="8100" b="1" dirty="0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</a:t>
            </a:r>
            <a:r>
              <a:rPr lang="ko-KR" altLang="en-US" sz="8100" b="1" dirty="0" err="1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만다라트를</a:t>
            </a:r>
            <a:r>
              <a:rPr lang="ko-KR" altLang="en-US" sz="8100" b="1" dirty="0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선택했나</a:t>
            </a:r>
            <a:endParaRPr sz="8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6581DDF7-3CA8-4246-9A32-C40A3FEAF049}"/>
              </a:ext>
            </a:extLst>
          </p:cNvPr>
          <p:cNvSpPr/>
          <p:nvPr/>
        </p:nvSpPr>
        <p:spPr>
          <a:xfrm>
            <a:off x="5089363" y="8017982"/>
            <a:ext cx="7987762" cy="759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4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그룹별 목표 달성 방법 및 </a:t>
            </a:r>
            <a:r>
              <a:rPr lang="ko-KR" altLang="en-US" sz="4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달성률</a:t>
            </a:r>
            <a:endParaRPr lang="en-US" altLang="ko-KR" sz="40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2214936" y="6228630"/>
            <a:ext cx="14357142" cy="1399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15842"/>
              </a:lnSpc>
              <a:buNone/>
            </a:pPr>
            <a:r>
              <a:rPr lang="ko-KR" altLang="en-US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대학생 </a:t>
            </a:r>
            <a:r>
              <a:rPr lang="en-US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10</a:t>
            </a:r>
            <a:r>
              <a:rPr lang="ko-KR" altLang="en-US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명 </a:t>
            </a:r>
            <a:r>
              <a:rPr lang="en-US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중 6</a:t>
            </a:r>
            <a:r>
              <a:rPr lang="ko-KR" altLang="en-US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명</a:t>
            </a:r>
            <a:r>
              <a:rPr lang="en-US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은 </a:t>
            </a:r>
            <a:r>
              <a:rPr lang="en-US" sz="6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갓생을</a:t>
            </a:r>
            <a:r>
              <a:rPr lang="en-US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</a:p>
          <a:p>
            <a:pPr marL="0" indent="0" algn="ctr">
              <a:lnSpc>
                <a:spcPct val="115842"/>
              </a:lnSpc>
              <a:buNone/>
            </a:pPr>
            <a:r>
              <a:rPr lang="en-US" sz="6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실천한</a:t>
            </a:r>
            <a:r>
              <a:rPr lang="en-US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경험이 있음</a:t>
            </a:r>
            <a:endParaRPr lang="en-US" sz="6000" dirty="0">
              <a:latin typeface="+mn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AF75782-B46B-1761-46B3-7821381F847E}"/>
              </a:ext>
            </a:extLst>
          </p:cNvPr>
          <p:cNvGrpSpPr/>
          <p:nvPr/>
        </p:nvGrpSpPr>
        <p:grpSpPr>
          <a:xfrm>
            <a:off x="3211819" y="4336730"/>
            <a:ext cx="12167369" cy="1321120"/>
            <a:chOff x="3211819" y="4384497"/>
            <a:chExt cx="12167369" cy="1321120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E79FB86-F41A-4160-BA8F-C0EF660EF332}"/>
                </a:ext>
              </a:extLst>
            </p:cNvPr>
            <p:cNvGrpSpPr/>
            <p:nvPr/>
          </p:nvGrpSpPr>
          <p:grpSpPr>
            <a:xfrm>
              <a:off x="3211819" y="4407083"/>
              <a:ext cx="1011696" cy="1298534"/>
              <a:chOff x="2526224" y="5005834"/>
              <a:chExt cx="863024" cy="968763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14" name="사각형: 잘린 위쪽 모서리 13">
                <a:extLst>
                  <a:ext uri="{FF2B5EF4-FFF2-40B4-BE49-F238E27FC236}">
                    <a16:creationId xmlns:a16="http://schemas.microsoft.com/office/drawing/2014/main" id="{65B8EAD3-93BD-4107-A51F-5CF74F6B1A75}"/>
                  </a:ext>
                </a:extLst>
              </p:cNvPr>
              <p:cNvSpPr/>
              <p:nvPr/>
            </p:nvSpPr>
            <p:spPr>
              <a:xfrm>
                <a:off x="2526224" y="5613050"/>
                <a:ext cx="863024" cy="361547"/>
              </a:xfrm>
              <a:prstGeom prst="snip2SameRect">
                <a:avLst/>
              </a:prstGeom>
              <a:solidFill>
                <a:srgbClr val="ED7D3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FFC000"/>
                  </a:solidFill>
                  <a:latin typeface="+mn-ea"/>
                </a:endParaRPr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89039D0F-D918-4DBB-89E1-693F175A07B8}"/>
                  </a:ext>
                </a:extLst>
              </p:cNvPr>
              <p:cNvSpPr/>
              <p:nvPr/>
            </p:nvSpPr>
            <p:spPr>
              <a:xfrm>
                <a:off x="2703234" y="5005834"/>
                <a:ext cx="509003" cy="499214"/>
              </a:xfrm>
              <a:prstGeom prst="ellipse">
                <a:avLst/>
              </a:prstGeom>
              <a:solidFill>
                <a:srgbClr val="ED7D3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FFC000"/>
                  </a:solidFill>
                  <a:latin typeface="+mn-ea"/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666BFAA7-E216-4ECC-9621-2B61A4D40820}"/>
                </a:ext>
              </a:extLst>
            </p:cNvPr>
            <p:cNvGrpSpPr/>
            <p:nvPr/>
          </p:nvGrpSpPr>
          <p:grpSpPr>
            <a:xfrm>
              <a:off x="4446100" y="4407083"/>
              <a:ext cx="1011696" cy="1298534"/>
              <a:chOff x="2526224" y="5005834"/>
              <a:chExt cx="863024" cy="968763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18" name="사각형: 잘린 위쪽 모서리 17">
                <a:extLst>
                  <a:ext uri="{FF2B5EF4-FFF2-40B4-BE49-F238E27FC236}">
                    <a16:creationId xmlns:a16="http://schemas.microsoft.com/office/drawing/2014/main" id="{0351FDFE-5A5C-4D56-9652-A2F810BAB706}"/>
                  </a:ext>
                </a:extLst>
              </p:cNvPr>
              <p:cNvSpPr/>
              <p:nvPr/>
            </p:nvSpPr>
            <p:spPr>
              <a:xfrm>
                <a:off x="2526224" y="5613050"/>
                <a:ext cx="863024" cy="361547"/>
              </a:xfrm>
              <a:prstGeom prst="snip2SameRect">
                <a:avLst/>
              </a:prstGeom>
              <a:solidFill>
                <a:srgbClr val="ED7D3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FFC000"/>
                  </a:solidFill>
                  <a:latin typeface="+mn-ea"/>
                </a:endParaRPr>
              </a:p>
            </p:txBody>
          </p:sp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D5550FF4-21D9-483C-AB43-F0FB88008E94}"/>
                  </a:ext>
                </a:extLst>
              </p:cNvPr>
              <p:cNvSpPr/>
              <p:nvPr/>
            </p:nvSpPr>
            <p:spPr>
              <a:xfrm>
                <a:off x="2695027" y="5005834"/>
                <a:ext cx="509003" cy="499214"/>
              </a:xfrm>
              <a:prstGeom prst="ellipse">
                <a:avLst/>
              </a:prstGeom>
              <a:solidFill>
                <a:srgbClr val="ED7D3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FFC000"/>
                  </a:solidFill>
                  <a:latin typeface="+mn-ea"/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360545E-362A-474B-A53A-E6A53E9433F0}"/>
                </a:ext>
              </a:extLst>
            </p:cNvPr>
            <p:cNvGrpSpPr/>
            <p:nvPr/>
          </p:nvGrpSpPr>
          <p:grpSpPr>
            <a:xfrm>
              <a:off x="5680381" y="4407083"/>
              <a:ext cx="1011696" cy="1298534"/>
              <a:chOff x="2526224" y="5005834"/>
              <a:chExt cx="863024" cy="968763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21" name="사각형: 잘린 위쪽 모서리 20">
                <a:extLst>
                  <a:ext uri="{FF2B5EF4-FFF2-40B4-BE49-F238E27FC236}">
                    <a16:creationId xmlns:a16="http://schemas.microsoft.com/office/drawing/2014/main" id="{537DE105-6264-4B36-8D87-61A22849A08A}"/>
                  </a:ext>
                </a:extLst>
              </p:cNvPr>
              <p:cNvSpPr/>
              <p:nvPr/>
            </p:nvSpPr>
            <p:spPr>
              <a:xfrm>
                <a:off x="2526224" y="5613050"/>
                <a:ext cx="863024" cy="361547"/>
              </a:xfrm>
              <a:prstGeom prst="snip2SameRect">
                <a:avLst/>
              </a:prstGeom>
              <a:solidFill>
                <a:srgbClr val="ED7D3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FFC000"/>
                  </a:solidFill>
                  <a:latin typeface="+mn-ea"/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F5D8075-9CA7-43D7-9BEC-D019815831F4}"/>
                  </a:ext>
                </a:extLst>
              </p:cNvPr>
              <p:cNvSpPr/>
              <p:nvPr/>
            </p:nvSpPr>
            <p:spPr>
              <a:xfrm>
                <a:off x="2708525" y="5005834"/>
                <a:ext cx="509003" cy="499214"/>
              </a:xfrm>
              <a:prstGeom prst="ellipse">
                <a:avLst/>
              </a:prstGeom>
              <a:solidFill>
                <a:srgbClr val="ED7D3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FFC000"/>
                  </a:solidFill>
                  <a:latin typeface="+mn-ea"/>
                </a:endParaRPr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F4DA205-8F88-492C-9B4D-E5282FDD57CD}"/>
                </a:ext>
              </a:extLst>
            </p:cNvPr>
            <p:cNvGrpSpPr/>
            <p:nvPr/>
          </p:nvGrpSpPr>
          <p:grpSpPr>
            <a:xfrm>
              <a:off x="6914662" y="4407083"/>
              <a:ext cx="1011696" cy="1298534"/>
              <a:chOff x="2526224" y="5005834"/>
              <a:chExt cx="863024" cy="968763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24" name="사각형: 잘린 위쪽 모서리 23">
                <a:extLst>
                  <a:ext uri="{FF2B5EF4-FFF2-40B4-BE49-F238E27FC236}">
                    <a16:creationId xmlns:a16="http://schemas.microsoft.com/office/drawing/2014/main" id="{51623DA6-FCAE-4311-ABEF-3FEA31FC42C1}"/>
                  </a:ext>
                </a:extLst>
              </p:cNvPr>
              <p:cNvSpPr/>
              <p:nvPr/>
            </p:nvSpPr>
            <p:spPr>
              <a:xfrm>
                <a:off x="2526224" y="5613050"/>
                <a:ext cx="863024" cy="361547"/>
              </a:xfrm>
              <a:prstGeom prst="snip2SameRect">
                <a:avLst/>
              </a:prstGeom>
              <a:solidFill>
                <a:srgbClr val="ED7D3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FFC000"/>
                  </a:solidFill>
                  <a:latin typeface="+mn-ea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4CDC9407-A997-4647-B070-03FE3356C8C0}"/>
                  </a:ext>
                </a:extLst>
              </p:cNvPr>
              <p:cNvSpPr/>
              <p:nvPr/>
            </p:nvSpPr>
            <p:spPr>
              <a:xfrm>
                <a:off x="2703234" y="5005834"/>
                <a:ext cx="509003" cy="499214"/>
              </a:xfrm>
              <a:prstGeom prst="ellipse">
                <a:avLst/>
              </a:prstGeom>
              <a:solidFill>
                <a:srgbClr val="ED7D3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FFC000"/>
                  </a:solidFill>
                  <a:latin typeface="+mn-ea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582938BB-0547-4C2E-A96B-9403ED4D6B40}"/>
                </a:ext>
              </a:extLst>
            </p:cNvPr>
            <p:cNvGrpSpPr/>
            <p:nvPr/>
          </p:nvGrpSpPr>
          <p:grpSpPr>
            <a:xfrm>
              <a:off x="8154085" y="4407083"/>
              <a:ext cx="1011696" cy="1298534"/>
              <a:chOff x="2526224" y="5005834"/>
              <a:chExt cx="863024" cy="968763"/>
            </a:xfrm>
            <a:solidFill>
              <a:schemeClr val="accent2"/>
            </a:solidFill>
          </p:grpSpPr>
          <p:sp>
            <p:nvSpPr>
              <p:cNvPr id="45" name="사각형: 잘린 위쪽 모서리 44">
                <a:extLst>
                  <a:ext uri="{FF2B5EF4-FFF2-40B4-BE49-F238E27FC236}">
                    <a16:creationId xmlns:a16="http://schemas.microsoft.com/office/drawing/2014/main" id="{3C9374D5-594C-41BC-9AB6-08649511B06C}"/>
                  </a:ext>
                </a:extLst>
              </p:cNvPr>
              <p:cNvSpPr/>
              <p:nvPr/>
            </p:nvSpPr>
            <p:spPr>
              <a:xfrm>
                <a:off x="2526224" y="5613050"/>
                <a:ext cx="863024" cy="361547"/>
              </a:xfrm>
              <a:prstGeom prst="snip2Same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8EBE5B92-33C3-477A-8938-B48BDAAF5CAB}"/>
                  </a:ext>
                </a:extLst>
              </p:cNvPr>
              <p:cNvSpPr/>
              <p:nvPr/>
            </p:nvSpPr>
            <p:spPr>
              <a:xfrm>
                <a:off x="2701413" y="5005834"/>
                <a:ext cx="509003" cy="499214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9E6EE12D-6DF3-4561-817B-7E38E7A157B5}"/>
                </a:ext>
              </a:extLst>
            </p:cNvPr>
            <p:cNvGrpSpPr/>
            <p:nvPr/>
          </p:nvGrpSpPr>
          <p:grpSpPr>
            <a:xfrm>
              <a:off x="9393507" y="4384497"/>
              <a:ext cx="1011696" cy="1321120"/>
              <a:chOff x="2526224" y="4988984"/>
              <a:chExt cx="863024" cy="985613"/>
            </a:xfrm>
            <a:solidFill>
              <a:schemeClr val="accent2"/>
            </a:solidFill>
          </p:grpSpPr>
          <p:sp>
            <p:nvSpPr>
              <p:cNvPr id="48" name="사각형: 잘린 위쪽 모서리 47">
                <a:extLst>
                  <a:ext uri="{FF2B5EF4-FFF2-40B4-BE49-F238E27FC236}">
                    <a16:creationId xmlns:a16="http://schemas.microsoft.com/office/drawing/2014/main" id="{CE7F20B0-D303-43AF-9908-C21A1E57F5BA}"/>
                  </a:ext>
                </a:extLst>
              </p:cNvPr>
              <p:cNvSpPr/>
              <p:nvPr/>
            </p:nvSpPr>
            <p:spPr>
              <a:xfrm>
                <a:off x="2526224" y="5613050"/>
                <a:ext cx="863024" cy="361547"/>
              </a:xfrm>
              <a:prstGeom prst="snip2Same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111EAC67-CA49-45BF-B0F1-D264D30E95CD}"/>
                  </a:ext>
                </a:extLst>
              </p:cNvPr>
              <p:cNvSpPr/>
              <p:nvPr/>
            </p:nvSpPr>
            <p:spPr>
              <a:xfrm>
                <a:off x="2700849" y="4988984"/>
                <a:ext cx="509003" cy="499214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D3463E68-A4A1-4724-B3F4-3CB4585D6673}"/>
                </a:ext>
              </a:extLst>
            </p:cNvPr>
            <p:cNvGrpSpPr/>
            <p:nvPr/>
          </p:nvGrpSpPr>
          <p:grpSpPr>
            <a:xfrm>
              <a:off x="10632930" y="4391173"/>
              <a:ext cx="1011696" cy="1314440"/>
              <a:chOff x="2526224" y="4993967"/>
              <a:chExt cx="863024" cy="980630"/>
            </a:xfrm>
            <a:solidFill>
              <a:schemeClr val="accent2"/>
            </a:solidFill>
          </p:grpSpPr>
          <p:sp>
            <p:nvSpPr>
              <p:cNvPr id="51" name="사각형: 잘린 위쪽 모서리 50">
                <a:extLst>
                  <a:ext uri="{FF2B5EF4-FFF2-40B4-BE49-F238E27FC236}">
                    <a16:creationId xmlns:a16="http://schemas.microsoft.com/office/drawing/2014/main" id="{BDB04BC9-3357-4859-8227-06DF80FCE5EA}"/>
                  </a:ext>
                </a:extLst>
              </p:cNvPr>
              <p:cNvSpPr/>
              <p:nvPr/>
            </p:nvSpPr>
            <p:spPr>
              <a:xfrm>
                <a:off x="2526224" y="5613050"/>
                <a:ext cx="863024" cy="361547"/>
              </a:xfrm>
              <a:prstGeom prst="snip2SameRect">
                <a:avLst/>
              </a:prstGeom>
              <a:solidFill>
                <a:srgbClr val="EDEDE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9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3E183A7B-74E5-4B51-8DC6-05DCAD12515C}"/>
                  </a:ext>
                </a:extLst>
              </p:cNvPr>
              <p:cNvSpPr/>
              <p:nvPr/>
            </p:nvSpPr>
            <p:spPr>
              <a:xfrm>
                <a:off x="2700849" y="4993967"/>
                <a:ext cx="509003" cy="499214"/>
              </a:xfrm>
              <a:prstGeom prst="ellipse">
                <a:avLst/>
              </a:prstGeom>
              <a:solidFill>
                <a:srgbClr val="EDEDE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9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82E2E339-E267-49B5-8A72-A821E2BBA004}"/>
                </a:ext>
              </a:extLst>
            </p:cNvPr>
            <p:cNvGrpSpPr/>
            <p:nvPr/>
          </p:nvGrpSpPr>
          <p:grpSpPr>
            <a:xfrm>
              <a:off x="11873185" y="4395147"/>
              <a:ext cx="1011696" cy="1304848"/>
              <a:chOff x="2526224" y="5001123"/>
              <a:chExt cx="863024" cy="973474"/>
            </a:xfrm>
            <a:solidFill>
              <a:schemeClr val="accent2"/>
            </a:solidFill>
          </p:grpSpPr>
          <p:sp>
            <p:nvSpPr>
              <p:cNvPr id="54" name="사각형: 잘린 위쪽 모서리 53">
                <a:extLst>
                  <a:ext uri="{FF2B5EF4-FFF2-40B4-BE49-F238E27FC236}">
                    <a16:creationId xmlns:a16="http://schemas.microsoft.com/office/drawing/2014/main" id="{74AE20F2-FE16-48A6-816E-26FFF445DFCA}"/>
                  </a:ext>
                </a:extLst>
              </p:cNvPr>
              <p:cNvSpPr/>
              <p:nvPr/>
            </p:nvSpPr>
            <p:spPr>
              <a:xfrm>
                <a:off x="2526224" y="5613050"/>
                <a:ext cx="863024" cy="361547"/>
              </a:xfrm>
              <a:prstGeom prst="snip2SameRect">
                <a:avLst/>
              </a:prstGeom>
              <a:solidFill>
                <a:srgbClr val="EDEDE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9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ED0DFD07-5FB9-4266-A893-949084200357}"/>
                  </a:ext>
                </a:extLst>
              </p:cNvPr>
              <p:cNvSpPr/>
              <p:nvPr/>
            </p:nvSpPr>
            <p:spPr>
              <a:xfrm>
                <a:off x="2706733" y="5001123"/>
                <a:ext cx="509003" cy="499214"/>
              </a:xfrm>
              <a:prstGeom prst="ellipse">
                <a:avLst/>
              </a:prstGeom>
              <a:solidFill>
                <a:srgbClr val="EDEDE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9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7F5C9193-4E6D-4EC8-855F-E9ADDB4FE2FE}"/>
                </a:ext>
              </a:extLst>
            </p:cNvPr>
            <p:cNvGrpSpPr/>
            <p:nvPr/>
          </p:nvGrpSpPr>
          <p:grpSpPr>
            <a:xfrm>
              <a:off x="13120339" y="4395149"/>
              <a:ext cx="1011696" cy="1302002"/>
              <a:chOff x="2526224" y="5001122"/>
              <a:chExt cx="863024" cy="971350"/>
            </a:xfrm>
            <a:solidFill>
              <a:schemeClr val="accent2"/>
            </a:solidFill>
          </p:grpSpPr>
          <p:sp>
            <p:nvSpPr>
              <p:cNvPr id="57" name="사각형: 잘린 위쪽 모서리 56">
                <a:extLst>
                  <a:ext uri="{FF2B5EF4-FFF2-40B4-BE49-F238E27FC236}">
                    <a16:creationId xmlns:a16="http://schemas.microsoft.com/office/drawing/2014/main" id="{02ADA741-86F0-4FAB-8E72-1EC7CB3A4F52}"/>
                  </a:ext>
                </a:extLst>
              </p:cNvPr>
              <p:cNvSpPr/>
              <p:nvPr/>
            </p:nvSpPr>
            <p:spPr>
              <a:xfrm>
                <a:off x="2526224" y="5610925"/>
                <a:ext cx="863024" cy="361547"/>
              </a:xfrm>
              <a:prstGeom prst="snip2SameRect">
                <a:avLst/>
              </a:prstGeom>
              <a:solidFill>
                <a:srgbClr val="EDEDE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9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93438632-780B-4492-83E2-26769F36FDC1}"/>
                  </a:ext>
                </a:extLst>
              </p:cNvPr>
              <p:cNvSpPr/>
              <p:nvPr/>
            </p:nvSpPr>
            <p:spPr>
              <a:xfrm>
                <a:off x="2703234" y="5001122"/>
                <a:ext cx="509003" cy="499214"/>
              </a:xfrm>
              <a:prstGeom prst="ellipse">
                <a:avLst/>
              </a:prstGeom>
              <a:solidFill>
                <a:srgbClr val="EDEDE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9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E6FF6E5D-80ED-49D7-A25A-54B8EE94F90A}"/>
                </a:ext>
              </a:extLst>
            </p:cNvPr>
            <p:cNvGrpSpPr/>
            <p:nvPr/>
          </p:nvGrpSpPr>
          <p:grpSpPr>
            <a:xfrm>
              <a:off x="14367492" y="4391177"/>
              <a:ext cx="1011696" cy="1302126"/>
              <a:chOff x="2526224" y="4998155"/>
              <a:chExt cx="863024" cy="971442"/>
            </a:xfrm>
            <a:solidFill>
              <a:schemeClr val="accent2"/>
            </a:solidFill>
          </p:grpSpPr>
          <p:sp>
            <p:nvSpPr>
              <p:cNvPr id="60" name="사각형: 잘린 위쪽 모서리 59">
                <a:extLst>
                  <a:ext uri="{FF2B5EF4-FFF2-40B4-BE49-F238E27FC236}">
                    <a16:creationId xmlns:a16="http://schemas.microsoft.com/office/drawing/2014/main" id="{1197AFE7-F2F9-42DA-A03A-B3A18A61CD94}"/>
                  </a:ext>
                </a:extLst>
              </p:cNvPr>
              <p:cNvSpPr/>
              <p:nvPr/>
            </p:nvSpPr>
            <p:spPr>
              <a:xfrm>
                <a:off x="2526224" y="5608050"/>
                <a:ext cx="863024" cy="361547"/>
              </a:xfrm>
              <a:prstGeom prst="snip2SameRect">
                <a:avLst/>
              </a:prstGeom>
              <a:solidFill>
                <a:srgbClr val="EDEDE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9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9F09A55C-E41A-4F81-913A-ECF4B65EF524}"/>
                  </a:ext>
                </a:extLst>
              </p:cNvPr>
              <p:cNvSpPr/>
              <p:nvPr/>
            </p:nvSpPr>
            <p:spPr>
              <a:xfrm>
                <a:off x="2703234" y="4998155"/>
                <a:ext cx="509003" cy="499214"/>
              </a:xfrm>
              <a:prstGeom prst="ellipse">
                <a:avLst/>
              </a:prstGeom>
              <a:solidFill>
                <a:srgbClr val="EDEDE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bg2">
                      <a:lumMod val="90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62" name="Google Shape;73;p5">
            <a:extLst>
              <a:ext uri="{FF2B5EF4-FFF2-40B4-BE49-F238E27FC236}">
                <a16:creationId xmlns:a16="http://schemas.microsoft.com/office/drawing/2014/main" id="{AA27145B-BC7B-4806-9895-0DD5AA4A38AF}"/>
              </a:ext>
            </a:extLst>
          </p:cNvPr>
          <p:cNvSpPr/>
          <p:nvPr/>
        </p:nvSpPr>
        <p:spPr>
          <a:xfrm>
            <a:off x="3283087" y="470543"/>
            <a:ext cx="12096101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3C3C3C"/>
              </a:buClr>
              <a:buSzPts val="3000"/>
            </a:pPr>
            <a:r>
              <a:rPr lang="ko-KR" altLang="en-US" sz="8100" b="1" dirty="0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타겟층 선정 </a:t>
            </a:r>
            <a:r>
              <a:rPr lang="en-US" altLang="ko-KR" sz="8100" b="1" dirty="0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: 20</a:t>
            </a:r>
            <a:r>
              <a:rPr lang="ko-KR" altLang="en-US" sz="8100" b="1" dirty="0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</a:t>
            </a:r>
            <a:endParaRPr sz="8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E5A30C02-1763-4EF4-983B-CE3C0AA06C76}"/>
              </a:ext>
            </a:extLst>
          </p:cNvPr>
          <p:cNvSpPr/>
          <p:nvPr/>
        </p:nvSpPr>
        <p:spPr>
          <a:xfrm>
            <a:off x="6150660" y="7911946"/>
            <a:ext cx="634336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algn="ctr"/>
            <a:r>
              <a:rPr lang="ko-KR" altLang="en-US" dirty="0" err="1">
                <a:solidFill>
                  <a:srgbClr val="8A8A8A"/>
                </a:solidFill>
                <a:latin typeface="+mn-ea"/>
              </a:rPr>
              <a:t>오픈서베이</a:t>
            </a:r>
            <a:r>
              <a:rPr lang="ko-KR" altLang="en-US" dirty="0">
                <a:solidFill>
                  <a:srgbClr val="8A8A8A"/>
                </a:solidFill>
                <a:latin typeface="+mn-ea"/>
              </a:rPr>
              <a:t> 대학 생활 트렌드 리포트 </a:t>
            </a:r>
            <a:r>
              <a:rPr lang="en-US" altLang="ko-KR" dirty="0">
                <a:solidFill>
                  <a:srgbClr val="8A8A8A"/>
                </a:solidFill>
                <a:latin typeface="+mn-ea"/>
              </a:rPr>
              <a:t>2025, </a:t>
            </a:r>
            <a:r>
              <a:rPr lang="ko-KR" altLang="en-US" dirty="0">
                <a:solidFill>
                  <a:srgbClr val="8A8A8A"/>
                </a:solidFill>
                <a:latin typeface="+mn-ea"/>
              </a:rPr>
              <a:t>실천한 활동 </a:t>
            </a:r>
            <a:r>
              <a:rPr lang="en-US" altLang="ko-KR" dirty="0">
                <a:solidFill>
                  <a:srgbClr val="8A8A8A"/>
                </a:solidFill>
                <a:latin typeface="+mn-ea"/>
              </a:rPr>
              <a:t>TOP8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44454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455E003-8055-4E89-82E9-9E9E308FF0BD}"/>
              </a:ext>
            </a:extLst>
          </p:cNvPr>
          <p:cNvGrpSpPr/>
          <p:nvPr/>
        </p:nvGrpSpPr>
        <p:grpSpPr>
          <a:xfrm>
            <a:off x="3484564" y="2738078"/>
            <a:ext cx="13652096" cy="5131440"/>
            <a:chOff x="3213344" y="2505603"/>
            <a:chExt cx="13652096" cy="5131440"/>
          </a:xfrm>
        </p:grpSpPr>
        <p:sp>
          <p:nvSpPr>
            <p:cNvPr id="64" name="Text 17">
              <a:extLst>
                <a:ext uri="{FF2B5EF4-FFF2-40B4-BE49-F238E27FC236}">
                  <a16:creationId xmlns:a16="http://schemas.microsoft.com/office/drawing/2014/main" id="{69BDBBF5-5B18-4C2E-B11E-9D7F7F0E7D99}"/>
                </a:ext>
              </a:extLst>
            </p:cNvPr>
            <p:cNvSpPr/>
            <p:nvPr/>
          </p:nvSpPr>
          <p:spPr>
            <a:xfrm>
              <a:off x="3213344" y="2505603"/>
              <a:ext cx="13652096" cy="64525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ko-KR" altLang="en-US" sz="4800" b="1" dirty="0">
                  <a:latin typeface="+mn-ea"/>
                  <a:cs typeface="GmarketSans" pitchFamily="34" charset="-120"/>
                </a:rPr>
                <a:t>실천한 활동 </a:t>
              </a:r>
              <a:r>
                <a:rPr lang="en-US" altLang="ko-KR" sz="4800" b="1" dirty="0">
                  <a:latin typeface="+mn-ea"/>
                  <a:cs typeface="GmarketSans" pitchFamily="34" charset="-120"/>
                </a:rPr>
                <a:t>TOP 5</a:t>
              </a:r>
              <a:endParaRPr lang="en-US" sz="4800" dirty="0">
                <a:latin typeface="+mn-ea"/>
              </a:endParaRPr>
            </a:p>
          </p:txBody>
        </p:sp>
        <p:sp>
          <p:nvSpPr>
            <p:cNvPr id="65" name="Text 18">
              <a:extLst>
                <a:ext uri="{FF2B5EF4-FFF2-40B4-BE49-F238E27FC236}">
                  <a16:creationId xmlns:a16="http://schemas.microsoft.com/office/drawing/2014/main" id="{309D45C6-05D4-419B-A95A-BEEE889D3794}"/>
                </a:ext>
              </a:extLst>
            </p:cNvPr>
            <p:cNvSpPr/>
            <p:nvPr/>
          </p:nvSpPr>
          <p:spPr>
            <a:xfrm>
              <a:off x="3283087" y="3841441"/>
              <a:ext cx="2963968" cy="52189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2B2B2B"/>
                  </a:solidFill>
                  <a:latin typeface="+mn-ea"/>
                </a:rPr>
                <a:t>규칙적인 운동</a:t>
              </a:r>
              <a:endParaRPr lang="en-US" sz="2800" b="1" dirty="0">
                <a:latin typeface="+mn-ea"/>
              </a:endParaRPr>
            </a:p>
          </p:txBody>
        </p:sp>
        <p:sp>
          <p:nvSpPr>
            <p:cNvPr id="66" name="Shape 19">
              <a:extLst>
                <a:ext uri="{FF2B5EF4-FFF2-40B4-BE49-F238E27FC236}">
                  <a16:creationId xmlns:a16="http://schemas.microsoft.com/office/drawing/2014/main" id="{29C95267-2289-4CA5-9790-03B0E48B3BC0}"/>
                </a:ext>
              </a:extLst>
            </p:cNvPr>
            <p:cNvSpPr/>
            <p:nvPr/>
          </p:nvSpPr>
          <p:spPr>
            <a:xfrm>
              <a:off x="6247056" y="3888886"/>
              <a:ext cx="5303572" cy="370071"/>
            </a:xfrm>
            <a:prstGeom prst="roundRect">
              <a:avLst>
                <a:gd name="adj" fmla="val 23077"/>
              </a:avLst>
            </a:prstGeom>
            <a:solidFill>
              <a:srgbClr val="ED8B1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 20">
              <a:extLst>
                <a:ext uri="{FF2B5EF4-FFF2-40B4-BE49-F238E27FC236}">
                  <a16:creationId xmlns:a16="http://schemas.microsoft.com/office/drawing/2014/main" id="{175E7CDF-B532-49D0-B5F9-FA3B4B8C4AD3}"/>
                </a:ext>
              </a:extLst>
            </p:cNvPr>
            <p:cNvSpPr/>
            <p:nvPr/>
          </p:nvSpPr>
          <p:spPr>
            <a:xfrm>
              <a:off x="11770173" y="3718084"/>
              <a:ext cx="1915068" cy="54087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63.9%</a:t>
              </a:r>
              <a:endParaRPr lang="en-US" sz="3600" dirty="0">
                <a:latin typeface="+mn-ea"/>
              </a:endParaRPr>
            </a:p>
          </p:txBody>
        </p:sp>
        <p:sp>
          <p:nvSpPr>
            <p:cNvPr id="68" name="Text 21">
              <a:extLst>
                <a:ext uri="{FF2B5EF4-FFF2-40B4-BE49-F238E27FC236}">
                  <a16:creationId xmlns:a16="http://schemas.microsoft.com/office/drawing/2014/main" id="{3E5550F1-CCF8-4F0B-BFC0-E50662D94CB8}"/>
                </a:ext>
              </a:extLst>
            </p:cNvPr>
            <p:cNvSpPr/>
            <p:nvPr/>
          </p:nvSpPr>
          <p:spPr>
            <a:xfrm>
              <a:off x="3283087" y="4515160"/>
              <a:ext cx="2829242" cy="54087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자격증 공부</a:t>
              </a:r>
              <a:endParaRPr lang="en-US" sz="2800" b="1" dirty="0">
                <a:latin typeface="+mn-ea"/>
              </a:endParaRPr>
            </a:p>
          </p:txBody>
        </p:sp>
        <p:sp>
          <p:nvSpPr>
            <p:cNvPr id="69" name="Shape 22">
              <a:extLst>
                <a:ext uri="{FF2B5EF4-FFF2-40B4-BE49-F238E27FC236}">
                  <a16:creationId xmlns:a16="http://schemas.microsoft.com/office/drawing/2014/main" id="{ED8E807A-08D0-4C7B-87BB-B9DBA005B5D9}"/>
                </a:ext>
              </a:extLst>
            </p:cNvPr>
            <p:cNvSpPr/>
            <p:nvPr/>
          </p:nvSpPr>
          <p:spPr>
            <a:xfrm>
              <a:off x="6247055" y="4638517"/>
              <a:ext cx="4384581" cy="370071"/>
            </a:xfrm>
            <a:prstGeom prst="roundRect">
              <a:avLst>
                <a:gd name="adj" fmla="val 23077"/>
              </a:avLst>
            </a:prstGeom>
            <a:solidFill>
              <a:srgbClr val="F6C58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Text 23">
              <a:extLst>
                <a:ext uri="{FF2B5EF4-FFF2-40B4-BE49-F238E27FC236}">
                  <a16:creationId xmlns:a16="http://schemas.microsoft.com/office/drawing/2014/main" id="{3C3341AC-235A-4405-94D5-DB94B3EFE91B}"/>
                </a:ext>
              </a:extLst>
            </p:cNvPr>
            <p:cNvSpPr/>
            <p:nvPr/>
          </p:nvSpPr>
          <p:spPr>
            <a:xfrm>
              <a:off x="10897143" y="4528680"/>
              <a:ext cx="1915068" cy="54087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50.8%</a:t>
              </a:r>
              <a:endParaRPr lang="en-US" sz="3600" dirty="0">
                <a:latin typeface="+mn-ea"/>
              </a:endParaRPr>
            </a:p>
          </p:txBody>
        </p:sp>
        <p:sp>
          <p:nvSpPr>
            <p:cNvPr id="71" name="Text 24">
              <a:extLst>
                <a:ext uri="{FF2B5EF4-FFF2-40B4-BE49-F238E27FC236}">
                  <a16:creationId xmlns:a16="http://schemas.microsoft.com/office/drawing/2014/main" id="{A0597135-D3BB-4B00-9ABA-FE52A57EBEFA}"/>
                </a:ext>
              </a:extLst>
            </p:cNvPr>
            <p:cNvSpPr/>
            <p:nvPr/>
          </p:nvSpPr>
          <p:spPr>
            <a:xfrm>
              <a:off x="3294243" y="5416263"/>
              <a:ext cx="2963968" cy="52189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ko-KR" altLang="en-US" sz="2800" b="1" dirty="0" err="1">
                  <a:latin typeface="+mn-ea"/>
                </a:rPr>
                <a:t>미라클</a:t>
              </a:r>
              <a:r>
                <a:rPr lang="ko-KR" altLang="en-US" sz="2800" b="1" dirty="0">
                  <a:latin typeface="+mn-ea"/>
                </a:rPr>
                <a:t> 모닝</a:t>
              </a:r>
              <a:endParaRPr lang="en-US" sz="2800" b="1" dirty="0">
                <a:latin typeface="+mn-ea"/>
              </a:endParaRPr>
            </a:p>
          </p:txBody>
        </p:sp>
        <p:sp>
          <p:nvSpPr>
            <p:cNvPr id="72" name="Shape 25">
              <a:extLst>
                <a:ext uri="{FF2B5EF4-FFF2-40B4-BE49-F238E27FC236}">
                  <a16:creationId xmlns:a16="http://schemas.microsoft.com/office/drawing/2014/main" id="{318A3431-5284-4689-84C0-33D63D38E71A}"/>
                </a:ext>
              </a:extLst>
            </p:cNvPr>
            <p:cNvSpPr/>
            <p:nvPr/>
          </p:nvSpPr>
          <p:spPr>
            <a:xfrm>
              <a:off x="6247055" y="5525387"/>
              <a:ext cx="3516683" cy="370071"/>
            </a:xfrm>
            <a:prstGeom prst="roundRect">
              <a:avLst>
                <a:gd name="adj" fmla="val 23077"/>
              </a:avLst>
            </a:prstGeom>
            <a:solidFill>
              <a:srgbClr val="D9D9D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 26">
              <a:extLst>
                <a:ext uri="{FF2B5EF4-FFF2-40B4-BE49-F238E27FC236}">
                  <a16:creationId xmlns:a16="http://schemas.microsoft.com/office/drawing/2014/main" id="{F25E026B-AF70-40E2-BE1D-B91FC87EEBE1}"/>
                </a:ext>
              </a:extLst>
            </p:cNvPr>
            <p:cNvSpPr/>
            <p:nvPr/>
          </p:nvSpPr>
          <p:spPr>
            <a:xfrm>
              <a:off x="10039392" y="5394909"/>
              <a:ext cx="1915068" cy="54087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2B2B2B"/>
                  </a:solidFill>
                  <a:latin typeface="+mn-ea"/>
                </a:rPr>
                <a:t>50.4%</a:t>
              </a:r>
              <a:endParaRPr lang="en-US" sz="3600" dirty="0">
                <a:latin typeface="+mn-ea"/>
              </a:endParaRPr>
            </a:p>
          </p:txBody>
        </p:sp>
        <p:sp>
          <p:nvSpPr>
            <p:cNvPr id="74" name="Text 27">
              <a:extLst>
                <a:ext uri="{FF2B5EF4-FFF2-40B4-BE49-F238E27FC236}">
                  <a16:creationId xmlns:a16="http://schemas.microsoft.com/office/drawing/2014/main" id="{286080A0-083C-483C-AAAE-73EBF1B66086}"/>
                </a:ext>
              </a:extLst>
            </p:cNvPr>
            <p:cNvSpPr/>
            <p:nvPr/>
          </p:nvSpPr>
          <p:spPr>
            <a:xfrm>
              <a:off x="3283087" y="6273008"/>
              <a:ext cx="3645613" cy="63576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건강한 식단 관리</a:t>
              </a:r>
              <a:endParaRPr lang="en-US" sz="2800" b="1" dirty="0">
                <a:latin typeface="+mn-ea"/>
              </a:endParaRPr>
            </a:p>
          </p:txBody>
        </p:sp>
        <p:sp>
          <p:nvSpPr>
            <p:cNvPr id="75" name="Shape 28">
              <a:extLst>
                <a:ext uri="{FF2B5EF4-FFF2-40B4-BE49-F238E27FC236}">
                  <a16:creationId xmlns:a16="http://schemas.microsoft.com/office/drawing/2014/main" id="{E5CA6C77-4368-481B-B5F4-C278D466C00A}"/>
                </a:ext>
              </a:extLst>
            </p:cNvPr>
            <p:cNvSpPr/>
            <p:nvPr/>
          </p:nvSpPr>
          <p:spPr>
            <a:xfrm>
              <a:off x="6247056" y="6405854"/>
              <a:ext cx="3357555" cy="370071"/>
            </a:xfrm>
            <a:prstGeom prst="roundRect">
              <a:avLst>
                <a:gd name="adj" fmla="val 23077"/>
              </a:avLst>
            </a:prstGeom>
            <a:solidFill>
              <a:srgbClr val="D9D9D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Text 29">
              <a:extLst>
                <a:ext uri="{FF2B5EF4-FFF2-40B4-BE49-F238E27FC236}">
                  <a16:creationId xmlns:a16="http://schemas.microsoft.com/office/drawing/2014/main" id="{CA232D28-9361-45CF-BC15-1BD4710853C0}"/>
                </a:ext>
              </a:extLst>
            </p:cNvPr>
            <p:cNvSpPr/>
            <p:nvPr/>
          </p:nvSpPr>
          <p:spPr>
            <a:xfrm>
              <a:off x="9855104" y="6260961"/>
              <a:ext cx="1915068" cy="54087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48.3%</a:t>
              </a:r>
              <a:endParaRPr lang="en-US" sz="3600" dirty="0">
                <a:latin typeface="+mn-ea"/>
              </a:endParaRPr>
            </a:p>
          </p:txBody>
        </p:sp>
        <p:sp>
          <p:nvSpPr>
            <p:cNvPr id="77" name="Text 30">
              <a:extLst>
                <a:ext uri="{FF2B5EF4-FFF2-40B4-BE49-F238E27FC236}">
                  <a16:creationId xmlns:a16="http://schemas.microsoft.com/office/drawing/2014/main" id="{962A2193-32EB-4275-9A5A-6C1136306D0D}"/>
                </a:ext>
              </a:extLst>
            </p:cNvPr>
            <p:cNvSpPr/>
            <p:nvPr/>
          </p:nvSpPr>
          <p:spPr>
            <a:xfrm>
              <a:off x="3283087" y="7115148"/>
              <a:ext cx="2963968" cy="52189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2B2B2B"/>
                  </a:solidFill>
                  <a:latin typeface="+mn-ea"/>
                </a:rPr>
                <a:t>독서 글쓰기</a:t>
              </a:r>
              <a:endParaRPr lang="en-US" sz="2800" b="1" dirty="0">
                <a:latin typeface="+mn-ea"/>
              </a:endParaRPr>
            </a:p>
          </p:txBody>
        </p:sp>
        <p:sp>
          <p:nvSpPr>
            <p:cNvPr id="78" name="Shape 31">
              <a:extLst>
                <a:ext uri="{FF2B5EF4-FFF2-40B4-BE49-F238E27FC236}">
                  <a16:creationId xmlns:a16="http://schemas.microsoft.com/office/drawing/2014/main" id="{B4D0F892-6A4F-4682-805A-B89D839A4E9D}"/>
                </a:ext>
              </a:extLst>
            </p:cNvPr>
            <p:cNvSpPr/>
            <p:nvPr/>
          </p:nvSpPr>
          <p:spPr>
            <a:xfrm>
              <a:off x="6247056" y="7210390"/>
              <a:ext cx="3105550" cy="370071"/>
            </a:xfrm>
            <a:prstGeom prst="roundRect">
              <a:avLst>
                <a:gd name="adj" fmla="val 23077"/>
              </a:avLst>
            </a:prstGeom>
            <a:solidFill>
              <a:srgbClr val="D9D9D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Text 32">
              <a:extLst>
                <a:ext uri="{FF2B5EF4-FFF2-40B4-BE49-F238E27FC236}">
                  <a16:creationId xmlns:a16="http://schemas.microsoft.com/office/drawing/2014/main" id="{BC1A125E-88F0-402B-9648-AE6DF7A4D7B4}"/>
                </a:ext>
              </a:extLst>
            </p:cNvPr>
            <p:cNvSpPr/>
            <p:nvPr/>
          </p:nvSpPr>
          <p:spPr>
            <a:xfrm>
              <a:off x="9589596" y="7071734"/>
              <a:ext cx="2084079" cy="54087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45.4%</a:t>
              </a:r>
              <a:endParaRPr lang="en-US" sz="3600" dirty="0">
                <a:latin typeface="+mn-ea"/>
              </a:endParaRPr>
            </a:p>
          </p:txBody>
        </p:sp>
      </p:grpSp>
      <p:sp>
        <p:nvSpPr>
          <p:cNvPr id="82" name="Text 25">
            <a:extLst>
              <a:ext uri="{FF2B5EF4-FFF2-40B4-BE49-F238E27FC236}">
                <a16:creationId xmlns:a16="http://schemas.microsoft.com/office/drawing/2014/main" id="{30F50C05-711A-4388-A462-7C4FB1AA9545}"/>
              </a:ext>
            </a:extLst>
          </p:cNvPr>
          <p:cNvSpPr/>
          <p:nvPr/>
        </p:nvSpPr>
        <p:spPr>
          <a:xfrm>
            <a:off x="5538883" y="8384701"/>
            <a:ext cx="634336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ko-KR" altLang="en-US" dirty="0" err="1">
                <a:solidFill>
                  <a:srgbClr val="8A8A8A"/>
                </a:solidFill>
                <a:latin typeface="+mn-ea"/>
              </a:rPr>
              <a:t>오픈서베이</a:t>
            </a:r>
            <a:r>
              <a:rPr lang="ko-KR" altLang="en-US" dirty="0">
                <a:solidFill>
                  <a:srgbClr val="8A8A8A"/>
                </a:solidFill>
                <a:latin typeface="+mn-ea"/>
              </a:rPr>
              <a:t> 대학 생활 트렌드 리포트 </a:t>
            </a:r>
            <a:r>
              <a:rPr lang="en-US" altLang="ko-KR" dirty="0">
                <a:solidFill>
                  <a:srgbClr val="8A8A8A"/>
                </a:solidFill>
                <a:latin typeface="+mn-ea"/>
              </a:rPr>
              <a:t>2025, </a:t>
            </a:r>
            <a:r>
              <a:rPr lang="ko-KR" altLang="en-US" dirty="0">
                <a:solidFill>
                  <a:srgbClr val="8A8A8A"/>
                </a:solidFill>
                <a:latin typeface="+mn-ea"/>
              </a:rPr>
              <a:t>실천한 활동 </a:t>
            </a:r>
            <a:r>
              <a:rPr lang="en-US" altLang="ko-KR" dirty="0">
                <a:solidFill>
                  <a:srgbClr val="8A8A8A"/>
                </a:solidFill>
                <a:latin typeface="+mn-ea"/>
              </a:rPr>
              <a:t>TOP8</a:t>
            </a:r>
            <a:endParaRPr lang="en-US" altLang="ko-KR" sz="1800" dirty="0">
              <a:latin typeface="+mn-ea"/>
            </a:endParaRPr>
          </a:p>
        </p:txBody>
      </p:sp>
      <p:sp>
        <p:nvSpPr>
          <p:cNvPr id="4" name="Google Shape;73;p5">
            <a:extLst>
              <a:ext uri="{FF2B5EF4-FFF2-40B4-BE49-F238E27FC236}">
                <a16:creationId xmlns:a16="http://schemas.microsoft.com/office/drawing/2014/main" id="{AA625514-C823-C1E0-1A36-7F8E1FFE5852}"/>
              </a:ext>
            </a:extLst>
          </p:cNvPr>
          <p:cNvSpPr/>
          <p:nvPr/>
        </p:nvSpPr>
        <p:spPr>
          <a:xfrm>
            <a:off x="3283087" y="470543"/>
            <a:ext cx="12096101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3C3C3C"/>
              </a:buClr>
              <a:buSzPts val="3000"/>
            </a:pPr>
            <a:r>
              <a:rPr lang="ko-KR" altLang="en-US" sz="8100" b="1" dirty="0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타겟층 선정 </a:t>
            </a:r>
            <a:r>
              <a:rPr lang="en-US" altLang="ko-KR" sz="8100" b="1" dirty="0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: 20</a:t>
            </a:r>
            <a:r>
              <a:rPr lang="ko-KR" altLang="en-US" sz="8100" b="1" dirty="0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</a:t>
            </a:r>
            <a:endParaRPr sz="8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3579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5765341" y="6946038"/>
            <a:ext cx="6059837" cy="12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ko-KR" altLang="en-US" sz="7200" b="1" dirty="0">
                <a:solidFill>
                  <a:srgbClr val="ED8B1F"/>
                </a:solidFill>
                <a:latin typeface="+mn-ea"/>
                <a:cs typeface="GmarketSans" pitchFamily="34" charset="-120"/>
              </a:rPr>
              <a:t>총 </a:t>
            </a:r>
            <a:r>
              <a:rPr lang="en-US" sz="7200" b="1" dirty="0">
                <a:solidFill>
                  <a:srgbClr val="ED8B1F"/>
                </a:solidFill>
                <a:latin typeface="+mn-ea"/>
                <a:cs typeface="GmarketSans" pitchFamily="34" charset="-120"/>
              </a:rPr>
              <a:t>118 </a:t>
            </a:r>
            <a:r>
              <a:rPr lang="ko-KR" altLang="en-US" sz="7200" b="1" dirty="0">
                <a:solidFill>
                  <a:srgbClr val="ED8B1F"/>
                </a:solidFill>
                <a:latin typeface="+mn-ea"/>
                <a:cs typeface="GmarketSans" pitchFamily="34" charset="-120"/>
              </a:rPr>
              <a:t>명 응답</a:t>
            </a:r>
            <a:endParaRPr lang="en-US" sz="720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43372" y="5952316"/>
            <a:ext cx="8903776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8A8A8A"/>
                </a:solidFill>
                <a:latin typeface="+mn-ea"/>
                <a:cs typeface="GmarketSans" pitchFamily="34" charset="-120"/>
              </a:rPr>
              <a:t>해당 내용을 얻기 위해 설문조사를 시행</a:t>
            </a:r>
            <a:endParaRPr lang="en-US" sz="4000" b="1" dirty="0">
              <a:latin typeface="+mn-ea"/>
            </a:endParaRPr>
          </a:p>
        </p:txBody>
      </p:sp>
      <p:sp>
        <p:nvSpPr>
          <p:cNvPr id="22" name="Google Shape;73;p5">
            <a:extLst>
              <a:ext uri="{FF2B5EF4-FFF2-40B4-BE49-F238E27FC236}">
                <a16:creationId xmlns:a16="http://schemas.microsoft.com/office/drawing/2014/main" id="{3043BE27-0056-49E9-BFEF-A7E58B003453}"/>
              </a:ext>
            </a:extLst>
          </p:cNvPr>
          <p:cNvSpPr/>
          <p:nvPr/>
        </p:nvSpPr>
        <p:spPr>
          <a:xfrm>
            <a:off x="2532876" y="2100020"/>
            <a:ext cx="12524768" cy="2909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3C3C3C"/>
              </a:buClr>
              <a:buSzPts val="3000"/>
            </a:pPr>
            <a:r>
              <a:rPr lang="ko-KR" altLang="en-US" sz="8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그렇다면 사용자가 겪는 문제점은 무엇일까</a:t>
            </a:r>
            <a:endParaRPr lang="en-US" altLang="ko-KR" sz="88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차트 39">
            <a:extLst>
              <a:ext uri="{FF2B5EF4-FFF2-40B4-BE49-F238E27FC236}">
                <a16:creationId xmlns:a16="http://schemas.microsoft.com/office/drawing/2014/main" id="{4B02C140-FFFB-4C55-9C86-BB300A899C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5519930"/>
              </p:ext>
            </p:extLst>
          </p:nvPr>
        </p:nvGraphicFramePr>
        <p:xfrm>
          <a:off x="-1813438" y="1945034"/>
          <a:ext cx="11288670" cy="7390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1"/>
          <p:cNvSpPr/>
          <p:nvPr/>
        </p:nvSpPr>
        <p:spPr>
          <a:xfrm>
            <a:off x="2781763" y="4509640"/>
            <a:ext cx="2098269" cy="101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D8B1F"/>
                </a:solidFill>
                <a:latin typeface="+mn-ea"/>
                <a:cs typeface="GmarketSans" pitchFamily="34" charset="-120"/>
              </a:rPr>
              <a:t>46%</a:t>
            </a:r>
            <a:endParaRPr lang="en-US" sz="6000" dirty="0">
              <a:latin typeface="+mn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59175" y="5871211"/>
            <a:ext cx="3635162" cy="748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D8B1F"/>
                </a:solidFill>
                <a:latin typeface="+mn-ea"/>
                <a:cs typeface="GmarketSans" pitchFamily="34" charset="-120"/>
              </a:rPr>
              <a:t>투두 앱 사용중</a:t>
            </a:r>
            <a:endParaRPr lang="en-US" sz="3200" b="1" dirty="0">
              <a:solidFill>
                <a:srgbClr val="ED8B1F"/>
              </a:solidFill>
              <a:latin typeface="+mn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20766" y="2777794"/>
            <a:ext cx="10121265" cy="1318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7D31"/>
                </a:solidFill>
                <a:latin typeface="+mn-ea"/>
                <a:cs typeface="GmarketSans" pitchFamily="34" charset="-120"/>
              </a:rPr>
              <a:t>무엇으로 목표·습관을 관리하나요</a:t>
            </a:r>
            <a:endParaRPr lang="en-US" sz="4000" dirty="0">
              <a:solidFill>
                <a:srgbClr val="ED7D31"/>
              </a:solidFill>
              <a:latin typeface="+mn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7261251-DF0E-4F18-8C79-C9DA34E9500D}"/>
              </a:ext>
            </a:extLst>
          </p:cNvPr>
          <p:cNvGrpSpPr/>
          <p:nvPr/>
        </p:nvGrpSpPr>
        <p:grpSpPr>
          <a:xfrm>
            <a:off x="7817307" y="4152003"/>
            <a:ext cx="9581961" cy="4163508"/>
            <a:chOff x="7539700" y="4736019"/>
            <a:chExt cx="8702218" cy="2507997"/>
          </a:xfrm>
        </p:grpSpPr>
        <p:sp>
          <p:nvSpPr>
            <p:cNvPr id="20" name="Text 18"/>
            <p:cNvSpPr/>
            <p:nvPr/>
          </p:nvSpPr>
          <p:spPr>
            <a:xfrm>
              <a:off x="7539700" y="4803014"/>
              <a:ext cx="2676774" cy="349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캘린더</a:t>
              </a:r>
              <a:endParaRPr lang="en-US" sz="3200" b="1" dirty="0">
                <a:latin typeface="+mn-ea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10169511" y="4818948"/>
              <a:ext cx="4604272" cy="247650"/>
            </a:xfrm>
            <a:prstGeom prst="roundRect">
              <a:avLst>
                <a:gd name="adj" fmla="val 23077"/>
              </a:avLst>
            </a:prstGeom>
            <a:solidFill>
              <a:srgbClr val="ED8B1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14945354" y="4736019"/>
              <a:ext cx="1296564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40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44%</a:t>
              </a:r>
              <a:endParaRPr lang="en-US" sz="4000" dirty="0">
                <a:latin typeface="+mn-ea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539700" y="5294943"/>
              <a:ext cx="2555103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다이어리/노트</a:t>
              </a:r>
              <a:endParaRPr lang="en-US" sz="3200" b="1" dirty="0">
                <a:latin typeface="+mn-ea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10169509" y="5325770"/>
              <a:ext cx="2555103" cy="247650"/>
            </a:xfrm>
            <a:prstGeom prst="roundRect">
              <a:avLst>
                <a:gd name="adj" fmla="val 23077"/>
              </a:avLst>
            </a:prstGeom>
            <a:solidFill>
              <a:srgbClr val="F6C58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12866147" y="5255754"/>
              <a:ext cx="1296564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40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25%</a:t>
              </a:r>
              <a:endParaRPr lang="en-US" sz="4000" dirty="0">
                <a:latin typeface="+mn-ea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7539700" y="5811816"/>
              <a:ext cx="2676774" cy="349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습관트레커</a:t>
              </a:r>
              <a:endParaRPr lang="en-US" sz="3200" b="1" dirty="0">
                <a:latin typeface="+mn-ea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10169511" y="5862675"/>
              <a:ext cx="1296565" cy="247650"/>
            </a:xfrm>
            <a:prstGeom prst="roundRect">
              <a:avLst>
                <a:gd name="adj" fmla="val 23077"/>
              </a:avLst>
            </a:prstGeom>
            <a:solidFill>
              <a:srgbClr val="D9D9D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11587065" y="5774574"/>
              <a:ext cx="1296564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40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13%</a:t>
              </a:r>
              <a:endParaRPr lang="en-US" sz="4000" dirty="0">
                <a:latin typeface="+mn-ea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7553164" y="6350184"/>
              <a:ext cx="2676774" cy="4254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안 씀</a:t>
              </a:r>
              <a:endParaRPr lang="en-US" sz="3200" b="1" dirty="0">
                <a:latin typeface="+mn-ea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10169508" y="6399580"/>
              <a:ext cx="1296568" cy="247650"/>
            </a:xfrm>
            <a:prstGeom prst="roundRect">
              <a:avLst>
                <a:gd name="adj" fmla="val 23077"/>
              </a:avLst>
            </a:prstGeom>
            <a:solidFill>
              <a:srgbClr val="D9D9D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11582744" y="6325680"/>
              <a:ext cx="1296564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40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13%</a:t>
              </a:r>
              <a:endParaRPr lang="en-US" sz="4000" dirty="0">
                <a:latin typeface="+mn-ea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7539700" y="6894766"/>
              <a:ext cx="2676774" cy="349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만다라트</a:t>
              </a:r>
              <a:endParaRPr lang="en-US" sz="3200" b="1" dirty="0">
                <a:latin typeface="+mn-ea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10169509" y="6927050"/>
              <a:ext cx="326645" cy="247650"/>
            </a:xfrm>
            <a:prstGeom prst="roundRect">
              <a:avLst>
                <a:gd name="adj" fmla="val 23077"/>
              </a:avLst>
            </a:prstGeom>
            <a:solidFill>
              <a:srgbClr val="D9D9D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10692293" y="6844484"/>
              <a:ext cx="1296564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4000" b="1" dirty="0">
                  <a:solidFill>
                    <a:srgbClr val="2B2B2B"/>
                  </a:solidFill>
                  <a:latin typeface="+mn-ea"/>
                  <a:cs typeface="GmarketSans" pitchFamily="34" charset="-120"/>
                </a:rPr>
                <a:t>2%</a:t>
              </a:r>
              <a:endParaRPr lang="en-US" sz="4000" dirty="0">
                <a:latin typeface="+mn-ea"/>
              </a:endParaRPr>
            </a:p>
          </p:txBody>
        </p:sp>
      </p:grpSp>
      <p:sp>
        <p:nvSpPr>
          <p:cNvPr id="38" name="Google Shape;73;p5">
            <a:extLst>
              <a:ext uri="{FF2B5EF4-FFF2-40B4-BE49-F238E27FC236}">
                <a16:creationId xmlns:a16="http://schemas.microsoft.com/office/drawing/2014/main" id="{A7B9528B-5077-40FB-99FD-CA927B1EF9CE}"/>
              </a:ext>
            </a:extLst>
          </p:cNvPr>
          <p:cNvSpPr/>
          <p:nvPr/>
        </p:nvSpPr>
        <p:spPr>
          <a:xfrm>
            <a:off x="3283087" y="470543"/>
            <a:ext cx="11112959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en-US" altLang="ko-KR" sz="88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사용해본</a:t>
            </a:r>
            <a:r>
              <a:rPr lang="en-US" altLang="ko-KR" sz="8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88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경험</a:t>
            </a:r>
            <a:endParaRPr lang="en-US" altLang="ko-KR" sz="8800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1028700" y="3205512"/>
            <a:ext cx="495821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목표를 잊어버림</a:t>
            </a:r>
            <a:endParaRPr lang="en-US" sz="44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86914" y="3283261"/>
            <a:ext cx="7798595" cy="577850"/>
          </a:xfrm>
          <a:prstGeom prst="roundRect">
            <a:avLst>
              <a:gd name="adj" fmla="val 21053"/>
            </a:avLst>
          </a:prstGeom>
          <a:solidFill>
            <a:srgbClr val="ED8B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929321" y="3283261"/>
            <a:ext cx="9334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56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028700" y="4476805"/>
            <a:ext cx="4958214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시간이 부족함</a:t>
            </a:r>
            <a:endParaRPr lang="en-US" sz="4400" b="1" dirty="0">
              <a:latin typeface="+mn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86915" y="4530993"/>
            <a:ext cx="7055317" cy="599188"/>
          </a:xfrm>
          <a:prstGeom prst="roundRect">
            <a:avLst>
              <a:gd name="adj" fmla="val 21053"/>
            </a:avLst>
          </a:prstGeom>
          <a:solidFill>
            <a:srgbClr val="F6C58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166357" y="4508555"/>
            <a:ext cx="9334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49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028700" y="5727317"/>
            <a:ext cx="4958214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성취감이 부족함</a:t>
            </a:r>
            <a:endParaRPr lang="en-US" sz="4400" b="1" dirty="0">
              <a:latin typeface="+mn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86914" y="5803249"/>
            <a:ext cx="5082139" cy="591186"/>
          </a:xfrm>
          <a:prstGeom prst="roundRect">
            <a:avLst>
              <a:gd name="adj" fmla="val 21053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1289431" y="5803249"/>
            <a:ext cx="9334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35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028700" y="6927100"/>
            <a:ext cx="4958214" cy="685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막막함·시작장벽</a:t>
            </a:r>
            <a:endParaRPr lang="en-US" sz="4400" b="1" dirty="0">
              <a:latin typeface="+mn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355981" y="6961277"/>
            <a:ext cx="9334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30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028700" y="8054225"/>
            <a:ext cx="4958214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함께할 사람이 없음</a:t>
            </a:r>
            <a:endParaRPr lang="en-US" sz="4400" b="1" dirty="0">
              <a:latin typeface="+mn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06116" y="8085975"/>
            <a:ext cx="9334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12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2551343" y="9168031"/>
            <a:ext cx="487030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8A8A8A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단위: 응답 수(명) · 복수 응답</a:t>
            </a:r>
            <a:endParaRPr lang="en-US" sz="2800" b="1" dirty="0"/>
          </a:p>
        </p:txBody>
      </p:sp>
      <p:sp>
        <p:nvSpPr>
          <p:cNvPr id="27" name="Google Shape;73;p5">
            <a:extLst>
              <a:ext uri="{FF2B5EF4-FFF2-40B4-BE49-F238E27FC236}">
                <a16:creationId xmlns:a16="http://schemas.microsoft.com/office/drawing/2014/main" id="{2CC8006B-186B-43BC-A9B7-E23802821BD0}"/>
              </a:ext>
            </a:extLst>
          </p:cNvPr>
          <p:cNvSpPr/>
          <p:nvPr/>
        </p:nvSpPr>
        <p:spPr>
          <a:xfrm>
            <a:off x="3283087" y="470543"/>
            <a:ext cx="11112959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en-US" altLang="ko-KR" sz="88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목표를</a:t>
            </a:r>
            <a:r>
              <a:rPr lang="en-US" altLang="ko-KR" sz="88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88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실패한</a:t>
            </a:r>
            <a:r>
              <a:rPr lang="en-US" altLang="ko-KR" sz="88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88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이유</a:t>
            </a:r>
            <a:endParaRPr lang="en-US" altLang="ko-KR" sz="8800" dirty="0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F1A127E6-A644-4EB5-9B64-57D16D864E5A}"/>
              </a:ext>
            </a:extLst>
          </p:cNvPr>
          <p:cNvSpPr/>
          <p:nvPr/>
        </p:nvSpPr>
        <p:spPr>
          <a:xfrm>
            <a:off x="5986914" y="6974252"/>
            <a:ext cx="4177364" cy="591186"/>
          </a:xfrm>
          <a:prstGeom prst="roundRect">
            <a:avLst>
              <a:gd name="adj" fmla="val 21053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DD21309C-DC9C-47BF-A68D-32934B1535EB}"/>
              </a:ext>
            </a:extLst>
          </p:cNvPr>
          <p:cNvSpPr/>
          <p:nvPr/>
        </p:nvSpPr>
        <p:spPr>
          <a:xfrm>
            <a:off x="5986914" y="8091330"/>
            <a:ext cx="1645920" cy="591186"/>
          </a:xfrm>
          <a:prstGeom prst="roundRect">
            <a:avLst>
              <a:gd name="adj" fmla="val 21053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2" grpId="0" animBg="1"/>
      <p:bldP spid="25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-289158" y="3098018"/>
            <a:ext cx="5400174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마을 시각화 매력도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739314" y="2855261"/>
            <a:ext cx="12011125" cy="1133508"/>
          </a:xfrm>
          <a:prstGeom prst="roundRect">
            <a:avLst>
              <a:gd name="adj" fmla="val 22727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39315" y="2855261"/>
            <a:ext cx="10113362" cy="1133508"/>
          </a:xfrm>
          <a:prstGeom prst="roundRect">
            <a:avLst>
              <a:gd name="adj" fmla="val 22727"/>
            </a:avLst>
          </a:prstGeom>
          <a:solidFill>
            <a:srgbClr val="ED8B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5192952" y="3007422"/>
            <a:ext cx="1557488" cy="911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D8B1F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4.21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-289158" y="4625942"/>
            <a:ext cx="5400174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지속 동기부여 효과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4775333" y="4344370"/>
            <a:ext cx="12011124" cy="1133508"/>
          </a:xfrm>
          <a:prstGeom prst="roundRect">
            <a:avLst>
              <a:gd name="adj" fmla="val 22727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39314" y="4344370"/>
            <a:ext cx="10065233" cy="1133508"/>
          </a:xfrm>
          <a:prstGeom prst="roundRect">
            <a:avLst>
              <a:gd name="adj" fmla="val 22727"/>
            </a:avLst>
          </a:prstGeom>
          <a:solidFill>
            <a:srgbClr val="ED8B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5228969" y="4482056"/>
            <a:ext cx="1557488" cy="911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D8B1F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4.19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-334510" y="6248400"/>
            <a:ext cx="5400174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4인 </a:t>
            </a:r>
            <a:r>
              <a:rPr lang="en-US" sz="36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협업</a:t>
            </a: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sz="36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기능</a:t>
            </a: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ko-KR" alt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매력도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4775334" y="5933888"/>
            <a:ext cx="12011125" cy="1133508"/>
          </a:xfrm>
          <a:prstGeom prst="roundRect">
            <a:avLst>
              <a:gd name="adj" fmla="val 22727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775335" y="5933888"/>
            <a:ext cx="9993193" cy="1133508"/>
          </a:xfrm>
          <a:prstGeom prst="roundRect">
            <a:avLst>
              <a:gd name="adj" fmla="val 22727"/>
            </a:avLst>
          </a:prstGeom>
          <a:solidFill>
            <a:srgbClr val="ED8B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5228969" y="6045106"/>
            <a:ext cx="1557488" cy="911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D8B1F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4.16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-250374" y="7870858"/>
            <a:ext cx="5400174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AI 자동설계 신뢰도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4775332" y="7581966"/>
            <a:ext cx="12011125" cy="1133508"/>
          </a:xfrm>
          <a:prstGeom prst="roundRect">
            <a:avLst>
              <a:gd name="adj" fmla="val 22727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775332" y="7581966"/>
            <a:ext cx="8792123" cy="1133508"/>
          </a:xfrm>
          <a:prstGeom prst="roundRect">
            <a:avLst>
              <a:gd name="adj" fmla="val 22727"/>
            </a:avLst>
          </a:prstGeom>
          <a:solidFill>
            <a:srgbClr val="F6C58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3833307" y="7751898"/>
            <a:ext cx="1557488" cy="911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6C583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3.66</a:t>
            </a:r>
            <a:endParaRPr lang="en-US" sz="4800" dirty="0"/>
          </a:p>
        </p:txBody>
      </p:sp>
      <p:sp>
        <p:nvSpPr>
          <p:cNvPr id="28" name="Google Shape;73;p5">
            <a:extLst>
              <a:ext uri="{FF2B5EF4-FFF2-40B4-BE49-F238E27FC236}">
                <a16:creationId xmlns:a16="http://schemas.microsoft.com/office/drawing/2014/main" id="{AD15F460-B24A-4205-A591-4A0451223FDD}"/>
              </a:ext>
            </a:extLst>
          </p:cNvPr>
          <p:cNvSpPr/>
          <p:nvPr/>
        </p:nvSpPr>
        <p:spPr>
          <a:xfrm>
            <a:off x="2849397" y="620403"/>
            <a:ext cx="12906606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en-US" altLang="ko-KR" sz="88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고객이</a:t>
            </a:r>
            <a:r>
              <a:rPr lang="en-US" altLang="ko-KR" sz="88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88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원하는</a:t>
            </a:r>
            <a:r>
              <a:rPr lang="en-US" altLang="ko-KR" sz="88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ko-KR" altLang="en-US" sz="88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것</a:t>
            </a:r>
            <a:endParaRPr lang="en-US" altLang="ko-KR" sz="8800" dirty="0"/>
          </a:p>
        </p:txBody>
      </p:sp>
      <p:sp>
        <p:nvSpPr>
          <p:cNvPr id="2" name="Text 13">
            <a:extLst>
              <a:ext uri="{FF2B5EF4-FFF2-40B4-BE49-F238E27FC236}">
                <a16:creationId xmlns:a16="http://schemas.microsoft.com/office/drawing/2014/main" id="{273A4418-588D-21C6-E8D1-750FF376E584}"/>
              </a:ext>
            </a:extLst>
          </p:cNvPr>
          <p:cNvSpPr/>
          <p:nvPr/>
        </p:nvSpPr>
        <p:spPr>
          <a:xfrm>
            <a:off x="3489795" y="1890781"/>
            <a:ext cx="2571080" cy="448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GmarketSans" pitchFamily="34" charset="-120"/>
              </a:rPr>
              <a:t>0</a:t>
            </a:r>
            <a:r>
              <a:rPr lang="ko-KR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GmarketSans" pitchFamily="34" charset="-120"/>
              </a:rPr>
              <a:t>점 </a:t>
            </a: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GmarketSans" pitchFamily="34" charset="-120"/>
              </a:rPr>
              <a:t> </a:t>
            </a:r>
            <a:b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GmarketSans" pitchFamily="34" charset="-120"/>
              </a:rPr>
            </a:br>
            <a:r>
              <a:rPr lang="ko-KR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GmarketSans" pitchFamily="34" charset="-120"/>
              </a:rPr>
              <a:t>그렇지 않다</a:t>
            </a: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GmarketSans" pitchFamily="34" charset="-120"/>
              </a:rPr>
              <a:t>. </a:t>
            </a:r>
            <a:endParaRPr 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Text 13">
            <a:extLst>
              <a:ext uri="{FF2B5EF4-FFF2-40B4-BE49-F238E27FC236}">
                <a16:creationId xmlns:a16="http://schemas.microsoft.com/office/drawing/2014/main" id="{1134FBAB-A839-B154-4B07-326B40EC7082}"/>
              </a:ext>
            </a:extLst>
          </p:cNvPr>
          <p:cNvSpPr/>
          <p:nvPr/>
        </p:nvSpPr>
        <p:spPr>
          <a:xfrm>
            <a:off x="15390795" y="1950762"/>
            <a:ext cx="2571080" cy="448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D7D31"/>
                </a:solidFill>
                <a:latin typeface="+mn-ea"/>
                <a:cs typeface="GmarketSans" pitchFamily="34" charset="-120"/>
              </a:rPr>
              <a:t>5</a:t>
            </a:r>
            <a:r>
              <a:rPr lang="ko-KR" altLang="en-US" sz="2800" b="1" dirty="0">
                <a:solidFill>
                  <a:srgbClr val="ED7D31"/>
                </a:solidFill>
                <a:latin typeface="+mn-ea"/>
                <a:cs typeface="GmarketSans" pitchFamily="34" charset="-120"/>
              </a:rPr>
              <a:t>점 </a:t>
            </a:r>
            <a:r>
              <a:rPr lang="en-US" altLang="ko-KR" sz="2800" b="1" dirty="0">
                <a:solidFill>
                  <a:srgbClr val="ED7D31"/>
                </a:solidFill>
                <a:latin typeface="+mn-ea"/>
                <a:cs typeface="GmarketSans" pitchFamily="34" charset="-120"/>
              </a:rPr>
              <a:t> </a:t>
            </a:r>
            <a:br>
              <a:rPr lang="en-US" altLang="ko-KR" sz="2800" b="1" dirty="0">
                <a:solidFill>
                  <a:srgbClr val="ED7D31"/>
                </a:solidFill>
                <a:latin typeface="+mn-ea"/>
                <a:cs typeface="GmarketSans" pitchFamily="34" charset="-120"/>
              </a:rPr>
            </a:br>
            <a:r>
              <a:rPr lang="ko-KR" altLang="en-US" sz="2800" b="1" dirty="0">
                <a:solidFill>
                  <a:srgbClr val="ED7D31"/>
                </a:solidFill>
                <a:latin typeface="+mn-ea"/>
                <a:cs typeface="GmarketSans" pitchFamily="34" charset="-120"/>
              </a:rPr>
              <a:t>매우 그렇다</a:t>
            </a:r>
            <a:r>
              <a:rPr lang="en-US" altLang="ko-KR" sz="2800" b="1" dirty="0">
                <a:solidFill>
                  <a:srgbClr val="ED7D31"/>
                </a:solidFill>
                <a:latin typeface="+mn-ea"/>
                <a:cs typeface="GmarketSans" pitchFamily="34" charset="-120"/>
              </a:rPr>
              <a:t>. </a:t>
            </a:r>
            <a:endParaRPr lang="en-US" sz="2800" b="1" dirty="0">
              <a:solidFill>
                <a:srgbClr val="ED7D3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23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2391884" y="2040422"/>
            <a:ext cx="1687449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1. 만다라트 계열 — 설계는 되지만 실행이 안 남는다</a:t>
            </a:r>
            <a:endParaRPr lang="en-US" sz="4400" b="1" dirty="0"/>
          </a:p>
        </p:txBody>
      </p:sp>
      <p:sp>
        <p:nvSpPr>
          <p:cNvPr id="13" name="Text 11"/>
          <p:cNvSpPr/>
          <p:nvPr/>
        </p:nvSpPr>
        <p:spPr>
          <a:xfrm>
            <a:off x="862663" y="8656119"/>
            <a:ext cx="767200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만다라트 AI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787866" y="8609766"/>
            <a:ext cx="767200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똥글 만다라트</a:t>
            </a:r>
            <a:endParaRPr lang="en-US" sz="2250" dirty="0"/>
          </a:p>
        </p:txBody>
      </p:sp>
      <p:sp>
        <p:nvSpPr>
          <p:cNvPr id="25" name="Google Shape;73;p5">
            <a:extLst>
              <a:ext uri="{FF2B5EF4-FFF2-40B4-BE49-F238E27FC236}">
                <a16:creationId xmlns:a16="http://schemas.microsoft.com/office/drawing/2014/main" id="{F77DB7CA-F328-43EF-B3F7-DD4C98090A79}"/>
              </a:ext>
            </a:extLst>
          </p:cNvPr>
          <p:cNvSpPr/>
          <p:nvPr/>
        </p:nvSpPr>
        <p:spPr>
          <a:xfrm>
            <a:off x="2690697" y="496237"/>
            <a:ext cx="12906606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en-US" altLang="ko-KR" sz="88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타 </a:t>
            </a:r>
            <a:r>
              <a:rPr lang="en-US" altLang="ko-KR" sz="88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경쟁</a:t>
            </a:r>
            <a:r>
              <a:rPr lang="en-US" altLang="ko-KR" sz="88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88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서비스의</a:t>
            </a:r>
            <a:r>
              <a:rPr lang="en-US" altLang="ko-KR" sz="88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88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특징은</a:t>
            </a:r>
            <a:r>
              <a:rPr lang="en-US" altLang="ko-KR" sz="88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?</a:t>
            </a:r>
            <a:endParaRPr lang="en-US" altLang="ko-KR" sz="88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0754FA9-159B-4315-840B-7795DDF6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918" y="3423182"/>
            <a:ext cx="6547741" cy="499937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7DDD83A1-FA01-4E3C-9674-20A504593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464" y="3423182"/>
            <a:ext cx="4980957" cy="49993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8"/>
          <p:cNvSpPr/>
          <p:nvPr/>
        </p:nvSpPr>
        <p:spPr>
          <a:xfrm>
            <a:off x="842264" y="8970429"/>
            <a:ext cx="81934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마이루틴</a:t>
            </a:r>
            <a:endParaRPr lang="en-US" sz="3600" dirty="0">
              <a:latin typeface="+mn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99673" y="8890508"/>
            <a:ext cx="81934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챌린저스</a:t>
            </a:r>
            <a:endParaRPr lang="en-US" sz="3600" dirty="0">
              <a:latin typeface="+mn-ea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3BF4919A-946D-4982-8C16-D038E99412A7}"/>
              </a:ext>
            </a:extLst>
          </p:cNvPr>
          <p:cNvSpPr/>
          <p:nvPr/>
        </p:nvSpPr>
        <p:spPr>
          <a:xfrm>
            <a:off x="1013460" y="2275372"/>
            <a:ext cx="1687449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altLang="ko-KR" sz="44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2. </a:t>
            </a:r>
            <a:r>
              <a:rPr lang="en-US" altLang="ko-KR" sz="44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습관·챌린지</a:t>
            </a:r>
            <a:r>
              <a:rPr lang="en-US" altLang="ko-KR" sz="44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44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계열</a:t>
            </a:r>
            <a:r>
              <a:rPr lang="en-US" altLang="ko-KR" sz="44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—  </a:t>
            </a:r>
            <a:r>
              <a:rPr lang="ko-KR" altLang="en-US" sz="44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실행을 하기 위해선 과금을 해야 한다</a:t>
            </a:r>
            <a:r>
              <a:rPr lang="en-US" altLang="ko-KR" sz="44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.</a:t>
            </a:r>
            <a:endParaRPr lang="en-US" altLang="ko-KR" sz="4400" dirty="0">
              <a:latin typeface="+mn-ea"/>
            </a:endParaRPr>
          </a:p>
        </p:txBody>
      </p:sp>
      <p:pic>
        <p:nvPicPr>
          <p:cNvPr id="1026" name="Picture 2" descr="마이루틴 | 나만의 루틴 하루 계획표">
            <a:extLst>
              <a:ext uri="{FF2B5EF4-FFF2-40B4-BE49-F238E27FC236}">
                <a16:creationId xmlns:a16="http://schemas.microsoft.com/office/drawing/2014/main" id="{EEA04FA8-16FB-40AB-ADE9-01C6F6C33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512" y="3896954"/>
            <a:ext cx="4596166" cy="45961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8" name="Picture 4" descr="500번의 도전, 챌린저스 3년차 유저의 솔직한 후기 (2) - 정말 하는지 아닌 지 어떻게 알아요? -">
            <a:extLst>
              <a:ext uri="{FF2B5EF4-FFF2-40B4-BE49-F238E27FC236}">
                <a16:creationId xmlns:a16="http://schemas.microsoft.com/office/drawing/2014/main" id="{B945785F-8F56-42B2-AB9F-6EFC36FBB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7324" y="3538418"/>
            <a:ext cx="3418101" cy="51533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Google Shape;73;p5">
            <a:extLst>
              <a:ext uri="{FF2B5EF4-FFF2-40B4-BE49-F238E27FC236}">
                <a16:creationId xmlns:a16="http://schemas.microsoft.com/office/drawing/2014/main" id="{5EE175CA-13DD-F009-D79E-EC76FA7F74F8}"/>
              </a:ext>
            </a:extLst>
          </p:cNvPr>
          <p:cNvSpPr/>
          <p:nvPr/>
        </p:nvSpPr>
        <p:spPr>
          <a:xfrm>
            <a:off x="2690697" y="496237"/>
            <a:ext cx="12906606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en-US" altLang="ko-KR" sz="88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타 </a:t>
            </a:r>
            <a:r>
              <a:rPr lang="en-US" altLang="ko-KR" sz="88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경쟁</a:t>
            </a:r>
            <a:r>
              <a:rPr lang="en-US" altLang="ko-KR" sz="88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88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서비스의</a:t>
            </a:r>
            <a:r>
              <a:rPr lang="en-US" altLang="ko-KR" sz="88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88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특징은</a:t>
            </a:r>
            <a:r>
              <a:rPr lang="en-US" altLang="ko-KR" sz="88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?</a:t>
            </a:r>
            <a:endParaRPr lang="en-US" altLang="ko-KR" sz="8800" dirty="0"/>
          </a:p>
        </p:txBody>
      </p:sp>
    </p:spTree>
    <p:extLst>
      <p:ext uri="{BB962C8B-B14F-4D97-AF65-F5344CB8AC3E}">
        <p14:creationId xmlns:p14="http://schemas.microsoft.com/office/powerpoint/2010/main" val="3738664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3346960" y="3840480"/>
            <a:ext cx="11928333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en-US" altLang="ko-KR" sz="80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차별화된</a:t>
            </a:r>
            <a:r>
              <a:rPr lang="en-US" altLang="ko-KR" sz="80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80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아이디어</a:t>
            </a:r>
            <a:r>
              <a:rPr lang="en-US" altLang="ko-KR" sz="80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2가지</a:t>
            </a:r>
            <a:endParaRPr lang="en-US" altLang="ko-KR" sz="8000" dirty="0"/>
          </a:p>
        </p:txBody>
      </p:sp>
      <p:sp>
        <p:nvSpPr>
          <p:cNvPr id="79" name="Google Shape;79;p5"/>
          <p:cNvSpPr/>
          <p:nvPr/>
        </p:nvSpPr>
        <p:spPr>
          <a:xfrm>
            <a:off x="1577340" y="596646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US"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0035312" y="596646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US"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427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/>
          <p:cNvSpPr/>
          <p:nvPr/>
        </p:nvSpPr>
        <p:spPr>
          <a:xfrm>
            <a:off x="9764454" y="3485620"/>
            <a:ext cx="8227455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한 </a:t>
            </a:r>
            <a:r>
              <a:rPr lang="en-US" sz="48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문장으로</a:t>
            </a:r>
            <a:r>
              <a:rPr lang="en-US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ko-KR" altLang="en-US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추천 과제 </a:t>
            </a:r>
            <a:br>
              <a:rPr lang="en-US" altLang="ko-KR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</a:br>
            <a:r>
              <a:rPr lang="ko-KR" altLang="en-US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자동 생성</a:t>
            </a:r>
            <a:endParaRPr lang="en-US" sz="4800" dirty="0">
              <a:latin typeface="+mn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64454" y="5662011"/>
            <a:ext cx="7385544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모호하면 AI가 되물어 보정</a:t>
            </a:r>
            <a:endParaRPr lang="en-US" sz="4800" dirty="0">
              <a:latin typeface="+mn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93216" y="6993649"/>
            <a:ext cx="1779258" cy="1119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D8B1F"/>
                </a:solidFill>
                <a:latin typeface="+mn-ea"/>
                <a:cs typeface="GmarketSans" pitchFamily="34" charset="-120"/>
              </a:rPr>
              <a:t>3.</a:t>
            </a:r>
            <a:endParaRPr lang="en-US" sz="9600" dirty="0">
              <a:latin typeface="+mn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94785" y="7469225"/>
            <a:ext cx="7940072" cy="738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확정 권한은 항상 사용자에게</a:t>
            </a:r>
            <a:endParaRPr lang="en-US" sz="4800" dirty="0">
              <a:latin typeface="+mn-ea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FA355723-2658-4949-BF1A-9B2D5988499B}"/>
              </a:ext>
            </a:extLst>
          </p:cNvPr>
          <p:cNvSpPr/>
          <p:nvPr/>
        </p:nvSpPr>
        <p:spPr>
          <a:xfrm>
            <a:off x="8593216" y="5114073"/>
            <a:ext cx="1779258" cy="1119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D8B1F"/>
                </a:solidFill>
                <a:latin typeface="+mn-ea"/>
                <a:cs typeface="GmarketSans" pitchFamily="34" charset="-120"/>
              </a:rPr>
              <a:t>2.</a:t>
            </a:r>
            <a:endParaRPr lang="en-US" sz="9600" dirty="0">
              <a:latin typeface="+mn-ea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775F9FE4-8BB4-401E-ADC3-BECA159922AE}"/>
              </a:ext>
            </a:extLst>
          </p:cNvPr>
          <p:cNvSpPr/>
          <p:nvPr/>
        </p:nvSpPr>
        <p:spPr>
          <a:xfrm>
            <a:off x="8593216" y="3216274"/>
            <a:ext cx="1779258" cy="1119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D8B1F"/>
                </a:solidFill>
                <a:latin typeface="+mn-ea"/>
                <a:cs typeface="GmarketSans" pitchFamily="34" charset="-120"/>
              </a:rPr>
              <a:t>1.</a:t>
            </a:r>
            <a:endParaRPr lang="en-US" sz="9600" dirty="0">
              <a:latin typeface="+mn-ea"/>
            </a:endParaRPr>
          </a:p>
        </p:txBody>
      </p:sp>
      <p:sp>
        <p:nvSpPr>
          <p:cNvPr id="33" name="Google Shape;73;p5">
            <a:extLst>
              <a:ext uri="{FF2B5EF4-FFF2-40B4-BE49-F238E27FC236}">
                <a16:creationId xmlns:a16="http://schemas.microsoft.com/office/drawing/2014/main" id="{84721CC5-678C-4D53-A2AE-FF217300BB3A}"/>
              </a:ext>
            </a:extLst>
          </p:cNvPr>
          <p:cNvSpPr/>
          <p:nvPr/>
        </p:nvSpPr>
        <p:spPr>
          <a:xfrm>
            <a:off x="2959502" y="-67153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en-US" altLang="ko-KR" sz="2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차별화된</a:t>
            </a:r>
            <a:r>
              <a:rPr lang="en-US" altLang="ko-KR" sz="2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2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아이디어</a:t>
            </a:r>
            <a:r>
              <a:rPr lang="en-US" altLang="ko-KR" sz="2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2가지</a:t>
            </a:r>
            <a:endParaRPr lang="en-US" altLang="ko-KR" sz="2000" dirty="0">
              <a:latin typeface="+mn-ea"/>
            </a:endParaRPr>
          </a:p>
        </p:txBody>
      </p:sp>
      <p:sp>
        <p:nvSpPr>
          <p:cNvPr id="35" name="Google Shape;73;p5">
            <a:extLst>
              <a:ext uri="{FF2B5EF4-FFF2-40B4-BE49-F238E27FC236}">
                <a16:creationId xmlns:a16="http://schemas.microsoft.com/office/drawing/2014/main" id="{B508FE1F-1E97-4608-9E42-D6BAED124BEB}"/>
              </a:ext>
            </a:extLst>
          </p:cNvPr>
          <p:cNvSpPr/>
          <p:nvPr/>
        </p:nvSpPr>
        <p:spPr>
          <a:xfrm>
            <a:off x="3361464" y="692705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8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목표</a:t>
            </a:r>
            <a:r>
              <a:rPr lang="en-US" altLang="ko-KR" sz="8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8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설계</a:t>
            </a:r>
            <a:r>
              <a:rPr lang="en-US" altLang="ko-KR" sz="8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8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자동화</a:t>
            </a:r>
            <a:endParaRPr lang="en-US" altLang="ko-KR" sz="8000" dirty="0">
              <a:latin typeface="+mn-ea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5F87221C-A309-4C75-A7E5-AB2AF2FCC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76" y="1899636"/>
            <a:ext cx="4522517" cy="48727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002F7AC8-FC8D-4AD6-9706-89A7E6DAE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703" y="4066025"/>
            <a:ext cx="4450104" cy="48276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5E2E0188-4271-48E4-A66B-A441F7387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943" y="1750595"/>
            <a:ext cx="9874113" cy="7262718"/>
          </a:xfrm>
          <a:prstGeom prst="rect">
            <a:avLst/>
          </a:prstGeom>
        </p:spPr>
      </p:pic>
      <p:sp>
        <p:nvSpPr>
          <p:cNvPr id="37" name="Google Shape;73;p5">
            <a:extLst>
              <a:ext uri="{FF2B5EF4-FFF2-40B4-BE49-F238E27FC236}">
                <a16:creationId xmlns:a16="http://schemas.microsoft.com/office/drawing/2014/main" id="{79FC94F0-6A1F-47BC-B9ED-BEDDF27DB826}"/>
              </a:ext>
            </a:extLst>
          </p:cNvPr>
          <p:cNvSpPr/>
          <p:nvPr/>
        </p:nvSpPr>
        <p:spPr>
          <a:xfrm>
            <a:off x="3283087" y="-160540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2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목표</a:t>
            </a:r>
            <a:r>
              <a:rPr lang="en-US" altLang="ko-KR" sz="2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2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설계</a:t>
            </a:r>
            <a:r>
              <a:rPr lang="en-US" altLang="ko-KR" sz="2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2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자동화</a:t>
            </a:r>
            <a:endParaRPr lang="en-US" altLang="ko-KR" sz="2000" dirty="0">
              <a:latin typeface="+mn-ea"/>
            </a:endParaRPr>
          </a:p>
        </p:txBody>
      </p:sp>
      <p:sp>
        <p:nvSpPr>
          <p:cNvPr id="38" name="Google Shape;73;p5">
            <a:extLst>
              <a:ext uri="{FF2B5EF4-FFF2-40B4-BE49-F238E27FC236}">
                <a16:creationId xmlns:a16="http://schemas.microsoft.com/office/drawing/2014/main" id="{E7F1A5E9-E187-499D-9F01-C6FEAD71ED0B}"/>
              </a:ext>
            </a:extLst>
          </p:cNvPr>
          <p:cNvSpPr/>
          <p:nvPr/>
        </p:nvSpPr>
        <p:spPr>
          <a:xfrm>
            <a:off x="2596521" y="667487"/>
            <a:ext cx="13833487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en-US" altLang="ko-KR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WebRTC </a:t>
            </a:r>
            <a:r>
              <a:rPr lang="en-US" altLang="ko-KR" sz="6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기반</a:t>
            </a:r>
            <a:r>
              <a:rPr lang="en-US" altLang="ko-KR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6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실시간</a:t>
            </a:r>
            <a:r>
              <a:rPr lang="en-US" altLang="ko-KR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AI </a:t>
            </a:r>
            <a:r>
              <a:rPr lang="en-US" altLang="ko-KR" sz="6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음성</a:t>
            </a:r>
            <a:r>
              <a:rPr lang="en-US" altLang="ko-KR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6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소통</a:t>
            </a:r>
            <a:endParaRPr lang="en-US" altLang="ko-KR" sz="60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73;p5">
            <a:extLst>
              <a:ext uri="{FF2B5EF4-FFF2-40B4-BE49-F238E27FC236}">
                <a16:creationId xmlns:a16="http://schemas.microsoft.com/office/drawing/2014/main" id="{79FC94F0-6A1F-47BC-B9ED-BEDDF27DB826}"/>
              </a:ext>
            </a:extLst>
          </p:cNvPr>
          <p:cNvSpPr/>
          <p:nvPr/>
        </p:nvSpPr>
        <p:spPr>
          <a:xfrm>
            <a:off x="3283087" y="-160540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2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목표</a:t>
            </a:r>
            <a:r>
              <a:rPr lang="en-US" altLang="ko-KR" sz="2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2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설계</a:t>
            </a:r>
            <a:r>
              <a:rPr lang="en-US" altLang="ko-KR" sz="2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2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자동화</a:t>
            </a:r>
            <a:endParaRPr lang="en-US" altLang="ko-KR" sz="2000" dirty="0">
              <a:latin typeface="+mn-ea"/>
            </a:endParaRPr>
          </a:p>
        </p:txBody>
      </p:sp>
      <p:sp>
        <p:nvSpPr>
          <p:cNvPr id="38" name="Google Shape;73;p5">
            <a:extLst>
              <a:ext uri="{FF2B5EF4-FFF2-40B4-BE49-F238E27FC236}">
                <a16:creationId xmlns:a16="http://schemas.microsoft.com/office/drawing/2014/main" id="{E7F1A5E9-E187-499D-9F01-C6FEAD71ED0B}"/>
              </a:ext>
            </a:extLst>
          </p:cNvPr>
          <p:cNvSpPr/>
          <p:nvPr/>
        </p:nvSpPr>
        <p:spPr>
          <a:xfrm>
            <a:off x="2596521" y="667487"/>
            <a:ext cx="13833487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en-US" altLang="ko-KR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WebRTC </a:t>
            </a:r>
            <a:r>
              <a:rPr lang="en-US" altLang="ko-KR" sz="6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기반</a:t>
            </a:r>
            <a:r>
              <a:rPr lang="en-US" altLang="ko-KR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6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실시간</a:t>
            </a:r>
            <a:r>
              <a:rPr lang="en-US" altLang="ko-KR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AI </a:t>
            </a:r>
            <a:r>
              <a:rPr lang="en-US" altLang="ko-KR" sz="6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음성</a:t>
            </a:r>
            <a:r>
              <a:rPr lang="en-US" altLang="ko-KR" sz="6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6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소통</a:t>
            </a:r>
            <a:endParaRPr lang="en-US" altLang="ko-KR" sz="6000" dirty="0">
              <a:latin typeface="+mn-ea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CC54E0E-F57F-4464-8759-5A0CEF2E3096}"/>
              </a:ext>
            </a:extLst>
          </p:cNvPr>
          <p:cNvGrpSpPr/>
          <p:nvPr/>
        </p:nvGrpSpPr>
        <p:grpSpPr>
          <a:xfrm>
            <a:off x="2447989" y="2940142"/>
            <a:ext cx="1224580" cy="1298534"/>
            <a:chOff x="3927935" y="3076816"/>
            <a:chExt cx="1224580" cy="1298534"/>
          </a:xfrm>
        </p:grpSpPr>
        <p:sp>
          <p:nvSpPr>
            <p:cNvPr id="27" name="사각형: 잘린 위쪽 모서리 26">
              <a:extLst>
                <a:ext uri="{FF2B5EF4-FFF2-40B4-BE49-F238E27FC236}">
                  <a16:creationId xmlns:a16="http://schemas.microsoft.com/office/drawing/2014/main" id="{711E4E80-5E01-4A77-A9C9-8B81DB5EBE4E}"/>
                </a:ext>
              </a:extLst>
            </p:cNvPr>
            <p:cNvSpPr/>
            <p:nvPr/>
          </p:nvSpPr>
          <p:spPr>
            <a:xfrm>
              <a:off x="3927935" y="3890731"/>
              <a:ext cx="1224580" cy="484619"/>
            </a:xfrm>
            <a:prstGeom prst="snip2SameRect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C000"/>
                </a:solidFill>
                <a:latin typeface="+mn-ea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FA60382C-12F2-4BCA-AE12-4E6CC3034596}"/>
                </a:ext>
              </a:extLst>
            </p:cNvPr>
            <p:cNvSpPr/>
            <p:nvPr/>
          </p:nvSpPr>
          <p:spPr>
            <a:xfrm>
              <a:off x="4163630" y="3076816"/>
              <a:ext cx="722245" cy="669149"/>
            </a:xfrm>
            <a:prstGeom prst="ellipse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C000"/>
                </a:solidFill>
                <a:latin typeface="+mn-ea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A4531FF2-1A4B-44A9-B0E9-19F345536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673" y="3064146"/>
            <a:ext cx="1552792" cy="1276528"/>
          </a:xfrm>
          <a:prstGeom prst="rect">
            <a:avLst/>
          </a:prstGeom>
        </p:spPr>
      </p:pic>
      <p:pic>
        <p:nvPicPr>
          <p:cNvPr id="2050" name="Picture 2" descr="Chrome - 나무위키">
            <a:extLst>
              <a:ext uri="{FF2B5EF4-FFF2-40B4-BE49-F238E27FC236}">
                <a16:creationId xmlns:a16="http://schemas.microsoft.com/office/drawing/2014/main" id="{F4CA1A99-B8A0-4895-AC23-0588B95D3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740" y="2498646"/>
            <a:ext cx="669149" cy="66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60762B0A-3114-4F3D-A614-B67B0230510B}"/>
              </a:ext>
            </a:extLst>
          </p:cNvPr>
          <p:cNvSpPr/>
          <p:nvPr/>
        </p:nvSpPr>
        <p:spPr>
          <a:xfrm>
            <a:off x="6343953" y="3393093"/>
            <a:ext cx="6690480" cy="1828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7CA961-F226-43A9-847B-9AA495AEB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0765" y="2650588"/>
            <a:ext cx="1579580" cy="1690086"/>
          </a:xfrm>
          <a:prstGeom prst="rect">
            <a:avLst/>
          </a:prstGeom>
        </p:spPr>
      </p:pic>
      <p:sp>
        <p:nvSpPr>
          <p:cNvPr id="47" name="Text 19">
            <a:extLst>
              <a:ext uri="{FF2B5EF4-FFF2-40B4-BE49-F238E27FC236}">
                <a16:creationId xmlns:a16="http://schemas.microsoft.com/office/drawing/2014/main" id="{9BDD42D3-107A-413F-BE8D-D015A0523347}"/>
              </a:ext>
            </a:extLst>
          </p:cNvPr>
          <p:cNvSpPr/>
          <p:nvPr/>
        </p:nvSpPr>
        <p:spPr>
          <a:xfrm>
            <a:off x="5936889" y="2773731"/>
            <a:ext cx="3268313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altLang="ko-KR" sz="3200" b="1" dirty="0">
                <a:latin typeface="+mn-ea"/>
              </a:rPr>
              <a:t>2. </a:t>
            </a:r>
            <a:r>
              <a:rPr lang="ko-KR" altLang="en-US" sz="3200" b="1" dirty="0">
                <a:latin typeface="+mn-ea"/>
              </a:rPr>
              <a:t>음성 전송</a:t>
            </a:r>
            <a:endParaRPr lang="en-US" sz="3200" b="1" dirty="0">
              <a:latin typeface="+mn-ea"/>
            </a:endParaRPr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11BED8D8-95DF-498B-A7C5-523009CD9BF5}"/>
              </a:ext>
            </a:extLst>
          </p:cNvPr>
          <p:cNvSpPr/>
          <p:nvPr/>
        </p:nvSpPr>
        <p:spPr>
          <a:xfrm rot="10800000">
            <a:off x="6343952" y="3695574"/>
            <a:ext cx="6690479" cy="1828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A389A6F-AB3B-42C9-946B-5317A8C16B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8206" y="7608484"/>
            <a:ext cx="1552792" cy="2148812"/>
          </a:xfrm>
          <a:prstGeom prst="rect">
            <a:avLst/>
          </a:prstGeom>
        </p:spPr>
      </p:pic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560C8E39-1D38-4C13-8872-96AE2FF2CE34}"/>
              </a:ext>
            </a:extLst>
          </p:cNvPr>
          <p:cNvSpPr/>
          <p:nvPr/>
        </p:nvSpPr>
        <p:spPr>
          <a:xfrm rot="14108502">
            <a:off x="4632670" y="5975202"/>
            <a:ext cx="3523020" cy="17146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D534B863-A93D-4E7E-B862-D8841DA4B42F}"/>
              </a:ext>
            </a:extLst>
          </p:cNvPr>
          <p:cNvSpPr/>
          <p:nvPr/>
        </p:nvSpPr>
        <p:spPr>
          <a:xfrm rot="3275123">
            <a:off x="5025715" y="5808976"/>
            <a:ext cx="3665664" cy="17146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9160DA22-DFEA-4D51-831F-CC4B0C8A53AE}"/>
              </a:ext>
            </a:extLst>
          </p:cNvPr>
          <p:cNvSpPr/>
          <p:nvPr/>
        </p:nvSpPr>
        <p:spPr>
          <a:xfrm>
            <a:off x="9494602" y="4049488"/>
            <a:ext cx="3268313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altLang="ko-KR" sz="3200" b="1" dirty="0">
                <a:latin typeface="+mn-ea"/>
              </a:rPr>
              <a:t>3. </a:t>
            </a:r>
            <a:r>
              <a:rPr lang="ko-KR" altLang="en-US" sz="3200" b="1" dirty="0">
                <a:latin typeface="+mn-ea"/>
              </a:rPr>
              <a:t>음성 응답</a:t>
            </a:r>
            <a:r>
              <a:rPr lang="en-US" altLang="ko-KR" sz="3200" b="1" dirty="0">
                <a:latin typeface="+mn-ea"/>
              </a:rPr>
              <a:t>,</a:t>
            </a:r>
            <a:br>
              <a:rPr lang="en-US" altLang="ko-KR" sz="3200" b="1" dirty="0">
                <a:latin typeface="+mn-ea"/>
              </a:rPr>
            </a:br>
            <a:r>
              <a:rPr lang="en-US" altLang="ko-KR" sz="3200" b="1" dirty="0">
                <a:latin typeface="+mn-ea"/>
              </a:rPr>
              <a:t>function call </a:t>
            </a:r>
            <a:r>
              <a:rPr lang="ko-KR" altLang="en-US" sz="3200" b="1" dirty="0">
                <a:latin typeface="+mn-ea"/>
              </a:rPr>
              <a:t>이벤트</a:t>
            </a:r>
            <a:endParaRPr lang="en-US" sz="3200" b="1" dirty="0">
              <a:latin typeface="+mn-ea"/>
            </a:endParaRP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41AD244C-E9EA-4C66-9387-8CDE536AFE89}"/>
              </a:ext>
            </a:extLst>
          </p:cNvPr>
          <p:cNvSpPr/>
          <p:nvPr/>
        </p:nvSpPr>
        <p:spPr>
          <a:xfrm rot="18638042">
            <a:off x="10751775" y="5892427"/>
            <a:ext cx="3751159" cy="17146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CA1C629-CB48-4770-B757-B8CD3F24C394}"/>
              </a:ext>
            </a:extLst>
          </p:cNvPr>
          <p:cNvSpPr/>
          <p:nvPr/>
        </p:nvSpPr>
        <p:spPr>
          <a:xfrm>
            <a:off x="7357847" y="7457340"/>
            <a:ext cx="4167403" cy="24511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26F7FF9-2446-4719-B418-0EFB0F7E6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0998" y="7028256"/>
            <a:ext cx="788586" cy="858167"/>
          </a:xfrm>
          <a:prstGeom prst="rect">
            <a:avLst/>
          </a:prstGeom>
        </p:spPr>
      </p:pic>
      <p:sp>
        <p:nvSpPr>
          <p:cNvPr id="55" name="Text 19">
            <a:extLst>
              <a:ext uri="{FF2B5EF4-FFF2-40B4-BE49-F238E27FC236}">
                <a16:creationId xmlns:a16="http://schemas.microsoft.com/office/drawing/2014/main" id="{AEB9986E-F778-4895-B2AC-298BFED6779A}"/>
              </a:ext>
            </a:extLst>
          </p:cNvPr>
          <p:cNvSpPr/>
          <p:nvPr/>
        </p:nvSpPr>
        <p:spPr>
          <a:xfrm>
            <a:off x="3626747" y="7138584"/>
            <a:ext cx="3268313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altLang="ko-KR" sz="3200" b="1" dirty="0">
                <a:latin typeface="+mn-ea"/>
              </a:rPr>
              <a:t>1. </a:t>
            </a:r>
            <a:r>
              <a:rPr lang="ko-KR" altLang="en-US" sz="3200" b="1" dirty="0">
                <a:latin typeface="+mn-ea"/>
              </a:rPr>
              <a:t>임시 토큰 발급</a:t>
            </a:r>
            <a:endParaRPr lang="en-US" sz="3200" b="1" dirty="0">
              <a:latin typeface="+mn-ea"/>
            </a:endParaRPr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DA81B12C-6F64-4798-9A57-C2F03EDA1874}"/>
              </a:ext>
            </a:extLst>
          </p:cNvPr>
          <p:cNvSpPr/>
          <p:nvPr/>
        </p:nvSpPr>
        <p:spPr>
          <a:xfrm>
            <a:off x="7225266" y="5935740"/>
            <a:ext cx="3268313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altLang="ko-KR" sz="3200" b="1" dirty="0">
                <a:latin typeface="+mn-ea"/>
              </a:rPr>
              <a:t>4. </a:t>
            </a:r>
            <a:r>
              <a:rPr lang="ko-KR" altLang="en-US" sz="3200" b="1" dirty="0">
                <a:latin typeface="+mn-ea"/>
              </a:rPr>
              <a:t>업무 </a:t>
            </a:r>
            <a:r>
              <a:rPr lang="en-US" altLang="ko-KR" sz="3200" b="1" dirty="0">
                <a:latin typeface="+mn-ea"/>
              </a:rPr>
              <a:t>API </a:t>
            </a:r>
            <a:r>
              <a:rPr lang="ko-KR" altLang="en-US" sz="3200" b="1" dirty="0">
                <a:latin typeface="+mn-ea"/>
              </a:rPr>
              <a:t>호출</a:t>
            </a:r>
            <a:endParaRPr lang="en-US" sz="3200" b="1" dirty="0">
              <a:latin typeface="+mn-ea"/>
            </a:endParaRPr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5456AA9B-93C9-484B-A4DB-D79D3EAEC02E}"/>
              </a:ext>
            </a:extLst>
          </p:cNvPr>
          <p:cNvSpPr/>
          <p:nvPr/>
        </p:nvSpPr>
        <p:spPr>
          <a:xfrm>
            <a:off x="12627354" y="6014348"/>
            <a:ext cx="3268313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altLang="ko-KR" sz="3200" b="1" dirty="0">
                <a:latin typeface="+mn-ea"/>
              </a:rPr>
              <a:t>5. </a:t>
            </a:r>
            <a:r>
              <a:rPr lang="ko-KR" altLang="en-US" sz="3200" b="1" dirty="0">
                <a:latin typeface="+mn-ea"/>
              </a:rPr>
              <a:t>결과 반환 후 </a:t>
            </a:r>
            <a:r>
              <a:rPr lang="ko-KR" altLang="en-US" sz="3200" b="1" dirty="0" err="1">
                <a:latin typeface="+mn-ea"/>
              </a:rPr>
              <a:t>재전달</a:t>
            </a:r>
            <a:endParaRPr lang="en-US" sz="3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9845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7" grpId="0" animBg="1"/>
      <p:bldP spid="49" grpId="0" animBg="1"/>
      <p:bldP spid="51" grpId="0" animBg="1"/>
      <p:bldP spid="52" grpId="0" animBg="1"/>
      <p:bldP spid="53" grpId="0" animBg="1"/>
      <p:bldP spid="40" grpId="0" animBg="1"/>
      <p:bldP spid="55" grpId="0" animBg="1"/>
      <p:bldP spid="56" grpId="0" animBg="1"/>
      <p:bldP spid="5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73;p5">
            <a:extLst>
              <a:ext uri="{FF2B5EF4-FFF2-40B4-BE49-F238E27FC236}">
                <a16:creationId xmlns:a16="http://schemas.microsoft.com/office/drawing/2014/main" id="{84721CC5-678C-4D53-A2AE-FF217300BB3A}"/>
              </a:ext>
            </a:extLst>
          </p:cNvPr>
          <p:cNvSpPr/>
          <p:nvPr/>
        </p:nvSpPr>
        <p:spPr>
          <a:xfrm>
            <a:off x="3283087" y="-160540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en-US" altLang="ko-KR" sz="2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차별화된</a:t>
            </a:r>
            <a:r>
              <a:rPr lang="en-US" altLang="ko-KR" sz="2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2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아이디어</a:t>
            </a:r>
            <a:r>
              <a:rPr lang="en-US" altLang="ko-KR" sz="2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2가지</a:t>
            </a:r>
            <a:endParaRPr lang="en-US" altLang="ko-KR" sz="2000" dirty="0">
              <a:latin typeface="+mn-ea"/>
            </a:endParaRPr>
          </a:p>
        </p:txBody>
      </p:sp>
      <p:sp>
        <p:nvSpPr>
          <p:cNvPr id="35" name="Google Shape;73;p5">
            <a:extLst>
              <a:ext uri="{FF2B5EF4-FFF2-40B4-BE49-F238E27FC236}">
                <a16:creationId xmlns:a16="http://schemas.microsoft.com/office/drawing/2014/main" id="{B508FE1F-1E97-4608-9E42-D6BAED124BEB}"/>
              </a:ext>
            </a:extLst>
          </p:cNvPr>
          <p:cNvSpPr/>
          <p:nvPr/>
        </p:nvSpPr>
        <p:spPr>
          <a:xfrm>
            <a:off x="3361464" y="692705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80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성취의</a:t>
            </a:r>
            <a:r>
              <a:rPr lang="en-US" altLang="ko-KR" sz="80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80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시각적</a:t>
            </a:r>
            <a:r>
              <a:rPr lang="en-US" altLang="ko-KR" sz="80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80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누적</a:t>
            </a:r>
            <a:endParaRPr lang="en-US" altLang="ko-KR" sz="8000" dirty="0">
              <a:latin typeface="+mn-ea"/>
            </a:endParaRPr>
          </a:p>
        </p:txBody>
      </p:sp>
      <p:sp>
        <p:nvSpPr>
          <p:cNvPr id="3" name="Text 19">
            <a:extLst>
              <a:ext uri="{FF2B5EF4-FFF2-40B4-BE49-F238E27FC236}">
                <a16:creationId xmlns:a16="http://schemas.microsoft.com/office/drawing/2014/main" id="{51BEE777-1EF5-9E46-8E65-D8EEC3F0D0DA}"/>
              </a:ext>
            </a:extLst>
          </p:cNvPr>
          <p:cNvSpPr/>
          <p:nvPr/>
        </p:nvSpPr>
        <p:spPr>
          <a:xfrm>
            <a:off x="5152875" y="7974515"/>
            <a:ext cx="8227455" cy="1619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과제를 달성할 때마다</a:t>
            </a:r>
            <a:br>
              <a:rPr lang="en-US" altLang="ko-KR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</a:br>
            <a:r>
              <a:rPr lang="ko-KR" altLang="en-US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해당 칸의 건물이 성장합니다</a:t>
            </a:r>
            <a:r>
              <a:rPr lang="en-US" altLang="ko-KR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.</a:t>
            </a:r>
            <a:endParaRPr lang="en-US" sz="4800" dirty="0">
              <a:latin typeface="+mn-ea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40426E8-A2D1-1BAB-CBA8-3462FBE06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995362"/>
            <a:ext cx="12296775" cy="82962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15632B5-BF09-187B-5AA3-0A329A6B8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995362"/>
            <a:ext cx="12296775" cy="829627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D802F20-8827-FF26-0DF8-D70DD52CD1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5612" y="995362"/>
            <a:ext cx="12296775" cy="829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26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9E967-04A4-E955-2DA7-2AC19377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73;p5">
            <a:extLst>
              <a:ext uri="{FF2B5EF4-FFF2-40B4-BE49-F238E27FC236}">
                <a16:creationId xmlns:a16="http://schemas.microsoft.com/office/drawing/2014/main" id="{58BF9C40-9CA9-B650-104C-6612F15D6B66}"/>
              </a:ext>
            </a:extLst>
          </p:cNvPr>
          <p:cNvSpPr/>
          <p:nvPr/>
        </p:nvSpPr>
        <p:spPr>
          <a:xfrm>
            <a:off x="3283087" y="-160540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en-US" altLang="ko-KR" sz="2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차별화된</a:t>
            </a:r>
            <a:r>
              <a:rPr lang="en-US" altLang="ko-KR" sz="2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en-US" altLang="ko-KR" sz="2000" b="1" dirty="0" err="1">
                <a:solidFill>
                  <a:srgbClr val="2B2B2B"/>
                </a:solidFill>
                <a:latin typeface="+mn-ea"/>
                <a:cs typeface="GmarketSans" pitchFamily="34" charset="-120"/>
              </a:rPr>
              <a:t>아이디어</a:t>
            </a:r>
            <a:r>
              <a:rPr lang="en-US" altLang="ko-KR" sz="20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2가지</a:t>
            </a:r>
            <a:endParaRPr lang="en-US" altLang="ko-KR" sz="2000" dirty="0">
              <a:latin typeface="+mn-ea"/>
            </a:endParaRPr>
          </a:p>
        </p:txBody>
      </p:sp>
      <p:sp>
        <p:nvSpPr>
          <p:cNvPr id="3" name="Text 19">
            <a:extLst>
              <a:ext uri="{FF2B5EF4-FFF2-40B4-BE49-F238E27FC236}">
                <a16:creationId xmlns:a16="http://schemas.microsoft.com/office/drawing/2014/main" id="{BC765C51-C113-D720-9AE0-CD8C0A31EA6C}"/>
              </a:ext>
            </a:extLst>
          </p:cNvPr>
          <p:cNvSpPr/>
          <p:nvPr/>
        </p:nvSpPr>
        <p:spPr>
          <a:xfrm>
            <a:off x="3099091" y="7967080"/>
            <a:ext cx="12335025" cy="1619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그리고 다시 세부 목표의</a:t>
            </a:r>
            <a:r>
              <a:rPr lang="en-US" altLang="ko-KR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 </a:t>
            </a:r>
            <a:r>
              <a:rPr lang="ko-KR" altLang="en-US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건물이 </a:t>
            </a:r>
            <a:endParaRPr lang="en-US" altLang="ko-KR" sz="4800" b="1" dirty="0">
              <a:solidFill>
                <a:srgbClr val="2B2B2B"/>
              </a:solidFill>
              <a:latin typeface="+mn-ea"/>
              <a:cs typeface="GmarketSans" pitchFamily="34" charset="-120"/>
            </a:endParaRPr>
          </a:p>
          <a:p>
            <a:pPr marL="0" indent="0" algn="ctr">
              <a:buNone/>
            </a:pPr>
            <a:r>
              <a:rPr lang="ko-KR" altLang="en-US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성장함에 따라 중앙의 건물도 성장합니다</a:t>
            </a:r>
            <a:r>
              <a:rPr lang="en-US" altLang="ko-KR" sz="4800" b="1" dirty="0">
                <a:solidFill>
                  <a:srgbClr val="2B2B2B"/>
                </a:solidFill>
                <a:latin typeface="+mn-ea"/>
                <a:cs typeface="GmarketSans" pitchFamily="34" charset="-120"/>
              </a:rPr>
              <a:t>.</a:t>
            </a:r>
            <a:endParaRPr lang="en-US" sz="4800" dirty="0">
              <a:latin typeface="+mn-ea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EE2BD53-9586-2D07-B677-5AD32756D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995362"/>
            <a:ext cx="12296775" cy="829627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9F2687C-F73F-661F-12C9-9274E4A93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995362"/>
            <a:ext cx="12296775" cy="829627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6C2C5923-F18B-3362-13DE-1B8B8F464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5612" y="995362"/>
            <a:ext cx="12296775" cy="829627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0A5ECBA3-8A9C-6E6A-A6E6-0BA59794C8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5612" y="995362"/>
            <a:ext cx="12296775" cy="829627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17016B45-6FFF-6AE4-9FF6-516859A52D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5612" y="995362"/>
            <a:ext cx="12296775" cy="829627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70D7AEB7-6598-AE73-E576-2E9C34E3A9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5612" y="995362"/>
            <a:ext cx="12296775" cy="829627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5ACC3EBB-A2AF-44D3-F96C-B8C88F4D33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5612" y="995362"/>
            <a:ext cx="12296775" cy="8296275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1279380F-08CD-C30D-C9E8-32441491B1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5612" y="995362"/>
            <a:ext cx="12296775" cy="8296275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3809C6B9-CBCD-80AA-26C0-85C3CED440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95612" y="995362"/>
            <a:ext cx="12296775" cy="8296275"/>
          </a:xfrm>
          <a:prstGeom prst="rect">
            <a:avLst/>
          </a:prstGeom>
        </p:spPr>
      </p:pic>
      <p:sp>
        <p:nvSpPr>
          <p:cNvPr id="47" name="Google Shape;73;p5">
            <a:extLst>
              <a:ext uri="{FF2B5EF4-FFF2-40B4-BE49-F238E27FC236}">
                <a16:creationId xmlns:a16="http://schemas.microsoft.com/office/drawing/2014/main" id="{CDE189D9-FA71-8E30-1F08-45AAF9719217}"/>
              </a:ext>
            </a:extLst>
          </p:cNvPr>
          <p:cNvSpPr/>
          <p:nvPr/>
        </p:nvSpPr>
        <p:spPr>
          <a:xfrm>
            <a:off x="3361464" y="692705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80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성취의</a:t>
            </a:r>
            <a:r>
              <a:rPr lang="en-US" altLang="ko-KR" sz="80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80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시각적</a:t>
            </a:r>
            <a:r>
              <a:rPr lang="en-US" altLang="ko-KR" sz="8000" b="1" dirty="0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 </a:t>
            </a:r>
            <a:r>
              <a:rPr lang="en-US" altLang="ko-KR" sz="8000" b="1" dirty="0" err="1">
                <a:solidFill>
                  <a:srgbClr val="2B2B2B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누적</a:t>
            </a:r>
            <a:endParaRPr lang="en-US" altLang="ko-KR" sz="8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9122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3346960" y="3840480"/>
            <a:ext cx="11928333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ko-KR" altLang="en-US" sz="8000" b="1" dirty="0">
                <a:solidFill>
                  <a:srgbClr val="2B2B2B"/>
                </a:solidFill>
                <a:latin typeface="GmarketSans" pitchFamily="34" charset="0"/>
              </a:rPr>
              <a:t>핵심 기능 화면 설계</a:t>
            </a:r>
            <a:endParaRPr lang="en-US" altLang="ko-KR" sz="8000" dirty="0"/>
          </a:p>
        </p:txBody>
      </p:sp>
    </p:spTree>
    <p:extLst>
      <p:ext uri="{BB962C8B-B14F-4D97-AF65-F5344CB8AC3E}">
        <p14:creationId xmlns:p14="http://schemas.microsoft.com/office/powerpoint/2010/main" val="164036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>
            <a:extLst>
              <a:ext uri="{FF2B5EF4-FFF2-40B4-BE49-F238E27FC236}">
                <a16:creationId xmlns:a16="http://schemas.microsoft.com/office/drawing/2014/main" id="{770EBF97-0EBD-4E31-AAD5-0A200AAFC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961" y="2446868"/>
            <a:ext cx="10923084" cy="66515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6" name="Google Shape;73;p5">
            <a:extLst>
              <a:ext uri="{FF2B5EF4-FFF2-40B4-BE49-F238E27FC236}">
                <a16:creationId xmlns:a16="http://schemas.microsoft.com/office/drawing/2014/main" id="{19A002C5-0783-42E8-8DF2-EF84A669DE36}"/>
              </a:ext>
            </a:extLst>
          </p:cNvPr>
          <p:cNvSpPr/>
          <p:nvPr/>
        </p:nvSpPr>
        <p:spPr>
          <a:xfrm>
            <a:off x="3513864" y="708546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6000" b="1" dirty="0" err="1">
                <a:latin typeface="+mn-ea"/>
              </a:rPr>
              <a:t>만다라트</a:t>
            </a:r>
            <a:r>
              <a:rPr lang="ko-KR" altLang="en-US" sz="6000" b="1" dirty="0">
                <a:latin typeface="+mn-ea"/>
              </a:rPr>
              <a:t> 생성 페이지</a:t>
            </a:r>
            <a:r>
              <a:rPr lang="en-US" altLang="ko-KR" sz="6000" b="1" dirty="0">
                <a:latin typeface="+mn-ea"/>
              </a:rPr>
              <a:t>(2D)</a:t>
            </a:r>
          </a:p>
        </p:txBody>
      </p:sp>
      <p:sp>
        <p:nvSpPr>
          <p:cNvPr id="47" name="Google Shape;73;p5">
            <a:extLst>
              <a:ext uri="{FF2B5EF4-FFF2-40B4-BE49-F238E27FC236}">
                <a16:creationId xmlns:a16="http://schemas.microsoft.com/office/drawing/2014/main" id="{39C3A629-D68E-4E15-BA12-269C201A8291}"/>
              </a:ext>
            </a:extLst>
          </p:cNvPr>
          <p:cNvSpPr/>
          <p:nvPr/>
        </p:nvSpPr>
        <p:spPr>
          <a:xfrm>
            <a:off x="3283087" y="-160540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2B2B2B"/>
                </a:solidFill>
                <a:latin typeface="GmarketSans" pitchFamily="34" charset="0"/>
              </a:rPr>
              <a:t>핵심 기능 화면 설계</a:t>
            </a:r>
            <a:endParaRPr lang="en-US" altLang="ko-KR" sz="2000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1426CA5-285E-3974-1B59-974B1AEA1B87}"/>
              </a:ext>
            </a:extLst>
          </p:cNvPr>
          <p:cNvCxnSpPr>
            <a:cxnSpLocks/>
          </p:cNvCxnSpPr>
          <p:nvPr/>
        </p:nvCxnSpPr>
        <p:spPr>
          <a:xfrm flipH="1">
            <a:off x="11315700" y="3314700"/>
            <a:ext cx="2171700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Google Shape;73;p5">
            <a:extLst>
              <a:ext uri="{FF2B5EF4-FFF2-40B4-BE49-F238E27FC236}">
                <a16:creationId xmlns:a16="http://schemas.microsoft.com/office/drawing/2014/main" id="{679A5A8E-6C00-2105-F7FC-B007191CC369}"/>
              </a:ext>
            </a:extLst>
          </p:cNvPr>
          <p:cNvSpPr/>
          <p:nvPr/>
        </p:nvSpPr>
        <p:spPr>
          <a:xfrm>
            <a:off x="12884905" y="2834640"/>
            <a:ext cx="5191986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3600" b="1" dirty="0">
                <a:latin typeface="+mn-ea"/>
              </a:rPr>
              <a:t>목표 확대 기능</a:t>
            </a:r>
            <a:endParaRPr lang="en-US" altLang="ko-KR" sz="3600" b="1" dirty="0">
              <a:latin typeface="+mn-ea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B2C0CCA-C319-2F0A-5A6B-78449EF1507A}"/>
              </a:ext>
            </a:extLst>
          </p:cNvPr>
          <p:cNvCxnSpPr>
            <a:cxnSpLocks/>
          </p:cNvCxnSpPr>
          <p:nvPr/>
        </p:nvCxnSpPr>
        <p:spPr>
          <a:xfrm flipH="1">
            <a:off x="6781800" y="5943600"/>
            <a:ext cx="6419768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Google Shape;73;p5">
            <a:extLst>
              <a:ext uri="{FF2B5EF4-FFF2-40B4-BE49-F238E27FC236}">
                <a16:creationId xmlns:a16="http://schemas.microsoft.com/office/drawing/2014/main" id="{1D4F01C5-4157-F592-DAC6-15FC3C95472D}"/>
              </a:ext>
            </a:extLst>
          </p:cNvPr>
          <p:cNvSpPr/>
          <p:nvPr/>
        </p:nvSpPr>
        <p:spPr>
          <a:xfrm>
            <a:off x="13096014" y="5440794"/>
            <a:ext cx="5191986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3600" b="1" dirty="0">
                <a:latin typeface="+mn-ea"/>
              </a:rPr>
              <a:t>전체 </a:t>
            </a:r>
            <a:r>
              <a:rPr lang="ko-KR" altLang="en-US" sz="3600" b="1" dirty="0" err="1">
                <a:latin typeface="+mn-ea"/>
              </a:rPr>
              <a:t>만다라트</a:t>
            </a:r>
            <a:r>
              <a:rPr lang="ko-KR" altLang="en-US" sz="3600" b="1" dirty="0">
                <a:latin typeface="+mn-ea"/>
              </a:rPr>
              <a:t> 표시</a:t>
            </a:r>
            <a:endParaRPr lang="en-US" altLang="ko-KR" sz="3600" b="1" dirty="0">
              <a:latin typeface="+mn-ea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A8F1E94-D1B2-0AAB-3660-5E1CFF2E0962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10839450" y="7905750"/>
            <a:ext cx="2362118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Google Shape;73;p5">
            <a:extLst>
              <a:ext uri="{FF2B5EF4-FFF2-40B4-BE49-F238E27FC236}">
                <a16:creationId xmlns:a16="http://schemas.microsoft.com/office/drawing/2014/main" id="{1A83D054-7949-5D49-BD5D-4EF170F22909}"/>
              </a:ext>
            </a:extLst>
          </p:cNvPr>
          <p:cNvSpPr/>
          <p:nvPr/>
        </p:nvSpPr>
        <p:spPr>
          <a:xfrm>
            <a:off x="13201568" y="7425690"/>
            <a:ext cx="4980877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2800" b="1" dirty="0">
                <a:latin typeface="+mn-ea"/>
              </a:rPr>
              <a:t>과제 예시 추천 및 추가 기능</a:t>
            </a:r>
            <a:endParaRPr lang="en-US" altLang="ko-KR" sz="2800" b="1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3;p5">
            <a:extLst>
              <a:ext uri="{FF2B5EF4-FFF2-40B4-BE49-F238E27FC236}">
                <a16:creationId xmlns:a16="http://schemas.microsoft.com/office/drawing/2014/main" id="{C5B2BD08-69CD-46F8-845D-B16D4A91B208}"/>
              </a:ext>
            </a:extLst>
          </p:cNvPr>
          <p:cNvSpPr/>
          <p:nvPr/>
        </p:nvSpPr>
        <p:spPr>
          <a:xfrm>
            <a:off x="3283087" y="-160540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2000" b="1" dirty="0" err="1">
                <a:latin typeface="+mn-ea"/>
              </a:rPr>
              <a:t>만다라트</a:t>
            </a:r>
            <a:r>
              <a:rPr lang="ko-KR" altLang="en-US" sz="2000" b="1" dirty="0">
                <a:latin typeface="+mn-ea"/>
              </a:rPr>
              <a:t> 생성 페이지</a:t>
            </a:r>
            <a:r>
              <a:rPr lang="en-US" altLang="ko-KR" sz="2000" b="1" dirty="0">
                <a:latin typeface="+mn-ea"/>
              </a:rPr>
              <a:t>(2D)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80353E-D9CB-4142-B2C5-45A929DB0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139" y="559532"/>
            <a:ext cx="15893394" cy="896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901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3;p5">
            <a:extLst>
              <a:ext uri="{FF2B5EF4-FFF2-40B4-BE49-F238E27FC236}">
                <a16:creationId xmlns:a16="http://schemas.microsoft.com/office/drawing/2014/main" id="{B70D079B-1CAD-4F4B-B918-A0639E5B6687}"/>
              </a:ext>
            </a:extLst>
          </p:cNvPr>
          <p:cNvSpPr/>
          <p:nvPr/>
        </p:nvSpPr>
        <p:spPr>
          <a:xfrm>
            <a:off x="3513864" y="708546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4800" b="1" dirty="0" err="1">
                <a:latin typeface="+mn-ea"/>
              </a:rPr>
              <a:t>만다라트</a:t>
            </a:r>
            <a:r>
              <a:rPr lang="ko-KR" altLang="en-US" sz="4800" b="1" dirty="0">
                <a:latin typeface="+mn-ea"/>
              </a:rPr>
              <a:t> 생성 페이지</a:t>
            </a:r>
            <a:r>
              <a:rPr lang="en-US" altLang="ko-KR" sz="4800" b="1" dirty="0">
                <a:latin typeface="+mn-ea"/>
              </a:rPr>
              <a:t>(</a:t>
            </a:r>
            <a:r>
              <a:rPr lang="ko-KR" altLang="en-US" sz="4800" b="1" dirty="0">
                <a:latin typeface="+mn-ea"/>
              </a:rPr>
              <a:t>태스크 수동 입력</a:t>
            </a:r>
            <a:r>
              <a:rPr lang="en-US" altLang="ko-KR" sz="4800" b="1" dirty="0">
                <a:latin typeface="+mn-ea"/>
              </a:rPr>
              <a:t>)</a:t>
            </a:r>
          </a:p>
        </p:txBody>
      </p:sp>
      <p:sp>
        <p:nvSpPr>
          <p:cNvPr id="7" name="Google Shape;73;p5">
            <a:extLst>
              <a:ext uri="{FF2B5EF4-FFF2-40B4-BE49-F238E27FC236}">
                <a16:creationId xmlns:a16="http://schemas.microsoft.com/office/drawing/2014/main" id="{C5B2BD08-69CD-46F8-845D-B16D4A91B208}"/>
              </a:ext>
            </a:extLst>
          </p:cNvPr>
          <p:cNvSpPr/>
          <p:nvPr/>
        </p:nvSpPr>
        <p:spPr>
          <a:xfrm>
            <a:off x="3283087" y="-160540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2B2B2B"/>
                </a:solidFill>
                <a:latin typeface="GmarketSans" pitchFamily="34" charset="0"/>
              </a:rPr>
              <a:t>핵심 기능 화면 설계</a:t>
            </a:r>
            <a:endParaRPr lang="en-US" altLang="ko-KR" sz="20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68198E8-5A6B-4C06-BDEA-BC1E75EFD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087" y="2188807"/>
            <a:ext cx="5471327" cy="71220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532B3BCA-4104-B2BC-1B87-9795BF99FB8D}"/>
              </a:ext>
            </a:extLst>
          </p:cNvPr>
          <p:cNvCxnSpPr>
            <a:cxnSpLocks/>
          </p:cNvCxnSpPr>
          <p:nvPr/>
        </p:nvCxnSpPr>
        <p:spPr>
          <a:xfrm flipH="1">
            <a:off x="4514850" y="3448050"/>
            <a:ext cx="7105650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Google Shape;73;p5">
            <a:extLst>
              <a:ext uri="{FF2B5EF4-FFF2-40B4-BE49-F238E27FC236}">
                <a16:creationId xmlns:a16="http://schemas.microsoft.com/office/drawing/2014/main" id="{3AA0562A-8E46-207E-C692-842940E244AB}"/>
              </a:ext>
            </a:extLst>
          </p:cNvPr>
          <p:cNvSpPr/>
          <p:nvPr/>
        </p:nvSpPr>
        <p:spPr>
          <a:xfrm>
            <a:off x="10839450" y="2967990"/>
            <a:ext cx="5191986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3200" b="1" dirty="0">
                <a:latin typeface="+mn-ea"/>
              </a:rPr>
              <a:t>속한 세부 목표</a:t>
            </a:r>
            <a:endParaRPr lang="en-US" altLang="ko-KR" sz="3200" b="1" dirty="0">
              <a:latin typeface="+mn-ea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8B925E7-B212-FA70-68E5-223A5AC54208}"/>
              </a:ext>
            </a:extLst>
          </p:cNvPr>
          <p:cNvCxnSpPr>
            <a:cxnSpLocks/>
          </p:cNvCxnSpPr>
          <p:nvPr/>
        </p:nvCxnSpPr>
        <p:spPr>
          <a:xfrm flipH="1">
            <a:off x="8279804" y="4400550"/>
            <a:ext cx="33406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Google Shape;73;p5">
            <a:extLst>
              <a:ext uri="{FF2B5EF4-FFF2-40B4-BE49-F238E27FC236}">
                <a16:creationId xmlns:a16="http://schemas.microsoft.com/office/drawing/2014/main" id="{236E4973-0DD4-0677-9F77-442C4E8BC41D}"/>
              </a:ext>
            </a:extLst>
          </p:cNvPr>
          <p:cNvSpPr/>
          <p:nvPr/>
        </p:nvSpPr>
        <p:spPr>
          <a:xfrm>
            <a:off x="11109543" y="3928110"/>
            <a:ext cx="5191986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3200" b="1" dirty="0">
                <a:latin typeface="+mn-ea"/>
              </a:rPr>
              <a:t>세부과제명 입력란</a:t>
            </a:r>
            <a:endParaRPr lang="en-US" altLang="ko-KR" sz="3200" b="1" dirty="0">
              <a:latin typeface="+mn-ea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D87B429-4864-5C5C-036F-90285A008128}"/>
              </a:ext>
            </a:extLst>
          </p:cNvPr>
          <p:cNvCxnSpPr>
            <a:cxnSpLocks/>
          </p:cNvCxnSpPr>
          <p:nvPr/>
        </p:nvCxnSpPr>
        <p:spPr>
          <a:xfrm flipH="1">
            <a:off x="8279804" y="5806979"/>
            <a:ext cx="33406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Google Shape;73;p5">
            <a:extLst>
              <a:ext uri="{FF2B5EF4-FFF2-40B4-BE49-F238E27FC236}">
                <a16:creationId xmlns:a16="http://schemas.microsoft.com/office/drawing/2014/main" id="{2B630D89-B5D6-8D75-4A64-3F475D848AF7}"/>
              </a:ext>
            </a:extLst>
          </p:cNvPr>
          <p:cNvSpPr/>
          <p:nvPr/>
        </p:nvSpPr>
        <p:spPr>
          <a:xfrm>
            <a:off x="10839450" y="5326919"/>
            <a:ext cx="4980877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3200" b="1" dirty="0">
                <a:latin typeface="+mn-ea"/>
              </a:rPr>
              <a:t>마감 기한 설정</a:t>
            </a:r>
            <a:endParaRPr lang="en-US" altLang="ko-KR" sz="3200" b="1" dirty="0"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08AE5C1-14BB-5BC0-9242-7DC71E63136C}"/>
              </a:ext>
            </a:extLst>
          </p:cNvPr>
          <p:cNvCxnSpPr>
            <a:cxnSpLocks/>
          </p:cNvCxnSpPr>
          <p:nvPr/>
        </p:nvCxnSpPr>
        <p:spPr>
          <a:xfrm flipH="1">
            <a:off x="8279804" y="7821496"/>
            <a:ext cx="33406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Google Shape;73;p5">
            <a:extLst>
              <a:ext uri="{FF2B5EF4-FFF2-40B4-BE49-F238E27FC236}">
                <a16:creationId xmlns:a16="http://schemas.microsoft.com/office/drawing/2014/main" id="{26B7059A-A0D2-1535-E19E-94274B30009F}"/>
              </a:ext>
            </a:extLst>
          </p:cNvPr>
          <p:cNvSpPr/>
          <p:nvPr/>
        </p:nvSpPr>
        <p:spPr>
          <a:xfrm>
            <a:off x="11620500" y="7341436"/>
            <a:ext cx="4980877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3200" b="1">
                <a:latin typeface="+mn-ea"/>
              </a:rPr>
              <a:t>세부과제 목표 횟수 설정</a:t>
            </a:r>
            <a:endParaRPr lang="en-US" altLang="ko-KR" sz="3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97874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00390C-6BE3-4814-A632-F36F85CDE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88" y="2277533"/>
            <a:ext cx="11161312" cy="70553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Google Shape;73;p5">
            <a:extLst>
              <a:ext uri="{FF2B5EF4-FFF2-40B4-BE49-F238E27FC236}">
                <a16:creationId xmlns:a16="http://schemas.microsoft.com/office/drawing/2014/main" id="{B70D079B-1CAD-4F4B-B918-A0639E5B6687}"/>
              </a:ext>
            </a:extLst>
          </p:cNvPr>
          <p:cNvSpPr/>
          <p:nvPr/>
        </p:nvSpPr>
        <p:spPr>
          <a:xfrm>
            <a:off x="3513864" y="708546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6000" b="1" dirty="0" err="1">
                <a:latin typeface="+mn-ea"/>
              </a:rPr>
              <a:t>만다라트</a:t>
            </a:r>
            <a:r>
              <a:rPr lang="ko-KR" altLang="en-US" sz="6000" b="1" dirty="0">
                <a:latin typeface="+mn-ea"/>
              </a:rPr>
              <a:t> 생성 페이지</a:t>
            </a:r>
            <a:r>
              <a:rPr lang="en-US" altLang="ko-KR" sz="6000" b="1" dirty="0">
                <a:latin typeface="+mn-ea"/>
              </a:rPr>
              <a:t>(3D)</a:t>
            </a:r>
          </a:p>
        </p:txBody>
      </p:sp>
      <p:sp>
        <p:nvSpPr>
          <p:cNvPr id="7" name="Google Shape;73;p5">
            <a:extLst>
              <a:ext uri="{FF2B5EF4-FFF2-40B4-BE49-F238E27FC236}">
                <a16:creationId xmlns:a16="http://schemas.microsoft.com/office/drawing/2014/main" id="{C5B2BD08-69CD-46F8-845D-B16D4A91B208}"/>
              </a:ext>
            </a:extLst>
          </p:cNvPr>
          <p:cNvSpPr/>
          <p:nvPr/>
        </p:nvSpPr>
        <p:spPr>
          <a:xfrm>
            <a:off x="3283087" y="-160540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2B2B2B"/>
                </a:solidFill>
                <a:latin typeface="GmarketSans" pitchFamily="34" charset="0"/>
              </a:rPr>
              <a:t>핵심 기능 화면 설계</a:t>
            </a:r>
            <a:endParaRPr lang="en-US" altLang="ko-KR" sz="2000" dirty="0"/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A38809DA-CDAA-1B5A-A848-2DE899761B78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1399507" y="4074891"/>
            <a:ext cx="1478293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Google Shape;73;p5">
            <a:extLst>
              <a:ext uri="{FF2B5EF4-FFF2-40B4-BE49-F238E27FC236}">
                <a16:creationId xmlns:a16="http://schemas.microsoft.com/office/drawing/2014/main" id="{9E100F0D-F975-1DB0-0644-0F398E11E26A}"/>
              </a:ext>
            </a:extLst>
          </p:cNvPr>
          <p:cNvSpPr/>
          <p:nvPr/>
        </p:nvSpPr>
        <p:spPr>
          <a:xfrm>
            <a:off x="12877800" y="3594831"/>
            <a:ext cx="424441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3200" b="1" dirty="0">
                <a:latin typeface="+mn-ea"/>
              </a:rPr>
              <a:t>3D </a:t>
            </a:r>
            <a:r>
              <a:rPr lang="ko-KR" altLang="en-US" sz="3200" b="1" dirty="0">
                <a:latin typeface="+mn-ea"/>
              </a:rPr>
              <a:t>프리뷰 기능</a:t>
            </a:r>
            <a:endParaRPr lang="en-US" altLang="ko-KR" sz="3200" b="1" dirty="0">
              <a:latin typeface="+mn-ea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0B74C59-B6D5-A4DD-26DF-E650E4062682}"/>
              </a:ext>
            </a:extLst>
          </p:cNvPr>
          <p:cNvCxnSpPr>
            <a:cxnSpLocks/>
          </p:cNvCxnSpPr>
          <p:nvPr/>
        </p:nvCxnSpPr>
        <p:spPr>
          <a:xfrm flipH="1">
            <a:off x="11894807" y="5799359"/>
            <a:ext cx="781050" cy="584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Google Shape;73;p5">
            <a:extLst>
              <a:ext uri="{FF2B5EF4-FFF2-40B4-BE49-F238E27FC236}">
                <a16:creationId xmlns:a16="http://schemas.microsoft.com/office/drawing/2014/main" id="{DCC4C57D-71FF-8540-0613-96E4EC41BECD}"/>
              </a:ext>
            </a:extLst>
          </p:cNvPr>
          <p:cNvSpPr/>
          <p:nvPr/>
        </p:nvSpPr>
        <p:spPr>
          <a:xfrm>
            <a:off x="12675857" y="5495751"/>
            <a:ext cx="5191986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2800" b="1" dirty="0">
                <a:latin typeface="+mn-ea"/>
              </a:rPr>
              <a:t>설치 가능 건물 표시</a:t>
            </a:r>
            <a:r>
              <a:rPr lang="en-US" altLang="ko-KR" sz="2800" b="1" dirty="0">
                <a:latin typeface="+mn-ea"/>
              </a:rPr>
              <a:t>,</a:t>
            </a:r>
            <a:br>
              <a:rPr lang="en-US" altLang="ko-KR" sz="2800" b="1" dirty="0">
                <a:latin typeface="+mn-ea"/>
              </a:rPr>
            </a:br>
            <a:r>
              <a:rPr lang="ko-KR" altLang="en-US" sz="2800" b="1" dirty="0">
                <a:latin typeface="+mn-ea"/>
              </a:rPr>
              <a:t>드래그 앤 드랍으로 배정</a:t>
            </a:r>
            <a:endParaRPr lang="en-US" altLang="ko-KR" sz="2800" b="1" dirty="0">
              <a:latin typeface="+mn-ea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FD2CDEC-62ED-5A0B-6B80-EC6A00C5C53A}"/>
              </a:ext>
            </a:extLst>
          </p:cNvPr>
          <p:cNvCxnSpPr>
            <a:cxnSpLocks/>
          </p:cNvCxnSpPr>
          <p:nvPr/>
        </p:nvCxnSpPr>
        <p:spPr>
          <a:xfrm flipH="1">
            <a:off x="7141272" y="2957638"/>
            <a:ext cx="5534585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Google Shape;73;p5">
            <a:extLst>
              <a:ext uri="{FF2B5EF4-FFF2-40B4-BE49-F238E27FC236}">
                <a16:creationId xmlns:a16="http://schemas.microsoft.com/office/drawing/2014/main" id="{E84241EA-D548-AA6D-AC64-5F2363325406}"/>
              </a:ext>
            </a:extLst>
          </p:cNvPr>
          <p:cNvSpPr/>
          <p:nvPr/>
        </p:nvSpPr>
        <p:spPr>
          <a:xfrm>
            <a:off x="12675857" y="2506303"/>
            <a:ext cx="4980877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3200" b="1" dirty="0">
                <a:latin typeface="+mn-ea"/>
              </a:rPr>
              <a:t>3D </a:t>
            </a:r>
            <a:r>
              <a:rPr lang="ko-KR" altLang="en-US" sz="3200" b="1" dirty="0">
                <a:latin typeface="+mn-ea"/>
              </a:rPr>
              <a:t>건물 </a:t>
            </a:r>
            <a:r>
              <a:rPr lang="ko-KR" altLang="en-US" sz="3200" b="1" dirty="0" err="1">
                <a:latin typeface="+mn-ea"/>
              </a:rPr>
              <a:t>만다라트</a:t>
            </a:r>
            <a:endParaRPr lang="en-US" altLang="ko-KR" sz="3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1522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3;p5">
            <a:extLst>
              <a:ext uri="{FF2B5EF4-FFF2-40B4-BE49-F238E27FC236}">
                <a16:creationId xmlns:a16="http://schemas.microsoft.com/office/drawing/2014/main" id="{B70D079B-1CAD-4F4B-B918-A0639E5B6687}"/>
              </a:ext>
            </a:extLst>
          </p:cNvPr>
          <p:cNvSpPr/>
          <p:nvPr/>
        </p:nvSpPr>
        <p:spPr>
          <a:xfrm>
            <a:off x="3513864" y="708546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ko-KR" altLang="en-US" sz="6000" b="1" dirty="0" err="1">
                <a:latin typeface="+mn-ea"/>
              </a:rPr>
              <a:t>만다라트</a:t>
            </a:r>
            <a:r>
              <a:rPr lang="ko-KR" altLang="en-US" sz="6000" b="1" dirty="0">
                <a:latin typeface="+mn-ea"/>
              </a:rPr>
              <a:t> 상세 페이지</a:t>
            </a:r>
            <a:endParaRPr lang="en-US" altLang="ko-KR" sz="6000" b="1" dirty="0">
              <a:latin typeface="+mn-ea"/>
            </a:endParaRPr>
          </a:p>
        </p:txBody>
      </p:sp>
      <p:sp>
        <p:nvSpPr>
          <p:cNvPr id="7" name="Google Shape;73;p5">
            <a:extLst>
              <a:ext uri="{FF2B5EF4-FFF2-40B4-BE49-F238E27FC236}">
                <a16:creationId xmlns:a16="http://schemas.microsoft.com/office/drawing/2014/main" id="{C5B2BD08-69CD-46F8-845D-B16D4A91B208}"/>
              </a:ext>
            </a:extLst>
          </p:cNvPr>
          <p:cNvSpPr/>
          <p:nvPr/>
        </p:nvSpPr>
        <p:spPr>
          <a:xfrm>
            <a:off x="3283087" y="-160540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2B2B2B"/>
                </a:solidFill>
                <a:latin typeface="GmarketSans" pitchFamily="34" charset="0"/>
              </a:rPr>
              <a:t>핵심 기능 화면 설계</a:t>
            </a: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4B01AF-4AB8-47C9-ADA7-3107CFA46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20" y="1728564"/>
            <a:ext cx="13617647" cy="77139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D3E7BD4-1AFB-4500-A988-AB700632C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864" y="1847097"/>
            <a:ext cx="14351159" cy="815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76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/>
          <p:cNvPicPr>
            <a:picLocks noChangeAspect="1"/>
          </p:cNvPicPr>
          <p:nvPr/>
        </p:nvPicPr>
        <p:blipFill rotWithShape="1">
          <a:blip r:embed="rId3"/>
          <a:srcRect l="-26630" r="-26630"/>
          <a:stretch>
            <a:fillRect/>
          </a:stretch>
        </p:blipFill>
        <p:spPr>
          <a:xfrm>
            <a:off x="952500" y="2146300"/>
            <a:ext cx="16383000" cy="6394450"/>
          </a:xfrm>
          <a:prstGeom prst="rect">
            <a:avLst/>
          </a:prstGeom>
        </p:spPr>
      </p:pic>
      <p:sp>
        <p:nvSpPr>
          <p:cNvPr id="11" name="Shape 9"/>
          <p:cNvSpPr/>
          <p:nvPr/>
        </p:nvSpPr>
        <p:spPr>
          <a:xfrm>
            <a:off x="952500" y="2146300"/>
            <a:ext cx="16383000" cy="6394450"/>
          </a:xfrm>
          <a:prstGeom prst="roundRect">
            <a:avLst>
              <a:gd name="adj" fmla="val 2383"/>
            </a:avLst>
          </a:prstGeom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3" name="Google Shape;73;p5"/>
          <p:cNvSpPr/>
          <p:nvPr/>
        </p:nvSpPr>
        <p:spPr>
          <a:xfrm>
            <a:off x="3513864" y="708546"/>
            <a:ext cx="11967034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buNone/>
              <a:defRPr/>
            </a:pPr>
            <a:r>
              <a:rPr lang="en-US" altLang="ko-KR" sz="6000" b="1">
                <a:solidFill>
                  <a:srgbClr val="2b2b2b"/>
                </a:solidFill>
                <a:latin typeface="GmarketSans"/>
                <a:ea typeface="GmarketSans"/>
                <a:cs typeface="GmarketSans"/>
              </a:rPr>
              <a:t>기술 아키텍처 구성</a:t>
            </a:r>
            <a:endParaRPr lang="en-US" altLang="ko-KR" sz="6000"/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842248" y="2446133"/>
            <a:ext cx="470586" cy="471322"/>
          </a:xfrm>
          <a:prstGeom prst="rect">
            <a:avLst/>
          </a:prstGeom>
        </p:spPr>
      </p:pic>
      <p:pic>
        <p:nvPicPr>
          <p:cNvPr id="16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204488" y="7384853"/>
            <a:ext cx="530602" cy="530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8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52500" y="3441700"/>
            <a:ext cx="1030128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FBE3C4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AI 목표 설계 · 자라나는 도시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52500" y="4038600"/>
            <a:ext cx="110013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005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만다린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952500" y="5257800"/>
            <a:ext cx="11001375" cy="6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FFFFFF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목표를 세우면, 도시가 자랍니다.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952500" y="6356350"/>
            <a:ext cx="10301288" cy="52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BE3C4"/>
                </a:solidFill>
                <a:latin typeface="GmarketSans" pitchFamily="34" charset="0"/>
                <a:ea typeface="GmarketSans" pitchFamily="34" charset="-122"/>
                <a:cs typeface="GmarketSans" pitchFamily="34" charset="-120"/>
              </a:rPr>
              <a:t>끝까지 관심 가져주셔서 감사합니다.</a:t>
            </a:r>
            <a:endParaRPr lang="en-US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2E8CE66-DA68-9F70-B8CC-CFC9E8F50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850" y="1824037"/>
            <a:ext cx="9734550" cy="7425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752</ep:Words>
  <ep:PresentationFormat>사용자 지정</ep:PresentationFormat>
  <ep:Paragraphs>214</ep:Paragraphs>
  <ep:Slides>28</ep:Slides>
  <ep:Notes>28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ep:HeadingPairs>
  <ep:TitlesOfParts>
    <vt:vector size="29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2026-07-23T03:00:28.000</dcterms:created>
  <dc:creator>PptxGenJS</dc:creator>
  <cp:lastModifiedBy>jhsun</cp:lastModifiedBy>
  <dcterms:modified xsi:type="dcterms:W3CDTF">2026-07-23T12:16:41.994</dcterms:modified>
  <cp:revision>32</cp:revision>
  <dc:subject>PptxGenJS Presentation</dc:subject>
  <dc:title>PptxGenJS Presentation</dc:title>
  <cp:version/>
</cp:coreProperties>
</file>