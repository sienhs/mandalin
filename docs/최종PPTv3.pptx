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6" r:id="rId1"/>
  </p:sldMasterIdLst>
  <p:notesMasterIdLst>
    <p:notesMasterId r:id="rId23"/>
  </p:notesMasterIdLst>
  <p:sldIdLst>
    <p:sldId id="347" r:id="rId2"/>
    <p:sldId id="348" r:id="rId3"/>
    <p:sldId id="349" r:id="rId4"/>
    <p:sldId id="340" r:id="rId5"/>
    <p:sldId id="327" r:id="rId6"/>
    <p:sldId id="329" r:id="rId7"/>
    <p:sldId id="331" r:id="rId8"/>
    <p:sldId id="359" r:id="rId9"/>
    <p:sldId id="342" r:id="rId10"/>
    <p:sldId id="332" r:id="rId11"/>
    <p:sldId id="351" r:id="rId12"/>
    <p:sldId id="350" r:id="rId13"/>
    <p:sldId id="361" r:id="rId14"/>
    <p:sldId id="352" r:id="rId15"/>
    <p:sldId id="353" r:id="rId16"/>
    <p:sldId id="354" r:id="rId17"/>
    <p:sldId id="355" r:id="rId18"/>
    <p:sldId id="356" r:id="rId19"/>
    <p:sldId id="357" r:id="rId20"/>
    <p:sldId id="358" r:id="rId21"/>
    <p:sldId id="360" r:id="rId2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B1F"/>
    <a:srgbClr val="F2F0EC"/>
    <a:srgbClr val="FFF4ED"/>
    <a:srgbClr val="F1C17E"/>
    <a:srgbClr val="FDF3E7"/>
    <a:srgbClr val="2B1400"/>
    <a:srgbClr val="F20079"/>
    <a:srgbClr val="B33A76"/>
    <a:srgbClr val="3A2100"/>
    <a:srgbClr val="FCE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446" autoAdjust="0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760" y="6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오프닝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5A22-2728-21AF-960D-FB1DF5FEB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70F5A-CB3E-38FA-7DB4-DC94BACF8F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CC79BB-97C2-1C33-75D6-2ADF08B07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서비스의 핵심 개념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9A673-28D3-8D6B-4798-79B724757C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34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D091C-8B98-DD8E-F408-1D3AC886F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678500-7511-C7B1-1448-649CDA9FC0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A03E2-BFC1-16DA-AD5C-52E69428A5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서비스의 한 줄 소개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23AB2-E76D-E9D9-53F4-10DDDD79CC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15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865E4-6059-5944-455C-E7595BBD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DF990-ACC9-EC5F-D5D8-206E0165CE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3E7CD-D9F8-F4D6-2F6C-206267F17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목차 소개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F6D4B-A351-835F-5845-457705206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16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8918-5AE0-CB54-2D16-3526F2618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06CA4-6E5E-D47D-2588-F7B28A48CA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37D252-193B-C04F-89E1-50FBC3A78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만다라트란</a:t>
            </a:r>
            <a:r>
              <a:rPr lang="ko-KR" altLang="en-US" dirty="0"/>
              <a:t> 무엇인가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2E03D-4A6B-4EF1-9655-5BAA316B2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26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2EB77-E9AE-BA25-627A-32B6C4DE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27103A-50D6-0C1C-AC11-BFA6B82908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EC2182-14DC-0FB0-53EA-4673041F00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사람들이 목표를 실패한 이유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1E633-F68E-1B08-2F78-644546E5F5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17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02FB-55BA-CAB1-1784-E0B9E4C7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F3CD0-A634-419A-4C7F-64AAC267D1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6D4E9-6AD8-D888-A765-B4C48C739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D762-B8E1-2F75-AC03-CB71A1F62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6713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02FB-55BA-CAB1-1784-E0B9E4C74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F3CD0-A634-419A-4C7F-64AAC267D1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6D4E9-6AD8-D888-A765-B4C48C739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7D762-B8E1-2F75-AC03-CB71A1F623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07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1369E-2068-0F8C-F378-0CC4E556E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47460-4A1B-7A14-5E28-79370825FF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4BB7B-D0D7-6EDB-9C52-793DC944AA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사람들이 목표를 실패하는 이유 </a:t>
            </a:r>
            <a:r>
              <a:rPr lang="en-US" altLang="ko-KR" dirty="0"/>
              <a:t>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B85C0-0A11-2024-8111-E77294D5F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971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기존 목표관리 도구의 한계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07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수치 자료가 부족하여 저희는 설문조사를 실시했습니다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3103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우리의 해결 방법 </a:t>
            </a:r>
            <a:r>
              <a:rPr lang="en-US" altLang="ko-KR" dirty="0"/>
              <a:t>: SAP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8778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우리의 해결 방법 </a:t>
            </a:r>
            <a:r>
              <a:rPr lang="en-US" altLang="ko-KR" dirty="0"/>
              <a:t>: SAP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48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설문 </a:t>
            </a:r>
            <a:r>
              <a:rPr lang="en-US" altLang="ko-KR" dirty="0"/>
              <a:t>1.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388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설문 </a:t>
            </a:r>
            <a:r>
              <a:rPr lang="en-US" altLang="ko-KR" dirty="0"/>
              <a:t>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622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설문 </a:t>
            </a:r>
            <a:r>
              <a:rPr lang="en-US" altLang="ko-KR" dirty="0"/>
              <a:t>3.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33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설문 </a:t>
            </a:r>
            <a:r>
              <a:rPr lang="en-US" altLang="ko-KR" dirty="0"/>
              <a:t>4.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30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기술 </a:t>
            </a:r>
            <a:r>
              <a:rPr lang="en-US" altLang="ko-KR" dirty="0"/>
              <a:t>1.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3038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기술 </a:t>
            </a:r>
            <a:r>
              <a:rPr lang="en-US" altLang="ko-KR" dirty="0"/>
              <a:t>2.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628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기술 </a:t>
            </a:r>
            <a:r>
              <a:rPr lang="en-US" altLang="ko-KR" dirty="0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999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42D-5510-0847-C026-3BBB53A3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EFFC2-BDA1-1839-F494-544676193E7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FB026-AF95-C979-2DBF-FB9D41752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실제 서비스 화면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272A6D-4982-13D1-732F-1F0520ECE7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35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9pPr>
    </p:bodyStyle>
    <p:otherStyle>
      <a:defPPr>
        <a:defRPr lang="en-US" spc="-100"/>
      </a:defPPr>
      <a:lvl1pPr marL="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1pPr>
      <a:lvl2pPr marL="4572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2pPr>
      <a:lvl3pPr marL="9144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3pPr>
      <a:lvl4pPr marL="13716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4pPr>
      <a:lvl5pPr marL="18288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5pPr>
      <a:lvl6pPr marL="22860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6pPr>
      <a:lvl7pPr marL="27432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7pPr>
      <a:lvl8pPr marL="32004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8pPr>
      <a:lvl9pPr marL="3657600" algn="l" defTabSz="914400" rtl="0" eaLnBrk="1" latinLnBrk="0" hangingPunct="1">
        <a:defRPr sz="1800" kern="1200" spc="-100">
          <a:solidFill>
            <a:schemeClr val="tx1"/>
          </a:solidFill>
          <a:latin typeface="나눔스퀘어 네오 Heavy"/>
          <a:ea typeface="나눔스퀘어 네오 Heavy"/>
          <a:cs typeface="나눔스퀘어 네오 Heavy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0405ADD-F2B5-DA45-712F-B3237DE8094C}"/>
              </a:ext>
            </a:extLst>
          </p:cNvPr>
          <p:cNvSpPr/>
          <p:nvPr/>
        </p:nvSpPr>
        <p:spPr>
          <a:xfrm>
            <a:off x="3518375" y="4624884"/>
            <a:ext cx="11251247" cy="1113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en-US" sz="9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MANDAL-IN</a:t>
            </a:r>
            <a:endParaRPr lang="en-US" sz="9600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8" name="Text 5"/>
          <p:cNvSpPr/>
          <p:nvPr/>
        </p:nvSpPr>
        <p:spPr>
          <a:xfrm>
            <a:off x="5908035" y="9305693"/>
            <a:ext cx="647193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정희성</a:t>
            </a:r>
            <a:r>
              <a:rPr lang="en-US" sz="18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 · 권병수 · 김재현 · 이성현 · 지성근 · 황우찬</a:t>
            </a:r>
            <a:endParaRPr lang="en-US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  <a:cs typeface="나눔스퀘어 네오 Heavy" pitchFamily="34" charset="-120"/>
            </a:endParaRPr>
          </a:p>
          <a:p>
            <a:pPr marL="0" indent="0" algn="ctr">
              <a:buNone/>
            </a:pPr>
            <a:endParaRPr lang="en-US" sz="18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모델 8">
                <a:extLst>
                  <a:ext uri="{FF2B5EF4-FFF2-40B4-BE49-F238E27FC236}">
                    <a16:creationId xmlns:a16="http://schemas.microsoft.com/office/drawing/2014/main" id="{3BCC8FAC-444F-0437-A84B-69ECE4ADA7E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92402" y="5086103"/>
              <a:ext cx="112717" cy="114793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12717" cy="114793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316876" ay="-1" az="-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418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모델 8">
                <a:extLst>
                  <a:ext uri="{FF2B5EF4-FFF2-40B4-BE49-F238E27FC236}">
                    <a16:creationId xmlns:a16="http://schemas.microsoft.com/office/drawing/2014/main" id="{3BCC8FAC-444F-0437-A84B-69ECE4ADA7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92402" y="5086103"/>
                <a:ext cx="112717" cy="114793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5">
            <a:extLst>
              <a:ext uri="{FF2B5EF4-FFF2-40B4-BE49-F238E27FC236}">
                <a16:creationId xmlns:a16="http://schemas.microsoft.com/office/drawing/2014/main" id="{0AE6DA0A-747F-D20F-C625-48844BF75717}"/>
              </a:ext>
            </a:extLst>
          </p:cNvPr>
          <p:cNvSpPr/>
          <p:nvPr/>
        </p:nvSpPr>
        <p:spPr>
          <a:xfrm>
            <a:off x="8483960" y="8914029"/>
            <a:ext cx="132007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ko-KR" altLang="en-US" sz="1800" b="1" spc="-10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팀　</a:t>
            </a:r>
            <a:r>
              <a:rPr lang="ko-KR" altLang="en-US" sz="18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일오다</a:t>
            </a:r>
            <a:endParaRPr lang="en-US" sz="18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5149703-4B49-6184-9304-5DA53624423B}"/>
              </a:ext>
            </a:extLst>
          </p:cNvPr>
          <p:cNvSpPr/>
          <p:nvPr/>
        </p:nvSpPr>
        <p:spPr>
          <a:xfrm>
            <a:off x="1588928" y="6007024"/>
            <a:ext cx="15110140" cy="102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ko-KR" altLang="en-US" sz="48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사람들을 </a:t>
            </a:r>
            <a:r>
              <a:rPr lang="ko-KR" altLang="en-US" sz="48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만다라트에</a:t>
            </a:r>
            <a:r>
              <a:rPr lang="ko-KR" altLang="en-US" sz="48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참여시키겠다</a:t>
            </a:r>
            <a:endParaRPr lang="en-US" sz="48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633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D479F-993B-81F2-5205-7F2D38036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34C0B17E-43C9-414A-27E8-CB007DF113F7}"/>
              </a:ext>
            </a:extLst>
          </p:cNvPr>
          <p:cNvSpPr/>
          <p:nvPr/>
        </p:nvSpPr>
        <p:spPr>
          <a:xfrm>
            <a:off x="-139179436" y="-14170760"/>
            <a:ext cx="395833600" cy="383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en-US" sz="400000" b="1" spc="-100" dirty="0">
                <a:solidFill>
                  <a:srgbClr val="3A2100"/>
                </a:solidFill>
                <a:latin typeface="나눔스퀘어 네오 OTF Bold" panose="00000800000000000000" pitchFamily="50" charset="-127"/>
                <a:ea typeface="나눔스퀘어 네오 OTF Bold" panose="00000800000000000000" pitchFamily="50" charset="-127"/>
                <a:cs typeface="나눔스퀘어 네오 Heavy" pitchFamily="34" charset="-120"/>
              </a:rPr>
              <a:t>MANDAL-IN</a:t>
            </a:r>
            <a:endParaRPr lang="en-US" sz="400000" spc="-100" dirty="0">
              <a:solidFill>
                <a:srgbClr val="3A2100"/>
              </a:solidFill>
              <a:latin typeface="나눔스퀘어 네오 OTF Bold" panose="00000800000000000000" pitchFamily="50" charset="-127"/>
              <a:ea typeface="나눔스퀘어 네오 OTF Bold" panose="00000800000000000000" pitchFamily="50" charset="-127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E5B48FE-2B72-B952-BA95-5A29A6695E26}"/>
              </a:ext>
            </a:extLst>
          </p:cNvPr>
          <p:cNvSpPr/>
          <p:nvPr/>
        </p:nvSpPr>
        <p:spPr>
          <a:xfrm>
            <a:off x="739460" y="1906940"/>
            <a:ext cx="8099740" cy="102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ko-KR" altLang="en-US" sz="88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목표를 실천하면</a:t>
            </a:r>
            <a:endParaRPr lang="en-US" sz="88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3E4974-DEB6-3197-205B-A57B6F4717C9}"/>
              </a:ext>
            </a:extLst>
          </p:cNvPr>
          <p:cNvSpPr/>
          <p:nvPr/>
        </p:nvSpPr>
        <p:spPr>
          <a:xfrm>
            <a:off x="1845311" y="3004665"/>
            <a:ext cx="6428398" cy="1027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마을이 자란다</a:t>
            </a:r>
            <a:endParaRPr lang="en-US" sz="8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모델 8">
                <a:extLst>
                  <a:ext uri="{FF2B5EF4-FFF2-40B4-BE49-F238E27FC236}">
                    <a16:creationId xmlns:a16="http://schemas.microsoft.com/office/drawing/2014/main" id="{3BCC8FAC-444F-0437-A84B-69ECE4ADA7E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71296740"/>
                  </p:ext>
                </p:extLst>
              </p:nvPr>
            </p:nvGraphicFramePr>
            <p:xfrm>
              <a:off x="4764751" y="-1481332"/>
              <a:ext cx="14198494" cy="1216339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198494" cy="12163390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0802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모델 8">
                <a:extLst>
                  <a:ext uri="{FF2B5EF4-FFF2-40B4-BE49-F238E27FC236}">
                    <a16:creationId xmlns:a16="http://schemas.microsoft.com/office/drawing/2014/main" id="{3BCC8FAC-444F-0437-A84B-69ECE4ADA7E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4751" y="-1481332"/>
                <a:ext cx="14198494" cy="121633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6788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D1879-58B0-887A-09A3-DC0918F70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모델 5">
                <a:extLst>
                  <a:ext uri="{FF2B5EF4-FFF2-40B4-BE49-F238E27FC236}">
                    <a16:creationId xmlns:a16="http://schemas.microsoft.com/office/drawing/2014/main" id="{96EDDAC5-42D6-0682-71F6-91FE2E3994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00834308"/>
                  </p:ext>
                </p:extLst>
              </p:nvPr>
            </p:nvGraphicFramePr>
            <p:xfrm>
              <a:off x="10032174" y="-643130"/>
              <a:ext cx="14198488" cy="1216338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198488" cy="12163386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0801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모델 5">
                <a:extLst>
                  <a:ext uri="{FF2B5EF4-FFF2-40B4-BE49-F238E27FC236}">
                    <a16:creationId xmlns:a16="http://schemas.microsoft.com/office/drawing/2014/main" id="{96EDDAC5-42D6-0682-71F6-91FE2E3994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32174" y="-643130"/>
                <a:ext cx="14198488" cy="12163386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 1">
            <a:extLst>
              <a:ext uri="{FF2B5EF4-FFF2-40B4-BE49-F238E27FC236}">
                <a16:creationId xmlns:a16="http://schemas.microsoft.com/office/drawing/2014/main" id="{AD8C65DD-5D75-F6C3-63FE-33AF4A064B64}"/>
              </a:ext>
            </a:extLst>
          </p:cNvPr>
          <p:cNvSpPr/>
          <p:nvPr/>
        </p:nvSpPr>
        <p:spPr>
          <a:xfrm>
            <a:off x="1272860" y="3984361"/>
            <a:ext cx="15110140" cy="6890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AI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와의 대화로 </a:t>
            </a:r>
            <a:r>
              <a:rPr lang="ko-KR" altLang="en-US" sz="44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만다라트를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채우고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실천할수록 나만의 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3D 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마을이 </a:t>
            </a:r>
            <a:endParaRPr lang="en-US" altLang="ko-KR" sz="4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성장하는 목표관리 서비스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en-US" sz="4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9AE87A67-7557-B257-9C7E-20C8E9796CB5}"/>
              </a:ext>
            </a:extLst>
          </p:cNvPr>
          <p:cNvSpPr/>
          <p:nvPr/>
        </p:nvSpPr>
        <p:spPr>
          <a:xfrm>
            <a:off x="1272860" y="1088760"/>
            <a:ext cx="15110140" cy="1768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72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</a:t>
            </a:r>
            <a:r>
              <a:rPr lang="ko-KR" altLang="en-US" sz="72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</a:t>
            </a:r>
            <a:r>
              <a:rPr lang="en-US" altLang="ko-KR" sz="72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× AI </a:t>
            </a:r>
            <a:r>
              <a:rPr lang="ko-KR" altLang="en-US" sz="72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코치 </a:t>
            </a:r>
            <a:r>
              <a:rPr lang="en-US" altLang="ko-KR" sz="72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× </a:t>
            </a:r>
            <a:r>
              <a:rPr lang="ko-KR" altLang="en-US" sz="72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나만의 마을</a:t>
            </a:r>
            <a:endParaRPr lang="en-US" sz="72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027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0B5F9-9718-C00C-B623-6F05793CA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114CE5F5-F77A-7E04-9EC0-038312B84DB7}"/>
              </a:ext>
            </a:extLst>
          </p:cNvPr>
          <p:cNvSpPr/>
          <p:nvPr/>
        </p:nvSpPr>
        <p:spPr>
          <a:xfrm>
            <a:off x="937632" y="667720"/>
            <a:ext cx="3648999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INDEX</a:t>
            </a: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866028C4-9755-2CD2-5E17-CC0E90629F8D}"/>
              </a:ext>
            </a:extLst>
          </p:cNvPr>
          <p:cNvSpPr/>
          <p:nvPr/>
        </p:nvSpPr>
        <p:spPr>
          <a:xfrm>
            <a:off x="937632" y="1634760"/>
            <a:ext cx="3177049" cy="631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ko-KR" alt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발표 진행 순서</a:t>
            </a:r>
            <a:endParaRPr lang="en-US" sz="2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1" name="Text 22">
            <a:extLst>
              <a:ext uri="{FF2B5EF4-FFF2-40B4-BE49-F238E27FC236}">
                <a16:creationId xmlns:a16="http://schemas.microsoft.com/office/drawing/2014/main" id="{335FCCE6-D61A-799D-C8F1-3A9B10447841}"/>
              </a:ext>
            </a:extLst>
          </p:cNvPr>
          <p:cNvSpPr/>
          <p:nvPr/>
        </p:nvSpPr>
        <p:spPr>
          <a:xfrm>
            <a:off x="1041846" y="7105287"/>
            <a:ext cx="3661638" cy="13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4. </a:t>
            </a:r>
            <a:r>
              <a:rPr lang="ko-KR" altLang="en-US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마무리</a:t>
            </a:r>
            <a:endParaRPr lang="en-US" sz="4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EFC90BB2-6941-7541-7619-8CA490EB7F00}"/>
              </a:ext>
            </a:extLst>
          </p:cNvPr>
          <p:cNvSpPr/>
          <p:nvPr/>
        </p:nvSpPr>
        <p:spPr>
          <a:xfrm>
            <a:off x="1029206" y="5143500"/>
            <a:ext cx="3661638" cy="13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2. </a:t>
            </a:r>
            <a:r>
              <a:rPr lang="ko-KR" altLang="en-US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서비스 소개</a:t>
            </a:r>
            <a:endParaRPr lang="en-US" sz="4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5" name="Text 22">
            <a:extLst>
              <a:ext uri="{FF2B5EF4-FFF2-40B4-BE49-F238E27FC236}">
                <a16:creationId xmlns:a16="http://schemas.microsoft.com/office/drawing/2014/main" id="{EAC18E56-CDA5-5F3B-68B6-E371790C89FA}"/>
              </a:ext>
            </a:extLst>
          </p:cNvPr>
          <p:cNvSpPr/>
          <p:nvPr/>
        </p:nvSpPr>
        <p:spPr>
          <a:xfrm>
            <a:off x="1035526" y="6092084"/>
            <a:ext cx="3661638" cy="13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3. </a:t>
            </a:r>
            <a:r>
              <a:rPr lang="ko-KR" altLang="en-US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기술 소개</a:t>
            </a:r>
            <a:endParaRPr lang="en-US" sz="4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2920CE8D-A689-DC73-83B7-17F171CC657E}"/>
              </a:ext>
            </a:extLst>
          </p:cNvPr>
          <p:cNvSpPr/>
          <p:nvPr/>
        </p:nvSpPr>
        <p:spPr>
          <a:xfrm>
            <a:off x="1035526" y="4182186"/>
            <a:ext cx="3661638" cy="1351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1. </a:t>
            </a:r>
            <a:r>
              <a:rPr lang="ko-KR" altLang="en-US" sz="4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기획 배경</a:t>
            </a:r>
            <a:endParaRPr lang="en-US" sz="4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3" name="Text 22">
            <a:extLst>
              <a:ext uri="{FF2B5EF4-FFF2-40B4-BE49-F238E27FC236}">
                <a16:creationId xmlns:a16="http://schemas.microsoft.com/office/drawing/2014/main" id="{AFD2A4A1-CEE4-BBF1-A8AB-0C4F95BC70E9}"/>
              </a:ext>
            </a:extLst>
          </p:cNvPr>
          <p:cNvSpPr/>
          <p:nvPr/>
        </p:nvSpPr>
        <p:spPr>
          <a:xfrm>
            <a:off x="1035526" y="2634126"/>
            <a:ext cx="5360618" cy="2033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5400" b="1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0. </a:t>
            </a:r>
            <a:r>
              <a:rPr lang="ko-KR" altLang="en-US" sz="5400" b="1" spc="-100" dirty="0" err="1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나눔스퀘어 네오 Heavy" pitchFamily="34" charset="-120"/>
              </a:rPr>
              <a:t>만다라트란</a:t>
            </a:r>
            <a:endParaRPr lang="en-US" sz="5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모델 5">
                <a:extLst>
                  <a:ext uri="{FF2B5EF4-FFF2-40B4-BE49-F238E27FC236}">
                    <a16:creationId xmlns:a16="http://schemas.microsoft.com/office/drawing/2014/main" id="{B895C6FD-E200-7AD7-7BF0-B601F82D18A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51669393"/>
                  </p:ext>
                </p:extLst>
              </p:nvPr>
            </p:nvGraphicFramePr>
            <p:xfrm>
              <a:off x="5298150" y="-547887"/>
              <a:ext cx="14198492" cy="12163388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4198492" cy="12163388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207080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모델 5">
                <a:extLst>
                  <a:ext uri="{FF2B5EF4-FFF2-40B4-BE49-F238E27FC236}">
                    <a16:creationId xmlns:a16="http://schemas.microsoft.com/office/drawing/2014/main" id="{B895C6FD-E200-7AD7-7BF0-B601F82D18A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8150" y="-547887"/>
                <a:ext cx="14198492" cy="121633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1400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9B485-78B5-98FF-F00A-3A0C427DA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모델 8">
                <a:extLst>
                  <a:ext uri="{FF2B5EF4-FFF2-40B4-BE49-F238E27FC236}">
                    <a16:creationId xmlns:a16="http://schemas.microsoft.com/office/drawing/2014/main" id="{913E17C3-30BF-0062-62EB-FBF5F0F11DE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195455" y="970974"/>
              <a:ext cx="8350875" cy="857956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8350875" cy="8579560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5268765" ay="2" az="-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86844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모델 8">
                <a:extLst>
                  <a:ext uri="{FF2B5EF4-FFF2-40B4-BE49-F238E27FC236}">
                    <a16:creationId xmlns:a16="http://schemas.microsoft.com/office/drawing/2014/main" id="{913E17C3-30BF-0062-62EB-FBF5F0F11D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5455" y="970974"/>
                <a:ext cx="8350875" cy="857956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그림 2" descr="20대의 삶을 업그레이드 하자] 만다라트 기법 편(feat.오타니 쇼헤이) - 20대에게 가장 필요한 커리어 정보, 슈퍼루키">
            <a:extLst>
              <a:ext uri="{FF2B5EF4-FFF2-40B4-BE49-F238E27FC236}">
                <a16:creationId xmlns:a16="http://schemas.microsoft.com/office/drawing/2014/main" id="{00F44131-5A95-4924-A4FF-81DC92A292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5455" y="1156855"/>
            <a:ext cx="8393679" cy="839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31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B53CD-9B82-A032-A395-E607F3C4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3D 모델 2">
                <a:extLst>
                  <a:ext uri="{FF2B5EF4-FFF2-40B4-BE49-F238E27FC236}">
                    <a16:creationId xmlns:a16="http://schemas.microsoft.com/office/drawing/2014/main" id="{49799728-7D0A-49A5-8649-E080316BD72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64265253"/>
                  </p:ext>
                </p:extLst>
              </p:nvPr>
            </p:nvGraphicFramePr>
            <p:xfrm>
              <a:off x="16587070" y="1262063"/>
              <a:ext cx="13917459" cy="12348691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13917459" cy="12348691"/>
                    </a:xfrm>
                    <a:prstGeom prst="rect">
                      <a:avLst/>
                    </a:prstGeom>
                  </am3d:spPr>
                  <am3d:camera>
                    <am3d:pos x="0" y="0" z="813787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33333" d="1000000"/>
                    <am3d:preTrans dx="0" dy="-15420001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40029" ay="2192418" az="83394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786844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3D 모델 2">
                <a:extLst>
                  <a:ext uri="{FF2B5EF4-FFF2-40B4-BE49-F238E27FC236}">
                    <a16:creationId xmlns:a16="http://schemas.microsoft.com/office/drawing/2014/main" id="{49799728-7D0A-49A5-8649-E080316BD7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587070" y="1262063"/>
                <a:ext cx="13917459" cy="12348691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 1">
            <a:extLst>
              <a:ext uri="{FF2B5EF4-FFF2-40B4-BE49-F238E27FC236}">
                <a16:creationId xmlns:a16="http://schemas.microsoft.com/office/drawing/2014/main" id="{737CE61E-55C7-4166-BE15-FEA3B29422F5}"/>
              </a:ext>
            </a:extLst>
          </p:cNvPr>
          <p:cNvSpPr/>
          <p:nvPr/>
        </p:nvSpPr>
        <p:spPr>
          <a:xfrm>
            <a:off x="154004" y="2393454"/>
            <a:ext cx="18133996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세워 둔 목표는 왜 실패할까요</a:t>
            </a:r>
            <a:r>
              <a:rPr lang="en-US" altLang="ko-KR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?</a:t>
            </a:r>
            <a:endParaRPr lang="en-US" sz="8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A8D01C6-F87F-4315-9B14-488E4D7C6E88}"/>
              </a:ext>
            </a:extLst>
          </p:cNvPr>
          <p:cNvGrpSpPr/>
          <p:nvPr/>
        </p:nvGrpSpPr>
        <p:grpSpPr>
          <a:xfrm>
            <a:off x="154004" y="105878"/>
            <a:ext cx="2358190" cy="519764"/>
            <a:chOff x="154004" y="105878"/>
            <a:chExt cx="2358190" cy="519764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09CE7C7F-6711-4EC0-ABC3-084A863C9D79}"/>
                </a:ext>
              </a:extLst>
            </p:cNvPr>
            <p:cNvSpPr/>
            <p:nvPr/>
          </p:nvSpPr>
          <p:spPr>
            <a:xfrm>
              <a:off x="154004" y="105878"/>
              <a:ext cx="2358190" cy="5197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AACAA5B0-E52C-43FE-84B6-6C99AF4BFAB1}"/>
                </a:ext>
              </a:extLst>
            </p:cNvPr>
            <p:cNvSpPr/>
            <p:nvPr/>
          </p:nvSpPr>
          <p:spPr>
            <a:xfrm>
              <a:off x="741282" y="225808"/>
              <a:ext cx="1366650" cy="399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76471"/>
                </a:lnSpc>
                <a:buNone/>
              </a:pPr>
              <a:r>
                <a:rPr lang="ko-KR" altLang="en-US" sz="2400" b="1" spc="-100" dirty="0">
                  <a:solidFill>
                    <a:srgbClr val="3A2100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기획배경</a:t>
              </a:r>
              <a:endParaRPr 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</p:grpSp>
      <p:sp>
        <p:nvSpPr>
          <p:cNvPr id="10" name="Text 1">
            <a:extLst>
              <a:ext uri="{FF2B5EF4-FFF2-40B4-BE49-F238E27FC236}">
                <a16:creationId xmlns:a16="http://schemas.microsoft.com/office/drawing/2014/main" id="{29A1B3F0-0C39-4C66-A7ED-F55379D15989}"/>
              </a:ext>
            </a:extLst>
          </p:cNvPr>
          <p:cNvSpPr/>
          <p:nvPr/>
        </p:nvSpPr>
        <p:spPr>
          <a:xfrm>
            <a:off x="1112740" y="4595254"/>
            <a:ext cx="16062519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ko-KR" altLang="en-US" sz="30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🤔</a:t>
            </a:r>
            <a:endParaRPr lang="en-US" sz="30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39842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D747-5823-C905-3BD0-8DC605EC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56ADD321-4D12-4316-AFF6-8330391A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79" y="1143000"/>
            <a:ext cx="9622892" cy="962289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0A3D63FA-F653-C8B8-4E17-4F846D3E1631}"/>
              </a:ext>
            </a:extLst>
          </p:cNvPr>
          <p:cNvSpPr/>
          <p:nvPr/>
        </p:nvSpPr>
        <p:spPr>
          <a:xfrm>
            <a:off x="5375479" y="473927"/>
            <a:ext cx="7567032" cy="66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76471"/>
              </a:lnSpc>
            </a:pP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Quitter's Day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1A511D-CFA1-40DB-8429-47EE72F71CFC}"/>
              </a:ext>
            </a:extLst>
          </p:cNvPr>
          <p:cNvGrpSpPr/>
          <p:nvPr/>
        </p:nvGrpSpPr>
        <p:grpSpPr>
          <a:xfrm>
            <a:off x="154004" y="105878"/>
            <a:ext cx="2358190" cy="519764"/>
            <a:chOff x="154004" y="105878"/>
            <a:chExt cx="2358190" cy="51976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E96938F-C551-413D-BD40-03DD8DBB5C2D}"/>
                </a:ext>
              </a:extLst>
            </p:cNvPr>
            <p:cNvSpPr/>
            <p:nvPr/>
          </p:nvSpPr>
          <p:spPr>
            <a:xfrm>
              <a:off x="154004" y="105878"/>
              <a:ext cx="2358190" cy="5197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11A08463-74E3-4C09-9DBA-D07490502A5D}"/>
                </a:ext>
              </a:extLst>
            </p:cNvPr>
            <p:cNvSpPr/>
            <p:nvPr/>
          </p:nvSpPr>
          <p:spPr>
            <a:xfrm>
              <a:off x="741282" y="225808"/>
              <a:ext cx="1366650" cy="399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76471"/>
                </a:lnSpc>
                <a:buNone/>
              </a:pPr>
              <a:r>
                <a:rPr lang="ko-KR" altLang="en-US" sz="2400" b="1" spc="-100" dirty="0">
                  <a:solidFill>
                    <a:srgbClr val="3A2100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기획배경</a:t>
              </a:r>
              <a:endParaRPr 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</p:grpSp>
      <p:sp>
        <p:nvSpPr>
          <p:cNvPr id="12" name="Text 22">
            <a:extLst>
              <a:ext uri="{FF2B5EF4-FFF2-40B4-BE49-F238E27FC236}">
                <a16:creationId xmlns:a16="http://schemas.microsoft.com/office/drawing/2014/main" id="{36DB9080-A858-4A63-847C-C37E5EE239C0}"/>
              </a:ext>
            </a:extLst>
          </p:cNvPr>
          <p:cNvSpPr/>
          <p:nvPr/>
        </p:nvSpPr>
        <p:spPr>
          <a:xfrm>
            <a:off x="9927771" y="3147387"/>
            <a:ext cx="7460343" cy="2730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사람들이 새해 다짐이나 계획을 포기하고 </a:t>
            </a:r>
            <a:b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</a:b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일상으로 돌아가는 날</a:t>
            </a:r>
            <a:endParaRPr lang="en-US" sz="5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5D906192-00D0-469C-A8E8-3E7D753F1BC3}"/>
              </a:ext>
            </a:extLst>
          </p:cNvPr>
          <p:cNvSpPr/>
          <p:nvPr/>
        </p:nvSpPr>
        <p:spPr>
          <a:xfrm>
            <a:off x="9927771" y="6683032"/>
            <a:ext cx="7460343" cy="1720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오직 </a:t>
            </a:r>
            <a: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8%</a:t>
            </a: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 새해 결심을 </a:t>
            </a:r>
            <a:b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</a:b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성공합니다</a:t>
            </a:r>
            <a: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en-US" sz="5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DC3877F-8E16-4107-BADA-FA8B4E72326C}"/>
              </a:ext>
            </a:extLst>
          </p:cNvPr>
          <p:cNvSpPr/>
          <p:nvPr/>
        </p:nvSpPr>
        <p:spPr>
          <a:xfrm>
            <a:off x="6821714" y="5143499"/>
            <a:ext cx="928914" cy="981529"/>
          </a:xfrm>
          <a:prstGeom prst="roundRect">
            <a:avLst/>
          </a:prstGeom>
          <a:noFill/>
          <a:ln w="101600">
            <a:solidFill>
              <a:srgbClr val="F200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04DFED2-E17D-45D8-9539-22318CD74C29}"/>
              </a:ext>
            </a:extLst>
          </p:cNvPr>
          <p:cNvGrpSpPr/>
          <p:nvPr/>
        </p:nvGrpSpPr>
        <p:grpSpPr>
          <a:xfrm>
            <a:off x="-938317" y="-12232590"/>
            <a:ext cx="19455319" cy="12003932"/>
            <a:chOff x="-938317" y="-11958019"/>
            <a:chExt cx="19455319" cy="1200393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5C8D9E80-E232-4BA7-B8EF-3A31403632D5}"/>
                </a:ext>
              </a:extLst>
            </p:cNvPr>
            <p:cNvSpPr/>
            <p:nvPr/>
          </p:nvSpPr>
          <p:spPr>
            <a:xfrm>
              <a:off x="-938317" y="-11958019"/>
              <a:ext cx="19455319" cy="12003932"/>
            </a:xfrm>
            <a:prstGeom prst="roundRect">
              <a:avLst/>
            </a:prstGeom>
            <a:solidFill>
              <a:schemeClr val="tx1">
                <a:alpha val="70000"/>
              </a:schemeClr>
            </a:solidFill>
            <a:effectLst>
              <a:outerShdw blurRad="50800" dist="50800" dir="5400000" algn="ctr" rotWithShape="0">
                <a:srgbClr val="000000">
                  <a:alpha val="96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 1">
              <a:extLst>
                <a:ext uri="{FF2B5EF4-FFF2-40B4-BE49-F238E27FC236}">
                  <a16:creationId xmlns:a16="http://schemas.microsoft.com/office/drawing/2014/main" id="{63B11072-0793-43B0-9DF7-8C5B9B221D6D}"/>
                </a:ext>
              </a:extLst>
            </p:cNvPr>
            <p:cNvSpPr/>
            <p:nvPr/>
          </p:nvSpPr>
          <p:spPr>
            <a:xfrm>
              <a:off x="161389" y="-8672686"/>
              <a:ext cx="17452081" cy="11886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76471"/>
                </a:lnSpc>
                <a:buNone/>
              </a:pPr>
              <a:r>
                <a:rPr lang="ko-KR" altLang="en-US" sz="8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그런데도 사람들은 계속 목표를 세웁니다</a:t>
              </a:r>
              <a:r>
                <a:rPr lang="en-US" altLang="ko-KR" sz="8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.</a:t>
              </a:r>
              <a:endParaRPr lang="en-US" sz="8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19" name="Text 1">
              <a:extLst>
                <a:ext uri="{FF2B5EF4-FFF2-40B4-BE49-F238E27FC236}">
                  <a16:creationId xmlns:a16="http://schemas.microsoft.com/office/drawing/2014/main" id="{1F74CACC-7AF4-4AD4-B7D0-11FAD79C0865}"/>
                </a:ext>
              </a:extLst>
            </p:cNvPr>
            <p:cNvSpPr/>
            <p:nvPr/>
          </p:nvSpPr>
          <p:spPr>
            <a:xfrm>
              <a:off x="63303" y="-7144740"/>
              <a:ext cx="17452081" cy="11886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76471"/>
                </a:lnSpc>
                <a:buNone/>
              </a:pPr>
              <a:r>
                <a:rPr lang="ko-KR" altLang="en-US" sz="6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그것도 아주 많이</a:t>
              </a:r>
              <a:endParaRPr lang="en-US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  <p:sp>
          <p:nvSpPr>
            <p:cNvPr id="20" name="Text 1">
              <a:extLst>
                <a:ext uri="{FF2B5EF4-FFF2-40B4-BE49-F238E27FC236}">
                  <a16:creationId xmlns:a16="http://schemas.microsoft.com/office/drawing/2014/main" id="{C6BF611C-EC5F-4C26-B490-9671C44C4EE8}"/>
                </a:ext>
              </a:extLst>
            </p:cNvPr>
            <p:cNvSpPr/>
            <p:nvPr/>
          </p:nvSpPr>
          <p:spPr>
            <a:xfrm>
              <a:off x="-125692" y="-4485049"/>
              <a:ext cx="17452081" cy="118868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ctr">
                <a:lnSpc>
                  <a:spcPct val="76471"/>
                </a:lnSpc>
                <a:buNone/>
              </a:pPr>
              <a:r>
                <a:rPr lang="en-US" altLang="ko-KR" sz="6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[</a:t>
              </a:r>
              <a:r>
                <a:rPr lang="ko-KR" altLang="en-US" sz="6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수치자료</a:t>
              </a:r>
              <a:r>
                <a:rPr lang="en-US" altLang="ko-KR" sz="6000" b="1" spc="-100" dirty="0">
                  <a:solidFill>
                    <a:schemeClr val="bg1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]</a:t>
              </a:r>
              <a:endParaRPr lang="en-US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87634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6D747-5823-C905-3BD0-8DC605ECD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DC3877F-8E16-4107-BADA-FA8B4E72326C}"/>
              </a:ext>
            </a:extLst>
          </p:cNvPr>
          <p:cNvSpPr/>
          <p:nvPr/>
        </p:nvSpPr>
        <p:spPr>
          <a:xfrm>
            <a:off x="6821714" y="5143499"/>
            <a:ext cx="928914" cy="981529"/>
          </a:xfrm>
          <a:prstGeom prst="roundRect">
            <a:avLst/>
          </a:prstGeom>
          <a:noFill/>
          <a:ln w="101600">
            <a:solidFill>
              <a:srgbClr val="F200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1A511D-CFA1-40DB-8429-47EE72F71CFC}"/>
              </a:ext>
            </a:extLst>
          </p:cNvPr>
          <p:cNvGrpSpPr/>
          <p:nvPr/>
        </p:nvGrpSpPr>
        <p:grpSpPr>
          <a:xfrm>
            <a:off x="154004" y="105878"/>
            <a:ext cx="2358190" cy="519764"/>
            <a:chOff x="154004" y="105878"/>
            <a:chExt cx="2358190" cy="519764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E96938F-C551-413D-BD40-03DD8DBB5C2D}"/>
                </a:ext>
              </a:extLst>
            </p:cNvPr>
            <p:cNvSpPr/>
            <p:nvPr/>
          </p:nvSpPr>
          <p:spPr>
            <a:xfrm>
              <a:off x="154004" y="105878"/>
              <a:ext cx="2358190" cy="519764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Text 1">
              <a:extLst>
                <a:ext uri="{FF2B5EF4-FFF2-40B4-BE49-F238E27FC236}">
                  <a16:creationId xmlns:a16="http://schemas.microsoft.com/office/drawing/2014/main" id="{11A08463-74E3-4C09-9DBA-D07490502A5D}"/>
                </a:ext>
              </a:extLst>
            </p:cNvPr>
            <p:cNvSpPr/>
            <p:nvPr/>
          </p:nvSpPr>
          <p:spPr>
            <a:xfrm>
              <a:off x="741282" y="225808"/>
              <a:ext cx="1366650" cy="399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76471"/>
                </a:lnSpc>
                <a:buNone/>
              </a:pPr>
              <a:r>
                <a:rPr lang="ko-KR" altLang="en-US" sz="2400" b="1" spc="-100" dirty="0">
                  <a:solidFill>
                    <a:srgbClr val="3A2100"/>
                  </a:solidFill>
                  <a:latin typeface="나눔스퀘어 네오 OTF Heavy" panose="00000A00000000000000" pitchFamily="50" charset="-127"/>
                  <a:ea typeface="나눔스퀘어 네오 OTF Heavy" panose="00000A00000000000000" pitchFamily="50" charset="-127"/>
                </a:rPr>
                <a:t>기획배경</a:t>
              </a:r>
              <a:endParaRPr 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endParaRPr>
            </a:p>
          </p:txBody>
        </p: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56ADD321-4D12-4316-AFF6-8330391AA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79" y="1143000"/>
            <a:ext cx="9622892" cy="9622892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0A3D63FA-F653-C8B8-4E17-4F846D3E1631}"/>
              </a:ext>
            </a:extLst>
          </p:cNvPr>
          <p:cNvSpPr/>
          <p:nvPr/>
        </p:nvSpPr>
        <p:spPr>
          <a:xfrm>
            <a:off x="5375479" y="473927"/>
            <a:ext cx="7567032" cy="66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76471"/>
              </a:lnSpc>
            </a:pP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Quitter's Day</a:t>
            </a:r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36DB9080-A858-4A63-847C-C37E5EE239C0}"/>
              </a:ext>
            </a:extLst>
          </p:cNvPr>
          <p:cNvSpPr/>
          <p:nvPr/>
        </p:nvSpPr>
        <p:spPr>
          <a:xfrm>
            <a:off x="9927771" y="3147387"/>
            <a:ext cx="7460343" cy="2730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사람들이 새해 다짐이나 계획을 포기하고 </a:t>
            </a:r>
            <a:b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</a:b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일상으로 돌아가는 날</a:t>
            </a:r>
            <a:endParaRPr lang="en-US" sz="5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4" name="Text 22">
            <a:extLst>
              <a:ext uri="{FF2B5EF4-FFF2-40B4-BE49-F238E27FC236}">
                <a16:creationId xmlns:a16="http://schemas.microsoft.com/office/drawing/2014/main" id="{5D906192-00D0-469C-A8E8-3E7D753F1BC3}"/>
              </a:ext>
            </a:extLst>
          </p:cNvPr>
          <p:cNvSpPr/>
          <p:nvPr/>
        </p:nvSpPr>
        <p:spPr>
          <a:xfrm>
            <a:off x="9927771" y="6683032"/>
            <a:ext cx="7460343" cy="17207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오직 </a:t>
            </a:r>
            <a: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8%</a:t>
            </a: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 새해 결심을 </a:t>
            </a:r>
            <a:b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</a:br>
            <a:r>
              <a:rPr lang="ko-KR" altLang="en-US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성공합니다</a:t>
            </a:r>
            <a:r>
              <a:rPr lang="en-US" altLang="ko-KR" sz="5400" spc="-100" dirty="0">
                <a:solidFill>
                  <a:srgbClr val="2B14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en-US" sz="5400" spc="-100" dirty="0">
              <a:solidFill>
                <a:srgbClr val="2B14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A5634E7-9509-4AD9-9BE8-C45486549F6A}"/>
              </a:ext>
            </a:extLst>
          </p:cNvPr>
          <p:cNvSpPr/>
          <p:nvPr/>
        </p:nvSpPr>
        <p:spPr>
          <a:xfrm>
            <a:off x="-609601" y="-571500"/>
            <a:ext cx="19304001" cy="11620500"/>
          </a:xfrm>
          <a:prstGeom prst="roundRect">
            <a:avLst/>
          </a:prstGeom>
          <a:solidFill>
            <a:schemeClr val="tx1">
              <a:alpha val="65000"/>
            </a:schemeClr>
          </a:solidFill>
          <a:effectLst>
            <a:outerShdw blurRad="50800" dist="50800" dir="5400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8759EB0-6E22-4970-BBE8-D96688157988}"/>
              </a:ext>
            </a:extLst>
          </p:cNvPr>
          <p:cNvSpPr/>
          <p:nvPr/>
        </p:nvSpPr>
        <p:spPr>
          <a:xfrm>
            <a:off x="531040" y="2822393"/>
            <a:ext cx="17452081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6471"/>
              </a:lnSpc>
              <a:buNone/>
            </a:pPr>
            <a:r>
              <a:rPr lang="ko-KR" altLang="en-US" sz="8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그런데도 사람들은 계속 목표를 세웁니다</a:t>
            </a:r>
            <a:r>
              <a:rPr lang="en-US" altLang="ko-KR" sz="8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en-US" sz="8000" b="1" spc="-100" dirty="0">
              <a:solidFill>
                <a:schemeClr val="bg1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531C4063-C935-459D-B62B-85D46BDA8D45}"/>
              </a:ext>
            </a:extLst>
          </p:cNvPr>
          <p:cNvSpPr/>
          <p:nvPr/>
        </p:nvSpPr>
        <p:spPr>
          <a:xfrm>
            <a:off x="432954" y="4350339"/>
            <a:ext cx="17452081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ko-KR" altLang="en-US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그것도 아주 많이</a:t>
            </a:r>
            <a:endParaRPr lang="en-US" sz="6000" b="1" spc="-100" dirty="0">
              <a:solidFill>
                <a:schemeClr val="bg1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F5E75AF-75EB-4B73-A26F-7C5349D3F36D}"/>
              </a:ext>
            </a:extLst>
          </p:cNvPr>
          <p:cNvSpPr/>
          <p:nvPr/>
        </p:nvSpPr>
        <p:spPr>
          <a:xfrm>
            <a:off x="243959" y="7010030"/>
            <a:ext cx="17452081" cy="1188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6471"/>
              </a:lnSpc>
              <a:buNone/>
            </a:pPr>
            <a:r>
              <a:rPr lang="en-US" altLang="ko-KR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[</a:t>
            </a:r>
            <a:r>
              <a:rPr lang="ko-KR" altLang="en-US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수치자료</a:t>
            </a:r>
            <a:r>
              <a:rPr lang="en-US" altLang="ko-KR" sz="6000" b="1" spc="-100" dirty="0">
                <a:solidFill>
                  <a:schemeClr val="bg1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]</a:t>
            </a:r>
            <a:endParaRPr lang="en-US" sz="6000" b="1" spc="-100" dirty="0">
              <a:solidFill>
                <a:schemeClr val="bg1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897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111C0-73DA-1DC3-2545-BC6C0E66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91DC9AA-AEDC-4FF6-8A1D-37DFCA133D66}"/>
              </a:ext>
            </a:extLst>
          </p:cNvPr>
          <p:cNvSpPr/>
          <p:nvPr/>
        </p:nvSpPr>
        <p:spPr>
          <a:xfrm>
            <a:off x="-947500" y="670692"/>
            <a:ext cx="7567032" cy="66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76471"/>
              </a:lnSpc>
            </a:pPr>
            <a:r>
              <a:rPr lang="ko-KR" alt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문제는 의지가 아닌 구조</a:t>
            </a:r>
            <a:endParaRPr lang="en-US" altLang="ko-KR" sz="36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8E1FC3C-A465-40A6-8692-2DCF3B37ED85}"/>
              </a:ext>
            </a:extLst>
          </p:cNvPr>
          <p:cNvSpPr/>
          <p:nvPr/>
        </p:nvSpPr>
        <p:spPr>
          <a:xfrm>
            <a:off x="484424" y="1440799"/>
            <a:ext cx="17319152" cy="669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76471"/>
              </a:lnSpc>
            </a:pP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습관이 되기까지는 평균 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66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일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사람들은 </a:t>
            </a:r>
            <a:r>
              <a:rPr lang="en-US" altLang="ko-KR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21</a:t>
            </a:r>
            <a:r>
              <a:rPr lang="ko-KR" altLang="en-US" sz="4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일 넘기기 힘들어 합니다</a:t>
            </a:r>
            <a:endParaRPr lang="en-US" altLang="ko-KR" sz="4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E97A93F-303B-4B76-BCC4-2440E66F4DCA}"/>
              </a:ext>
            </a:extLst>
          </p:cNvPr>
          <p:cNvSpPr/>
          <p:nvPr/>
        </p:nvSpPr>
        <p:spPr>
          <a:xfrm>
            <a:off x="291829" y="8357166"/>
            <a:ext cx="17319152" cy="13320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algn="r">
              <a:lnSpc>
                <a:spcPct val="76471"/>
              </a:lnSpc>
            </a:pPr>
            <a:r>
              <a:rPr lang="ko-KR" altLang="en-US" sz="6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 </a:t>
            </a:r>
            <a:r>
              <a:rPr lang="en-US" altLang="ko-KR" sz="6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45</a:t>
            </a:r>
            <a:r>
              <a:rPr lang="ko-KR" altLang="en-US" sz="6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일의 간극을 저희가 해결할 문제로 삼았습니다</a:t>
            </a:r>
            <a:r>
              <a:rPr lang="en-US" altLang="ko-KR" sz="6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261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145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E140FEC-DE11-43EE-A011-0DF7F5AE2F48}"/>
              </a:ext>
            </a:extLst>
          </p:cNvPr>
          <p:cNvSpPr/>
          <p:nvPr/>
        </p:nvSpPr>
        <p:spPr>
          <a:xfrm>
            <a:off x="1848112" y="1450824"/>
            <a:ext cx="15598060" cy="3917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buNone/>
            </a:pPr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저희는 그래서 </a:t>
            </a:r>
            <a:endParaRPr lang="en-US" altLang="ko-KR" sz="8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  <a:p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설문조사를 직접 수행하여 </a:t>
            </a:r>
            <a:endParaRPr lang="en-US" altLang="ko-KR" sz="8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  <a:p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총 </a:t>
            </a:r>
            <a:r>
              <a:rPr lang="en-US" altLang="ko-KR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118</a:t>
            </a:r>
            <a:r>
              <a:rPr lang="ko-KR" altLang="en-US" sz="8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명 응답을 받았습니다 </a:t>
            </a:r>
            <a:endParaRPr lang="en-US" altLang="ko-KR" sz="8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903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843BE01-F823-484D-85F1-E6F06611AAE2}"/>
              </a:ext>
            </a:extLst>
          </p:cNvPr>
          <p:cNvSpPr/>
          <p:nvPr/>
        </p:nvSpPr>
        <p:spPr>
          <a:xfrm>
            <a:off x="1344970" y="224431"/>
            <a:ext cx="15598060" cy="10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60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만다라트를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안 써본 이유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2·3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위가 모두 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“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채우기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＂</a:t>
            </a:r>
            <a:endParaRPr lang="en-US" sz="6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72718F-7192-4E72-8E8E-2564A9E5B335}"/>
              </a:ext>
            </a:extLst>
          </p:cNvPr>
          <p:cNvSpPr/>
          <p:nvPr/>
        </p:nvSpPr>
        <p:spPr>
          <a:xfrm>
            <a:off x="838206" y="3017520"/>
            <a:ext cx="7797794" cy="543510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778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1F2E1C6-9BC7-40CE-8450-A54359706DC1}"/>
              </a:ext>
            </a:extLst>
          </p:cNvPr>
          <p:cNvSpPr/>
          <p:nvPr/>
        </p:nvSpPr>
        <p:spPr>
          <a:xfrm>
            <a:off x="1113322" y="3487874"/>
            <a:ext cx="7107812" cy="76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36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만다라트를</a:t>
            </a:r>
            <a:r>
              <a:rPr lang="ko-KR" alt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해본 적이 없는 사람 중</a:t>
            </a:r>
            <a:endParaRPr lang="en-US" sz="36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62B38480-33E5-4D7E-BDD3-8F55601B3E9D}"/>
              </a:ext>
            </a:extLst>
          </p:cNvPr>
          <p:cNvSpPr/>
          <p:nvPr/>
        </p:nvSpPr>
        <p:spPr>
          <a:xfrm>
            <a:off x="1593055" y="4816470"/>
            <a:ext cx="4937347" cy="411325"/>
          </a:xfrm>
          <a:prstGeom prst="roundRect">
            <a:avLst>
              <a:gd name="adj" fmla="val 22727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5822ECB-CC87-4EF2-A0D0-905EB01BE94E}"/>
              </a:ext>
            </a:extLst>
          </p:cNvPr>
          <p:cNvSpPr/>
          <p:nvPr/>
        </p:nvSpPr>
        <p:spPr>
          <a:xfrm>
            <a:off x="1593055" y="5278377"/>
            <a:ext cx="4889054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사용해본 적이 없거나 </a:t>
            </a:r>
            <a:r>
              <a:rPr lang="ko-KR" altLang="en-US" sz="20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관심없음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3A74D411-B655-46F5-8D80-F0976403F03E}"/>
              </a:ext>
            </a:extLst>
          </p:cNvPr>
          <p:cNvSpPr/>
          <p:nvPr/>
        </p:nvSpPr>
        <p:spPr>
          <a:xfrm>
            <a:off x="950141" y="8452624"/>
            <a:ext cx="3496782" cy="564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복수 응답 </a:t>
            </a:r>
            <a:r>
              <a:rPr lang="en-US" altLang="ko-KR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·</a:t>
            </a:r>
            <a:r>
              <a:rPr lang="ko-KR" alt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자체 설문 </a:t>
            </a:r>
            <a:r>
              <a:rPr lang="en-US" altLang="ko-KR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n = 118</a:t>
            </a:r>
            <a:endParaRPr lang="en-US" sz="2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2FB298EA-EAD2-4C04-B1FA-9D3A30F7CC35}"/>
              </a:ext>
            </a:extLst>
          </p:cNvPr>
          <p:cNvSpPr/>
          <p:nvPr/>
        </p:nvSpPr>
        <p:spPr>
          <a:xfrm>
            <a:off x="6482109" y="4816470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48%</a:t>
            </a:r>
            <a:endParaRPr lang="en-US" sz="36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6B5D2322-8024-46EC-A30A-47102232A483}"/>
              </a:ext>
            </a:extLst>
          </p:cNvPr>
          <p:cNvSpPr/>
          <p:nvPr/>
        </p:nvSpPr>
        <p:spPr>
          <a:xfrm>
            <a:off x="1600876" y="5892093"/>
            <a:ext cx="3355326" cy="411325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5" name="Text 1">
            <a:extLst>
              <a:ext uri="{FF2B5EF4-FFF2-40B4-BE49-F238E27FC236}">
                <a16:creationId xmlns:a16="http://schemas.microsoft.com/office/drawing/2014/main" id="{3CE61C4B-CB77-4CCA-9DFD-B97850093414}"/>
              </a:ext>
            </a:extLst>
          </p:cNvPr>
          <p:cNvSpPr/>
          <p:nvPr/>
        </p:nvSpPr>
        <p:spPr>
          <a:xfrm>
            <a:off x="4907909" y="5892092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29%</a:t>
            </a:r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78F4B9CD-6BF8-4280-A0E5-D75CA3DF353C}"/>
              </a:ext>
            </a:extLst>
          </p:cNvPr>
          <p:cNvSpPr/>
          <p:nvPr/>
        </p:nvSpPr>
        <p:spPr>
          <a:xfrm>
            <a:off x="1617201" y="6277648"/>
            <a:ext cx="4889054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어떻게 채워야 할지 모름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88" name="Shape 12">
            <a:extLst>
              <a:ext uri="{FF2B5EF4-FFF2-40B4-BE49-F238E27FC236}">
                <a16:creationId xmlns:a16="http://schemas.microsoft.com/office/drawing/2014/main" id="{6E7FAAFC-DD5F-45C4-B3C1-B163F140EC7A}"/>
              </a:ext>
            </a:extLst>
          </p:cNvPr>
          <p:cNvSpPr/>
          <p:nvPr/>
        </p:nvSpPr>
        <p:spPr>
          <a:xfrm>
            <a:off x="1600876" y="6917687"/>
            <a:ext cx="2287245" cy="411325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6300D0D7-BEC0-4C9E-AFE7-BDD0372EB107}"/>
              </a:ext>
            </a:extLst>
          </p:cNvPr>
          <p:cNvSpPr/>
          <p:nvPr/>
        </p:nvSpPr>
        <p:spPr>
          <a:xfrm>
            <a:off x="3839828" y="6917686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23%</a:t>
            </a:r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6B6A77DB-5F8A-4700-90F5-B33808946C9B}"/>
              </a:ext>
            </a:extLst>
          </p:cNvPr>
          <p:cNvSpPr/>
          <p:nvPr/>
        </p:nvSpPr>
        <p:spPr>
          <a:xfrm>
            <a:off x="1617201" y="7303242"/>
            <a:ext cx="2124810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81</a:t>
            </a: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칸이 부담스러움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3D040178-1773-4E6D-B425-94CAE666DA43}"/>
              </a:ext>
            </a:extLst>
          </p:cNvPr>
          <p:cNvSpPr/>
          <p:nvPr/>
        </p:nvSpPr>
        <p:spPr>
          <a:xfrm>
            <a:off x="8839209" y="5333410"/>
            <a:ext cx="1352594" cy="558682"/>
          </a:xfrm>
          <a:prstGeom prst="rightArrow">
            <a:avLst/>
          </a:prstGeom>
          <a:solidFill>
            <a:srgbClr val="ED8B1F"/>
          </a:solidFill>
          <a:ln>
            <a:noFill/>
            <a:prstDash val="solid"/>
            <a:extLst>
              <a:ext uri="{C807C97D-BFC1-408E-A445-0C87EB9F89A2}">
                <ask:lineSketchStyleProps xmlns:ask="http://schemas.microsoft.com/office/drawing/2018/sketchyshapes" sd="1989016664">
                  <a:custGeom>
                    <a:avLst/>
                    <a:gdLst>
                      <a:gd name="connsiteX0" fmla="*/ 0 w 5706534"/>
                      <a:gd name="connsiteY0" fmla="*/ 73353 h 293410"/>
                      <a:gd name="connsiteX1" fmla="*/ 5559829 w 5706534"/>
                      <a:gd name="connsiteY1" fmla="*/ 73353 h 293410"/>
                      <a:gd name="connsiteX2" fmla="*/ 5559829 w 5706534"/>
                      <a:gd name="connsiteY2" fmla="*/ 0 h 293410"/>
                      <a:gd name="connsiteX3" fmla="*/ 5706534 w 5706534"/>
                      <a:gd name="connsiteY3" fmla="*/ 146705 h 293410"/>
                      <a:gd name="connsiteX4" fmla="*/ 5559829 w 5706534"/>
                      <a:gd name="connsiteY4" fmla="*/ 293410 h 293410"/>
                      <a:gd name="connsiteX5" fmla="*/ 5559829 w 5706534"/>
                      <a:gd name="connsiteY5" fmla="*/ 220058 h 293410"/>
                      <a:gd name="connsiteX6" fmla="*/ 0 w 5706534"/>
                      <a:gd name="connsiteY6" fmla="*/ 220058 h 293410"/>
                      <a:gd name="connsiteX7" fmla="*/ 0 w 5706534"/>
                      <a:gd name="connsiteY7" fmla="*/ 73353 h 293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706534" h="293410" fill="none" extrusionOk="0">
                        <a:moveTo>
                          <a:pt x="0" y="73353"/>
                        </a:moveTo>
                        <a:cubicBezTo>
                          <a:pt x="1917000" y="114057"/>
                          <a:pt x="3156579" y="171298"/>
                          <a:pt x="5559829" y="73353"/>
                        </a:cubicBezTo>
                        <a:cubicBezTo>
                          <a:pt x="5554646" y="55171"/>
                          <a:pt x="5554575" y="24436"/>
                          <a:pt x="5559829" y="0"/>
                        </a:cubicBezTo>
                        <a:cubicBezTo>
                          <a:pt x="5589173" y="18338"/>
                          <a:pt x="5677816" y="118583"/>
                          <a:pt x="5706534" y="146705"/>
                        </a:cubicBezTo>
                        <a:cubicBezTo>
                          <a:pt x="5656649" y="218323"/>
                          <a:pt x="5600231" y="253349"/>
                          <a:pt x="5559829" y="293410"/>
                        </a:cubicBezTo>
                        <a:cubicBezTo>
                          <a:pt x="5553665" y="268385"/>
                          <a:pt x="5560131" y="229714"/>
                          <a:pt x="5559829" y="220058"/>
                        </a:cubicBezTo>
                        <a:cubicBezTo>
                          <a:pt x="4902549" y="224759"/>
                          <a:pt x="575841" y="262941"/>
                          <a:pt x="0" y="220058"/>
                        </a:cubicBezTo>
                        <a:cubicBezTo>
                          <a:pt x="1042" y="158213"/>
                          <a:pt x="5645" y="123314"/>
                          <a:pt x="0" y="73353"/>
                        </a:cubicBezTo>
                        <a:close/>
                      </a:path>
                      <a:path w="5706534" h="293410" stroke="0" extrusionOk="0">
                        <a:moveTo>
                          <a:pt x="0" y="73353"/>
                        </a:moveTo>
                        <a:cubicBezTo>
                          <a:pt x="865324" y="129845"/>
                          <a:pt x="3996683" y="154031"/>
                          <a:pt x="5559829" y="73353"/>
                        </a:cubicBezTo>
                        <a:cubicBezTo>
                          <a:pt x="5554925" y="61235"/>
                          <a:pt x="5557858" y="16100"/>
                          <a:pt x="5559829" y="0"/>
                        </a:cubicBezTo>
                        <a:cubicBezTo>
                          <a:pt x="5593760" y="11922"/>
                          <a:pt x="5689690" y="110624"/>
                          <a:pt x="5706534" y="146705"/>
                        </a:cubicBezTo>
                        <a:cubicBezTo>
                          <a:pt x="5628774" y="205235"/>
                          <a:pt x="5618359" y="245610"/>
                          <a:pt x="5559829" y="293410"/>
                        </a:cubicBezTo>
                        <a:cubicBezTo>
                          <a:pt x="5556115" y="266777"/>
                          <a:pt x="5565982" y="249372"/>
                          <a:pt x="5559829" y="220058"/>
                        </a:cubicBezTo>
                        <a:cubicBezTo>
                          <a:pt x="4032228" y="55060"/>
                          <a:pt x="2067883" y="382658"/>
                          <a:pt x="0" y="220058"/>
                        </a:cubicBezTo>
                        <a:cubicBezTo>
                          <a:pt x="-774" y="158553"/>
                          <a:pt x="-6907" y="125493"/>
                          <a:pt x="0" y="7335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FEE289D-C1B4-438E-BE88-4698A065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380" y="2458935"/>
            <a:ext cx="6621414" cy="666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6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843BE01-F823-484D-85F1-E6F06611AAE2}"/>
              </a:ext>
            </a:extLst>
          </p:cNvPr>
          <p:cNvSpPr/>
          <p:nvPr/>
        </p:nvSpPr>
        <p:spPr>
          <a:xfrm>
            <a:off x="1344970" y="224431"/>
            <a:ext cx="15598060" cy="1045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60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만다라트를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안 써본 이유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2·3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위가 모두 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“</a:t>
            </a:r>
            <a:r>
              <a:rPr lang="ko-KR" altLang="en-US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채우기</a:t>
            </a:r>
            <a:r>
              <a:rPr lang="en-US" altLang="ko-KR" sz="6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＂</a:t>
            </a:r>
            <a:endParaRPr lang="en-US" sz="6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472718F-7192-4E72-8E8E-2564A9E5B335}"/>
              </a:ext>
            </a:extLst>
          </p:cNvPr>
          <p:cNvSpPr/>
          <p:nvPr/>
        </p:nvSpPr>
        <p:spPr>
          <a:xfrm>
            <a:off x="838206" y="3017520"/>
            <a:ext cx="7797794" cy="543510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778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1F2E1C6-9BC7-40CE-8450-A54359706DC1}"/>
              </a:ext>
            </a:extLst>
          </p:cNvPr>
          <p:cNvSpPr/>
          <p:nvPr/>
        </p:nvSpPr>
        <p:spPr>
          <a:xfrm>
            <a:off x="1113322" y="3487874"/>
            <a:ext cx="7107812" cy="764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36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만다라트를</a:t>
            </a:r>
            <a:r>
              <a:rPr lang="ko-KR" alt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 해본 적이 없는 사람 중</a:t>
            </a:r>
            <a:endParaRPr lang="en-US" sz="36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62B38480-33E5-4D7E-BDD3-8F55601B3E9D}"/>
              </a:ext>
            </a:extLst>
          </p:cNvPr>
          <p:cNvSpPr/>
          <p:nvPr/>
        </p:nvSpPr>
        <p:spPr>
          <a:xfrm>
            <a:off x="1593055" y="4816470"/>
            <a:ext cx="4937347" cy="411325"/>
          </a:xfrm>
          <a:prstGeom prst="roundRect">
            <a:avLst>
              <a:gd name="adj" fmla="val 22727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F5822ECB-CC87-4EF2-A0D0-905EB01BE94E}"/>
              </a:ext>
            </a:extLst>
          </p:cNvPr>
          <p:cNvSpPr/>
          <p:nvPr/>
        </p:nvSpPr>
        <p:spPr>
          <a:xfrm>
            <a:off x="1593055" y="5278377"/>
            <a:ext cx="4889054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사용해본 적이 없거나 </a:t>
            </a:r>
            <a:r>
              <a:rPr lang="ko-KR" altLang="en-US" sz="2000" b="1" spc="-100" dirty="0" err="1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관심없음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3A74D411-B655-46F5-8D80-F0976403F03E}"/>
              </a:ext>
            </a:extLst>
          </p:cNvPr>
          <p:cNvSpPr/>
          <p:nvPr/>
        </p:nvSpPr>
        <p:spPr>
          <a:xfrm>
            <a:off x="950141" y="8452624"/>
            <a:ext cx="3496782" cy="564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복수 응답 </a:t>
            </a:r>
            <a:r>
              <a:rPr lang="en-US" altLang="ko-KR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·</a:t>
            </a:r>
            <a:r>
              <a:rPr lang="ko-KR" altLang="en-US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자체 설문 </a:t>
            </a:r>
            <a:r>
              <a:rPr lang="en-US" altLang="ko-KR" sz="24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n = 118</a:t>
            </a:r>
            <a:endParaRPr lang="en-US" sz="24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48" name="Text 1">
            <a:extLst>
              <a:ext uri="{FF2B5EF4-FFF2-40B4-BE49-F238E27FC236}">
                <a16:creationId xmlns:a16="http://schemas.microsoft.com/office/drawing/2014/main" id="{2FB298EA-EAD2-4C04-B1FA-9D3A30F7CC35}"/>
              </a:ext>
            </a:extLst>
          </p:cNvPr>
          <p:cNvSpPr/>
          <p:nvPr/>
        </p:nvSpPr>
        <p:spPr>
          <a:xfrm>
            <a:off x="6482109" y="4816470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48%</a:t>
            </a:r>
            <a:endParaRPr lang="en-US" sz="36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6B5D2322-8024-46EC-A30A-47102232A483}"/>
              </a:ext>
            </a:extLst>
          </p:cNvPr>
          <p:cNvSpPr/>
          <p:nvPr/>
        </p:nvSpPr>
        <p:spPr>
          <a:xfrm>
            <a:off x="1600876" y="5892093"/>
            <a:ext cx="3355326" cy="411325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5" name="Text 1">
            <a:extLst>
              <a:ext uri="{FF2B5EF4-FFF2-40B4-BE49-F238E27FC236}">
                <a16:creationId xmlns:a16="http://schemas.microsoft.com/office/drawing/2014/main" id="{3CE61C4B-CB77-4CCA-9DFD-B97850093414}"/>
              </a:ext>
            </a:extLst>
          </p:cNvPr>
          <p:cNvSpPr/>
          <p:nvPr/>
        </p:nvSpPr>
        <p:spPr>
          <a:xfrm>
            <a:off x="4907909" y="5892092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29%</a:t>
            </a:r>
          </a:p>
        </p:txBody>
      </p:sp>
      <p:sp>
        <p:nvSpPr>
          <p:cNvPr id="86" name="Text 1">
            <a:extLst>
              <a:ext uri="{FF2B5EF4-FFF2-40B4-BE49-F238E27FC236}">
                <a16:creationId xmlns:a16="http://schemas.microsoft.com/office/drawing/2014/main" id="{78F4B9CD-6BF8-4280-A0E5-D75CA3DF353C}"/>
              </a:ext>
            </a:extLst>
          </p:cNvPr>
          <p:cNvSpPr/>
          <p:nvPr/>
        </p:nvSpPr>
        <p:spPr>
          <a:xfrm>
            <a:off x="1617201" y="6277648"/>
            <a:ext cx="4889054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어떻게 채워야 할지 모름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88" name="Shape 12">
            <a:extLst>
              <a:ext uri="{FF2B5EF4-FFF2-40B4-BE49-F238E27FC236}">
                <a16:creationId xmlns:a16="http://schemas.microsoft.com/office/drawing/2014/main" id="{6E7FAAFC-DD5F-45C4-B3C1-B163F140EC7A}"/>
              </a:ext>
            </a:extLst>
          </p:cNvPr>
          <p:cNvSpPr/>
          <p:nvPr/>
        </p:nvSpPr>
        <p:spPr>
          <a:xfrm>
            <a:off x="1600876" y="6917687"/>
            <a:ext cx="2287245" cy="411325"/>
          </a:xfrm>
          <a:prstGeom prst="roundRect">
            <a:avLst>
              <a:gd name="adj" fmla="val 22727"/>
            </a:avLst>
          </a:prstGeom>
          <a:solidFill>
            <a:srgbClr val="ED8B1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89" name="Text 1">
            <a:extLst>
              <a:ext uri="{FF2B5EF4-FFF2-40B4-BE49-F238E27FC236}">
                <a16:creationId xmlns:a16="http://schemas.microsoft.com/office/drawing/2014/main" id="{6300D0D7-BEC0-4C9E-AFE7-BDD0372EB107}"/>
              </a:ext>
            </a:extLst>
          </p:cNvPr>
          <p:cNvSpPr/>
          <p:nvPr/>
        </p:nvSpPr>
        <p:spPr>
          <a:xfrm>
            <a:off x="3839828" y="6917686"/>
            <a:ext cx="1214191" cy="411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23%</a:t>
            </a:r>
          </a:p>
        </p:txBody>
      </p:sp>
      <p:sp>
        <p:nvSpPr>
          <p:cNvPr id="90" name="Text 1">
            <a:extLst>
              <a:ext uri="{FF2B5EF4-FFF2-40B4-BE49-F238E27FC236}">
                <a16:creationId xmlns:a16="http://schemas.microsoft.com/office/drawing/2014/main" id="{6B6A77DB-5F8A-4700-90F5-B33808946C9B}"/>
              </a:ext>
            </a:extLst>
          </p:cNvPr>
          <p:cNvSpPr/>
          <p:nvPr/>
        </p:nvSpPr>
        <p:spPr>
          <a:xfrm>
            <a:off x="1617201" y="7303242"/>
            <a:ext cx="2124810" cy="51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81</a:t>
            </a:r>
            <a:r>
              <a:rPr lang="ko-KR" altLang="en-US" sz="2000" b="1" spc="-100" dirty="0">
                <a:solidFill>
                  <a:srgbClr val="3A21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칸이 부담스러움</a:t>
            </a:r>
            <a:endParaRPr lang="en-US" sz="2000" b="1" spc="-100" dirty="0">
              <a:solidFill>
                <a:srgbClr val="3A2100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sp>
        <p:nvSpPr>
          <p:cNvPr id="93" name="화살표: 오른쪽 92">
            <a:extLst>
              <a:ext uri="{FF2B5EF4-FFF2-40B4-BE49-F238E27FC236}">
                <a16:creationId xmlns:a16="http://schemas.microsoft.com/office/drawing/2014/main" id="{3D040178-1773-4E6D-B425-94CAE666DA43}"/>
              </a:ext>
            </a:extLst>
          </p:cNvPr>
          <p:cNvSpPr/>
          <p:nvPr/>
        </p:nvSpPr>
        <p:spPr>
          <a:xfrm>
            <a:off x="8839209" y="5333410"/>
            <a:ext cx="1352594" cy="558682"/>
          </a:xfrm>
          <a:prstGeom prst="rightArrow">
            <a:avLst/>
          </a:prstGeom>
          <a:solidFill>
            <a:srgbClr val="ED8B1F"/>
          </a:solidFill>
          <a:ln>
            <a:noFill/>
            <a:prstDash val="solid"/>
            <a:extLst>
              <a:ext uri="{C807C97D-BFC1-408E-A445-0C87EB9F89A2}">
                <ask:lineSketchStyleProps xmlns:ask="http://schemas.microsoft.com/office/drawing/2018/sketchyshapes" sd="1989016664">
                  <a:custGeom>
                    <a:avLst/>
                    <a:gdLst>
                      <a:gd name="connsiteX0" fmla="*/ 0 w 5706534"/>
                      <a:gd name="connsiteY0" fmla="*/ 73353 h 293410"/>
                      <a:gd name="connsiteX1" fmla="*/ 5559829 w 5706534"/>
                      <a:gd name="connsiteY1" fmla="*/ 73353 h 293410"/>
                      <a:gd name="connsiteX2" fmla="*/ 5559829 w 5706534"/>
                      <a:gd name="connsiteY2" fmla="*/ 0 h 293410"/>
                      <a:gd name="connsiteX3" fmla="*/ 5706534 w 5706534"/>
                      <a:gd name="connsiteY3" fmla="*/ 146705 h 293410"/>
                      <a:gd name="connsiteX4" fmla="*/ 5559829 w 5706534"/>
                      <a:gd name="connsiteY4" fmla="*/ 293410 h 293410"/>
                      <a:gd name="connsiteX5" fmla="*/ 5559829 w 5706534"/>
                      <a:gd name="connsiteY5" fmla="*/ 220058 h 293410"/>
                      <a:gd name="connsiteX6" fmla="*/ 0 w 5706534"/>
                      <a:gd name="connsiteY6" fmla="*/ 220058 h 293410"/>
                      <a:gd name="connsiteX7" fmla="*/ 0 w 5706534"/>
                      <a:gd name="connsiteY7" fmla="*/ 73353 h 2934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5706534" h="293410" fill="none" extrusionOk="0">
                        <a:moveTo>
                          <a:pt x="0" y="73353"/>
                        </a:moveTo>
                        <a:cubicBezTo>
                          <a:pt x="1917000" y="114057"/>
                          <a:pt x="3156579" y="171298"/>
                          <a:pt x="5559829" y="73353"/>
                        </a:cubicBezTo>
                        <a:cubicBezTo>
                          <a:pt x="5554646" y="55171"/>
                          <a:pt x="5554575" y="24436"/>
                          <a:pt x="5559829" y="0"/>
                        </a:cubicBezTo>
                        <a:cubicBezTo>
                          <a:pt x="5589173" y="18338"/>
                          <a:pt x="5677816" y="118583"/>
                          <a:pt x="5706534" y="146705"/>
                        </a:cubicBezTo>
                        <a:cubicBezTo>
                          <a:pt x="5656649" y="218323"/>
                          <a:pt x="5600231" y="253349"/>
                          <a:pt x="5559829" y="293410"/>
                        </a:cubicBezTo>
                        <a:cubicBezTo>
                          <a:pt x="5553665" y="268385"/>
                          <a:pt x="5560131" y="229714"/>
                          <a:pt x="5559829" y="220058"/>
                        </a:cubicBezTo>
                        <a:cubicBezTo>
                          <a:pt x="4902549" y="224759"/>
                          <a:pt x="575841" y="262941"/>
                          <a:pt x="0" y="220058"/>
                        </a:cubicBezTo>
                        <a:cubicBezTo>
                          <a:pt x="1042" y="158213"/>
                          <a:pt x="5645" y="123314"/>
                          <a:pt x="0" y="73353"/>
                        </a:cubicBezTo>
                        <a:close/>
                      </a:path>
                      <a:path w="5706534" h="293410" stroke="0" extrusionOk="0">
                        <a:moveTo>
                          <a:pt x="0" y="73353"/>
                        </a:moveTo>
                        <a:cubicBezTo>
                          <a:pt x="865324" y="129845"/>
                          <a:pt x="3996683" y="154031"/>
                          <a:pt x="5559829" y="73353"/>
                        </a:cubicBezTo>
                        <a:cubicBezTo>
                          <a:pt x="5554925" y="61235"/>
                          <a:pt x="5557858" y="16100"/>
                          <a:pt x="5559829" y="0"/>
                        </a:cubicBezTo>
                        <a:cubicBezTo>
                          <a:pt x="5593760" y="11922"/>
                          <a:pt x="5689690" y="110624"/>
                          <a:pt x="5706534" y="146705"/>
                        </a:cubicBezTo>
                        <a:cubicBezTo>
                          <a:pt x="5628774" y="205235"/>
                          <a:pt x="5618359" y="245610"/>
                          <a:pt x="5559829" y="293410"/>
                        </a:cubicBezTo>
                        <a:cubicBezTo>
                          <a:pt x="5556115" y="266777"/>
                          <a:pt x="5565982" y="249372"/>
                          <a:pt x="5559829" y="220058"/>
                        </a:cubicBezTo>
                        <a:cubicBezTo>
                          <a:pt x="4032228" y="55060"/>
                          <a:pt x="2067883" y="382658"/>
                          <a:pt x="0" y="220058"/>
                        </a:cubicBezTo>
                        <a:cubicBezTo>
                          <a:pt x="-774" y="158553"/>
                          <a:pt x="-6907" y="125493"/>
                          <a:pt x="0" y="7335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scene3d>
            <a:camera prst="orthographicFron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4FEE289D-C1B4-438E-BE88-4698A065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380" y="2458935"/>
            <a:ext cx="6621414" cy="666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567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215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229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021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16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735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105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26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D52D8-271A-D0E4-E343-975532E0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811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 [1785876052724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나눔스퀘어 네오 Heavy" panose="020F0302020204030204"/>
        <a:ea typeface="나눔스퀘어 네오 Heavy"/>
        <a:cs typeface="나눔스퀘어 네오 Heavy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스퀘어 네오 Heavy" panose="020F0502020204030204"/>
        <a:ea typeface="나눔스퀘어 네오 Heavy"/>
        <a:cs typeface="나눔스퀘어 네오 Heavy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B85EAA-3ED8-469B-8B1D-1F7267D1DE82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07a548ed-06dd-4bd3-8eb6-c9868cd6e47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344</Words>
  <Application>Microsoft Office PowerPoint</Application>
  <PresentationFormat>사용자 지정</PresentationFormat>
  <Paragraphs>99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나눔스퀘어 네오 Heavy</vt:lpstr>
      <vt:lpstr>나눔스퀘어 네오 OTF Bold</vt:lpstr>
      <vt:lpstr>나눔스퀘어 네오 OTF Heavy</vt:lpstr>
      <vt:lpstr>맑은 고딕</vt:lpstr>
      <vt:lpstr>Arial</vt:lpstr>
      <vt:lpstr>Office Theme [1785876052724]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우찬 황</cp:lastModifiedBy>
  <cp:revision>74</cp:revision>
  <dcterms:created xsi:type="dcterms:W3CDTF">2026-07-23T03:00:28Z</dcterms:created>
  <dcterms:modified xsi:type="dcterms:W3CDTF">2026-08-07T05:42:22Z</dcterms:modified>
  <cp:version/>
</cp:coreProperties>
</file>