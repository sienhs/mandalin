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6" r:id="rId1"/>
  </p:sldMasterIdLst>
  <p:notesMasterIdLst>
    <p:notesMasterId r:id="rId20"/>
  </p:notesMasterIdLst>
  <p:sldIdLst>
    <p:sldId id="347" r:id="rId2"/>
    <p:sldId id="348" r:id="rId3"/>
    <p:sldId id="349" r:id="rId4"/>
    <p:sldId id="340" r:id="rId5"/>
    <p:sldId id="327" r:id="rId6"/>
    <p:sldId id="328" r:id="rId7"/>
    <p:sldId id="329" r:id="rId8"/>
    <p:sldId id="342" r:id="rId9"/>
    <p:sldId id="331" r:id="rId10"/>
    <p:sldId id="332" r:id="rId11"/>
    <p:sldId id="333" r:id="rId12"/>
    <p:sldId id="330" r:id="rId13"/>
    <p:sldId id="334" r:id="rId14"/>
    <p:sldId id="335" r:id="rId15"/>
    <p:sldId id="336" r:id="rId16"/>
    <p:sldId id="337" r:id="rId17"/>
    <p:sldId id="338" r:id="rId18"/>
    <p:sldId id="339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0079"/>
    <a:srgbClr val="B33A76"/>
    <a:srgbClr val="FDF3E7"/>
    <a:srgbClr val="3A2100"/>
    <a:srgbClr val="2B1400"/>
    <a:srgbClr val="FCE9CC"/>
    <a:srgbClr val="ED8B1F"/>
    <a:srgbClr val="F1C1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46" autoAdjust="0"/>
    <p:restoredTop sz="94610"/>
  </p:normalViewPr>
  <p:slideViewPr>
    <p:cSldViewPr snapToGrid="0" snapToObjects="1">
      <p:cViewPr>
        <p:scale>
          <a:sx n="25" d="100"/>
          <a:sy n="25" d="100"/>
        </p:scale>
        <p:origin x="2472" y="70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E5A22-2728-21AF-960D-FB1DF5FE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0F5A-CB3E-38FA-7DB4-DC94BACF8F9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CC79BB-97C2-1C33-75D6-2ADF08B07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dirty="0"/>
              <a:t>팀 </a:t>
            </a:r>
            <a:r>
              <a:rPr lang="en-US" dirty="0" err="1"/>
              <a:t>소개</a:t>
            </a:r>
            <a:r>
              <a:rPr lang="en-US" dirty="0"/>
              <a:t> 및 </a:t>
            </a:r>
            <a:r>
              <a:rPr lang="en-US" dirty="0" err="1"/>
              <a:t>서비스</a:t>
            </a:r>
            <a:r>
              <a:rPr lang="en-US" dirty="0"/>
              <a:t> 한 줄 </a:t>
            </a:r>
            <a:r>
              <a:rPr lang="en-US" dirty="0" err="1"/>
              <a:t>소개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9A673-28D3-8D6B-4798-79B724757C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434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D091C-8B98-DD8E-F408-1D3AC886F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78500-7511-C7B1-1448-649CDA9FC06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A03E2-BFC1-16DA-AD5C-52E69428A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dirty="0"/>
              <a:t>팀 </a:t>
            </a:r>
            <a:r>
              <a:rPr lang="en-US" dirty="0" err="1"/>
              <a:t>소개</a:t>
            </a:r>
            <a:r>
              <a:rPr lang="en-US" dirty="0"/>
              <a:t> 및 </a:t>
            </a:r>
            <a:r>
              <a:rPr lang="en-US" dirty="0" err="1"/>
              <a:t>서비스</a:t>
            </a:r>
            <a:r>
              <a:rPr lang="en-US" dirty="0"/>
              <a:t> 한 줄 </a:t>
            </a:r>
            <a:r>
              <a:rPr lang="en-US" dirty="0" err="1"/>
              <a:t>소개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23AB2-E76D-E9D9-53F4-10DDDD79CC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6155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865E4-6059-5944-455C-E7595BBD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DF990-ACC9-EC5F-D5D8-206E0165CE5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3E7CD-D9F8-F4D6-2F6C-206267F17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dirty="0"/>
              <a:t>팀 </a:t>
            </a:r>
            <a:r>
              <a:rPr lang="en-US" dirty="0" err="1"/>
              <a:t>소개</a:t>
            </a:r>
            <a:r>
              <a:rPr lang="en-US" dirty="0"/>
              <a:t> 및 </a:t>
            </a:r>
            <a:r>
              <a:rPr lang="en-US" dirty="0" err="1"/>
              <a:t>서비스</a:t>
            </a:r>
            <a:r>
              <a:rPr lang="en-US" dirty="0"/>
              <a:t> 한 줄 </a:t>
            </a:r>
            <a:r>
              <a:rPr lang="en-US" dirty="0" err="1"/>
              <a:t>소개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F6D4B-A351-835F-5845-457705206C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160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8918-5AE0-CB54-2D16-3526F261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D06CA4-6E5E-D47D-2588-F7B28A48CAD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37D252-193B-C04F-89E1-50FBC3A783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2E03D-4A6B-4EF1-9655-5BAA316B2A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226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BE14D-D099-7A14-AD47-0671ADCD0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942D85-1532-2377-9A38-8FC29A5BDA1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EC529-88AC-6ED0-2AA1-9EF7669FF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6256A-9ED9-DD97-C500-E4C041C6D5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488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EB77-E9AE-BA25-627A-32B6C4DE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27103A-50D6-0C1C-AC11-BFA6B829080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EC2182-14DC-0FB0-53EA-4673041F0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1E633-F68E-1B08-2F78-644546E5F5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217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369E-2068-0F8C-F378-0CC4E556E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A47460-4A1B-7A14-5E28-79370825FF3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4BB7B-D0D7-6EDB-9C52-793DC944A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B85C0-0A11-2024-8111-E77294D5F6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597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702FB-55BA-CAB1-1784-E0B9E4C7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F3CD0-A634-419A-4C7F-64AAC267D18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D4E9-6AD8-D888-A765-B4C48C739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7D762-B8E1-2F75-AC03-CB71A1F62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713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B142D-5510-0847-C026-3BBB53A3A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8EFFC2-BDA1-1839-F494-544676193E7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EFB026-AF95-C979-2DBF-FB9D41752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272A6D-4982-13D1-732F-1F0520ECE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076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A0500-2136-A996-2B27-906679C4C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69ECC3-E05C-1A14-717C-D69FEE3DF6E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9DFEF9-596E-CE9B-44F6-35467CD36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4C90C-C0CC-EB4C-1CFF-08AA490321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25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BA332-F267-4E8D-C629-202AD1A28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16D950-6AB1-D0AD-C58C-F5BEA80C044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5CB2F0-EB10-6E91-3F3C-A86681FE1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7734F-C6E0-BEB9-DE77-2B207F3949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4021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64B69-716A-C3BB-1E2D-E5B042042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44F0E-4235-9D92-33B6-D2E34DCA72A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898B7-4F7F-A223-E9C7-F3E1DA324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2BF7F-BBDF-9086-F168-58D1BDDA3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565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07B94-6797-0039-6AE5-0200DD470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1315E-A75A-BDB8-2183-5AFE6382F61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B74AD6-2D5C-DD67-79B1-89D68F16E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F756D-9FA8-B868-6762-A5080125F2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6439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DBBCB-93B6-C544-E699-3ED99A71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F1823-11B9-7133-C226-AD210FDE26B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A4730-0B54-792D-6724-0A326EDF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4824D-7ABF-2DF8-2FD2-14C80F964D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172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F74A9-805B-5A01-B875-AEA7BF5D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0F79D7-5239-16C0-E331-017CFDDC5D5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72C576-3AB2-5413-9EAD-1FF319AD62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59E41-2D3A-7940-4B6B-23335B8E3B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840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261D8-8645-1077-40B5-79A1BA933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F3F110-DA20-D4AA-A612-C6371E6F727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8BCD3-45B6-46E5-68DD-19B7F1CA0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337E1-FD60-DC86-7791-6DF33FA8AD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7798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BF794-7993-439D-56E9-8DDD45E36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9D0892-0372-4908-7F79-F70118EC870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21546-5A41-01D5-E137-C9BB8EF40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287E3-63CC-9412-FF7B-D3A63F33D0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290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9pPr>
    </p:bodyStyle>
    <p:otherStyle>
      <a:defPPr>
        <a:defRPr lang="en-US" spc="-100"/>
      </a:defPPr>
      <a:lvl1pPr marL="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1pPr>
      <a:lvl2pPr marL="4572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2pPr>
      <a:lvl3pPr marL="9144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3pPr>
      <a:lvl4pPr marL="13716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4pPr>
      <a:lvl5pPr marL="18288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5pPr>
      <a:lvl6pPr marL="22860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6pPr>
      <a:lvl7pPr marL="27432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7pPr>
      <a:lvl8pPr marL="32004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8pPr>
      <a:lvl9pPr marL="3657600" algn="l" defTabSz="914400" rtl="0" eaLnBrk="1" latinLnBrk="0" hangingPunct="1">
        <a:defRPr sz="1800" kern="1200" spc="-100">
          <a:solidFill>
            <a:schemeClr val="tx1"/>
          </a:solidFill>
          <a:latin typeface="나눔스퀘어 네오 Heavy"/>
          <a:ea typeface="나눔스퀘어 네오 Heavy"/>
          <a:cs typeface="나눔스퀘어 네오 Heavy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0405ADD-F2B5-DA45-712F-B3237DE8094C}"/>
              </a:ext>
            </a:extLst>
          </p:cNvPr>
          <p:cNvSpPr/>
          <p:nvPr/>
        </p:nvSpPr>
        <p:spPr>
          <a:xfrm>
            <a:off x="3518375" y="4624884"/>
            <a:ext cx="11251247" cy="1113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en-US" sz="9600" b="1" spc="-100" dirty="0">
                <a:solidFill>
                  <a:srgbClr val="3A21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MANDAL-IN</a:t>
            </a:r>
            <a:endParaRPr lang="en-US" sz="9600" spc="-100" dirty="0">
              <a:solidFill>
                <a:srgbClr val="3A21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5908035" y="9305693"/>
            <a:ext cx="647193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spc="-100" dirty="0" err="1">
                <a:solidFill>
                  <a:srgbClr val="3A2100"/>
                </a:solidFill>
                <a:latin typeface="나눔스퀘어 네오 Heavy" pitchFamily="34" charset="0"/>
                <a:ea typeface="나눔스퀘어 네오 Heavy" pitchFamily="34" charset="-122"/>
                <a:cs typeface="나눔스퀘어 네오 Heavy" pitchFamily="34" charset="-120"/>
              </a:rPr>
              <a:t>정희성</a:t>
            </a:r>
            <a:r>
              <a:rPr lang="en-US" sz="1800" b="1" spc="-100" dirty="0">
                <a:solidFill>
                  <a:srgbClr val="3A2100"/>
                </a:solidFill>
                <a:latin typeface="나눔스퀘어 네오 Heavy" pitchFamily="34" charset="0"/>
                <a:ea typeface="나눔스퀘어 네오 Heavy" pitchFamily="34" charset="-122"/>
                <a:cs typeface="나눔스퀘어 네오 Heavy" pitchFamily="34" charset="-120"/>
              </a:rPr>
              <a:t> · 권병수 · 김재현 · 이성현 · 지성근 · 황우찬</a:t>
            </a:r>
            <a:endParaRPr lang="en-US" b="1" spc="-100" dirty="0">
              <a:solidFill>
                <a:srgbClr val="3A2100"/>
              </a:solidFill>
              <a:latin typeface="나눔스퀘어 네오 Heavy" pitchFamily="34" charset="0"/>
              <a:ea typeface="나눔스퀘어 네오 Heavy" pitchFamily="34" charset="-122"/>
              <a:cs typeface="나눔스퀘어 네오 Heavy" pitchFamily="34" charset="-120"/>
            </a:endParaRPr>
          </a:p>
          <a:p>
            <a:pPr marL="0" indent="0" algn="ctr">
              <a:buNone/>
            </a:pPr>
            <a:endParaRPr lang="en-US" sz="1800" b="1" spc="-100" dirty="0">
              <a:solidFill>
                <a:srgbClr val="3A21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3BCC8FAC-444F-0437-A84B-69ECE4ADA7E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892402" y="5086103"/>
              <a:ext cx="112717" cy="11479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2717" cy="114793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6876" ay="-1" az="-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418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3BCC8FAC-444F-0437-A84B-69ECE4ADA7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892402" y="5086103"/>
                <a:ext cx="112717" cy="114793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5">
            <a:extLst>
              <a:ext uri="{FF2B5EF4-FFF2-40B4-BE49-F238E27FC236}">
                <a16:creationId xmlns:a16="http://schemas.microsoft.com/office/drawing/2014/main" id="{0AE6DA0A-747F-D20F-C625-48844BF75717}"/>
              </a:ext>
            </a:extLst>
          </p:cNvPr>
          <p:cNvSpPr/>
          <p:nvPr/>
        </p:nvSpPr>
        <p:spPr>
          <a:xfrm>
            <a:off x="8483960" y="8914029"/>
            <a:ext cx="132007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ko-KR" altLang="en-US" sz="1800" b="1" spc="-100">
                <a:solidFill>
                  <a:srgbClr val="3A2100"/>
                </a:solidFill>
                <a:latin typeface="나눔스퀘어 네오 Heavy" pitchFamily="34" charset="0"/>
                <a:ea typeface="나눔스퀘어 네오 Heavy" pitchFamily="34" charset="-122"/>
                <a:cs typeface="나눔스퀘어 네오 Heavy" pitchFamily="34" charset="-120"/>
              </a:rPr>
              <a:t>팀　</a:t>
            </a:r>
            <a:r>
              <a:rPr lang="ko-KR" altLang="en-US" sz="1800" b="1" spc="-100" dirty="0" err="1">
                <a:solidFill>
                  <a:srgbClr val="3A2100"/>
                </a:solidFill>
                <a:latin typeface="나눔스퀘어 네오 Heavy" pitchFamily="34" charset="0"/>
                <a:ea typeface="나눔스퀘어 네오 Heavy" pitchFamily="34" charset="-122"/>
                <a:cs typeface="나눔스퀘어 네오 Heavy" pitchFamily="34" charset="-120"/>
              </a:rPr>
              <a:t>일오다</a:t>
            </a:r>
            <a:endParaRPr lang="en-US" sz="1800" b="1" spc="-100" dirty="0">
              <a:solidFill>
                <a:srgbClr val="3A2100"/>
              </a:solidFill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5149703-4B49-6184-9304-5DA53624423B}"/>
              </a:ext>
            </a:extLst>
          </p:cNvPr>
          <p:cNvSpPr/>
          <p:nvPr/>
        </p:nvSpPr>
        <p:spPr>
          <a:xfrm>
            <a:off x="1588928" y="6007024"/>
            <a:ext cx="15110140" cy="1027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ko-KR" altLang="en-US" sz="48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사람들을 </a:t>
            </a:r>
            <a:r>
              <a:rPr lang="ko-KR" altLang="en-US" sz="4800" b="1" spc="-100" dirty="0" err="1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만다라트에</a:t>
            </a:r>
            <a:r>
              <a:rPr lang="ko-KR" altLang="en-US" sz="48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 참여시키겠다</a:t>
            </a:r>
            <a:endParaRPr lang="en-US" sz="48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36334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D479F-993B-81F2-5205-7F2D3803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34C0B17E-43C9-414A-27E8-CB007DF113F7}"/>
              </a:ext>
            </a:extLst>
          </p:cNvPr>
          <p:cNvSpPr/>
          <p:nvPr/>
        </p:nvSpPr>
        <p:spPr>
          <a:xfrm>
            <a:off x="-145318976" y="-14170760"/>
            <a:ext cx="395833600" cy="3830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en-US" sz="400000" b="1" spc="-100" dirty="0">
                <a:solidFill>
                  <a:srgbClr val="3A21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MANDAL-IN</a:t>
            </a:r>
            <a:endParaRPr lang="en-US" sz="400000" spc="-100" dirty="0">
              <a:solidFill>
                <a:srgbClr val="3A21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E5B48FE-2B72-B952-BA95-5A29A6695E26}"/>
              </a:ext>
            </a:extLst>
          </p:cNvPr>
          <p:cNvSpPr/>
          <p:nvPr/>
        </p:nvSpPr>
        <p:spPr>
          <a:xfrm>
            <a:off x="739460" y="1906940"/>
            <a:ext cx="8099740" cy="1027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ko-KR" altLang="en-US" sz="88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목표를 실천하면</a:t>
            </a:r>
            <a:endParaRPr lang="en-US" sz="88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3E4974-DEB6-3197-205B-A57B6F4717C9}"/>
              </a:ext>
            </a:extLst>
          </p:cNvPr>
          <p:cNvSpPr/>
          <p:nvPr/>
        </p:nvSpPr>
        <p:spPr>
          <a:xfrm>
            <a:off x="1845311" y="2992790"/>
            <a:ext cx="6428398" cy="1027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ko-KR" altLang="en-US" sz="80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마을이 자란다</a:t>
            </a:r>
            <a:endParaRPr lang="en-US" sz="80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3BCC8FAC-444F-0437-A84B-69ECE4ADA7E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764750" y="-1481333"/>
              <a:ext cx="14198497" cy="12163392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4198497" cy="12163392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0802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3BCC8FAC-444F-0437-A84B-69ECE4ADA7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64750" y="-1481333"/>
                <a:ext cx="14198497" cy="1216339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867883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D1879-58B0-887A-09A3-DC0918F70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3D 모델 5">
                <a:extLst>
                  <a:ext uri="{FF2B5EF4-FFF2-40B4-BE49-F238E27FC236}">
                    <a16:creationId xmlns:a16="http://schemas.microsoft.com/office/drawing/2014/main" id="{96EDDAC5-42D6-0682-71F6-91FE2E39940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0834308"/>
                  </p:ext>
                </p:extLst>
              </p:nvPr>
            </p:nvGraphicFramePr>
            <p:xfrm>
              <a:off x="10032174" y="-643130"/>
              <a:ext cx="14198488" cy="1216338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4198488" cy="12163386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080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3D 모델 5">
                <a:extLst>
                  <a:ext uri="{FF2B5EF4-FFF2-40B4-BE49-F238E27FC236}">
                    <a16:creationId xmlns:a16="http://schemas.microsoft.com/office/drawing/2014/main" id="{96EDDAC5-42D6-0682-71F6-91FE2E3994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32174" y="-643130"/>
                <a:ext cx="14198488" cy="12163386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 1">
            <a:extLst>
              <a:ext uri="{FF2B5EF4-FFF2-40B4-BE49-F238E27FC236}">
                <a16:creationId xmlns:a16="http://schemas.microsoft.com/office/drawing/2014/main" id="{AD8C65DD-5D75-F6C3-63FE-33AF4A064B64}"/>
              </a:ext>
            </a:extLst>
          </p:cNvPr>
          <p:cNvSpPr/>
          <p:nvPr/>
        </p:nvSpPr>
        <p:spPr>
          <a:xfrm>
            <a:off x="1272860" y="3984361"/>
            <a:ext cx="15110140" cy="689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 </a:t>
            </a:r>
            <a:r>
              <a:rPr lang="en-US" altLang="ko-KR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AI</a:t>
            </a: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와의 대화로 </a:t>
            </a:r>
            <a:r>
              <a:rPr lang="ko-KR" altLang="en-US" sz="4400" b="1" spc="-100" dirty="0" err="1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만다라트를</a:t>
            </a: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 채우고</a:t>
            </a:r>
            <a:r>
              <a:rPr lang="en-US" altLang="ko-KR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실천할수록 나만의 </a:t>
            </a:r>
            <a:r>
              <a:rPr lang="en-US" altLang="ko-KR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3D </a:t>
            </a: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마을이 </a:t>
            </a:r>
            <a:endParaRPr lang="en-US" altLang="ko-KR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성장하는 목표관리 서비스</a:t>
            </a:r>
            <a:r>
              <a:rPr lang="en-US" altLang="ko-KR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.</a:t>
            </a:r>
            <a:endParaRPr lang="en-US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9AE87A67-7557-B257-9C7E-20C8E9796CB5}"/>
              </a:ext>
            </a:extLst>
          </p:cNvPr>
          <p:cNvSpPr/>
          <p:nvPr/>
        </p:nvSpPr>
        <p:spPr>
          <a:xfrm>
            <a:off x="1272860" y="1088760"/>
            <a:ext cx="15110140" cy="1768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7200" b="1" spc="-100" dirty="0" err="1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만다라트</a:t>
            </a:r>
            <a:r>
              <a:rPr lang="ko-KR" altLang="en-US" sz="72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 </a:t>
            </a:r>
            <a:r>
              <a:rPr lang="en-US" altLang="ko-KR" sz="72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× AI </a:t>
            </a:r>
            <a:r>
              <a:rPr lang="ko-KR" altLang="en-US" sz="72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코치 </a:t>
            </a:r>
            <a:r>
              <a:rPr lang="en-US" altLang="ko-KR" sz="72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× </a:t>
            </a:r>
            <a:r>
              <a:rPr lang="ko-KR" altLang="en-US" sz="72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나만의 마을</a:t>
            </a:r>
            <a:endParaRPr lang="en-US" sz="72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275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0B5F9-9718-C00C-B623-6F05793C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114CE5F5-F77A-7E04-9EC0-038312B84DB7}"/>
              </a:ext>
            </a:extLst>
          </p:cNvPr>
          <p:cNvSpPr/>
          <p:nvPr/>
        </p:nvSpPr>
        <p:spPr>
          <a:xfrm>
            <a:off x="943952" y="667720"/>
            <a:ext cx="3648999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en-US" sz="80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INDEX</a:t>
            </a: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66028C4-9755-2CD2-5E17-CC0E90629F8D}"/>
              </a:ext>
            </a:extLst>
          </p:cNvPr>
          <p:cNvSpPr/>
          <p:nvPr/>
        </p:nvSpPr>
        <p:spPr>
          <a:xfrm>
            <a:off x="943952" y="1634760"/>
            <a:ext cx="3177049" cy="6316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2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발표 진행 순서</a:t>
            </a:r>
            <a:endParaRPr lang="en-US" sz="2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11" name="Text 22">
            <a:extLst>
              <a:ext uri="{FF2B5EF4-FFF2-40B4-BE49-F238E27FC236}">
                <a16:creationId xmlns:a16="http://schemas.microsoft.com/office/drawing/2014/main" id="{335FCCE6-D61A-799D-C8F1-3A9B10447841}"/>
              </a:ext>
            </a:extLst>
          </p:cNvPr>
          <p:cNvSpPr/>
          <p:nvPr/>
        </p:nvSpPr>
        <p:spPr>
          <a:xfrm>
            <a:off x="1041846" y="7105287"/>
            <a:ext cx="3661638" cy="1351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4. </a:t>
            </a:r>
            <a:r>
              <a:rPr lang="ko-KR" altLang="en-US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마무리</a:t>
            </a:r>
            <a:endParaRPr lang="en-US" sz="4400" spc="-100" dirty="0">
              <a:solidFill>
                <a:srgbClr val="2B14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13" name="Text 22">
            <a:extLst>
              <a:ext uri="{FF2B5EF4-FFF2-40B4-BE49-F238E27FC236}">
                <a16:creationId xmlns:a16="http://schemas.microsoft.com/office/drawing/2014/main" id="{EFC90BB2-6941-7541-7619-8CA490EB7F00}"/>
              </a:ext>
            </a:extLst>
          </p:cNvPr>
          <p:cNvSpPr/>
          <p:nvPr/>
        </p:nvSpPr>
        <p:spPr>
          <a:xfrm>
            <a:off x="1035526" y="5143500"/>
            <a:ext cx="3661638" cy="1351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2. </a:t>
            </a:r>
            <a:r>
              <a:rPr lang="ko-KR" altLang="en-US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서비스 소개</a:t>
            </a:r>
            <a:endParaRPr lang="en-US" sz="4400" spc="-100" dirty="0">
              <a:solidFill>
                <a:srgbClr val="2B14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15" name="Text 22">
            <a:extLst>
              <a:ext uri="{FF2B5EF4-FFF2-40B4-BE49-F238E27FC236}">
                <a16:creationId xmlns:a16="http://schemas.microsoft.com/office/drawing/2014/main" id="{EAC18E56-CDA5-5F3B-68B6-E371790C89FA}"/>
              </a:ext>
            </a:extLst>
          </p:cNvPr>
          <p:cNvSpPr/>
          <p:nvPr/>
        </p:nvSpPr>
        <p:spPr>
          <a:xfrm>
            <a:off x="1041846" y="6092084"/>
            <a:ext cx="3661638" cy="1351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3. </a:t>
            </a:r>
            <a:r>
              <a:rPr lang="ko-KR" altLang="en-US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기술 소개</a:t>
            </a:r>
            <a:endParaRPr lang="en-US" sz="4400" spc="-100" dirty="0">
              <a:solidFill>
                <a:srgbClr val="2B14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17" name="Text 22">
            <a:extLst>
              <a:ext uri="{FF2B5EF4-FFF2-40B4-BE49-F238E27FC236}">
                <a16:creationId xmlns:a16="http://schemas.microsoft.com/office/drawing/2014/main" id="{2920CE8D-A689-DC73-83B7-17F171CC657E}"/>
              </a:ext>
            </a:extLst>
          </p:cNvPr>
          <p:cNvSpPr/>
          <p:nvPr/>
        </p:nvSpPr>
        <p:spPr>
          <a:xfrm>
            <a:off x="1035526" y="4182186"/>
            <a:ext cx="3661638" cy="1351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1. </a:t>
            </a:r>
            <a:r>
              <a:rPr lang="ko-KR" altLang="en-US" sz="4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기획 배경</a:t>
            </a:r>
            <a:endParaRPr lang="en-US" sz="4400" spc="-100" dirty="0">
              <a:solidFill>
                <a:srgbClr val="2B14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3" name="Text 22">
            <a:extLst>
              <a:ext uri="{FF2B5EF4-FFF2-40B4-BE49-F238E27FC236}">
                <a16:creationId xmlns:a16="http://schemas.microsoft.com/office/drawing/2014/main" id="{AFD2A4A1-CEE4-BBF1-A8AB-0C4F95BC70E9}"/>
              </a:ext>
            </a:extLst>
          </p:cNvPr>
          <p:cNvSpPr/>
          <p:nvPr/>
        </p:nvSpPr>
        <p:spPr>
          <a:xfrm>
            <a:off x="1035526" y="2634126"/>
            <a:ext cx="5360618" cy="2033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5400" b="1" spc="-100" dirty="0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0. </a:t>
            </a:r>
            <a:r>
              <a:rPr lang="ko-KR" altLang="en-US" sz="5400" b="1" spc="-100" dirty="0" err="1">
                <a:solidFill>
                  <a:srgbClr val="2B1400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  <a:cs typeface="나눔스퀘어 네오 Heavy" pitchFamily="34" charset="-120"/>
              </a:rPr>
              <a:t>만다라트란</a:t>
            </a:r>
            <a:endParaRPr lang="en-US" sz="5400" spc="-100" dirty="0">
              <a:solidFill>
                <a:srgbClr val="2B1400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3D 모델 5">
                <a:extLst>
                  <a:ext uri="{FF2B5EF4-FFF2-40B4-BE49-F238E27FC236}">
                    <a16:creationId xmlns:a16="http://schemas.microsoft.com/office/drawing/2014/main" id="{B895C6FD-E200-7AD7-7BF0-B601F82D18A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51669393"/>
                  </p:ext>
                </p:extLst>
              </p:nvPr>
            </p:nvGraphicFramePr>
            <p:xfrm>
              <a:off x="5298150" y="-547887"/>
              <a:ext cx="14198492" cy="12163388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4198492" cy="12163388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0801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3D 모델 5">
                <a:extLst>
                  <a:ext uri="{FF2B5EF4-FFF2-40B4-BE49-F238E27FC236}">
                    <a16:creationId xmlns:a16="http://schemas.microsoft.com/office/drawing/2014/main" id="{B895C6FD-E200-7AD7-7BF0-B601F82D18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98150" y="-547887"/>
                <a:ext cx="14198492" cy="121633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14002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99B485-78B5-98FF-F00A-3A0C427DA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913E17C3-30BF-0062-62EB-FBF5F0F11DE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195455" y="970974"/>
              <a:ext cx="8350875" cy="8579560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8350875" cy="8579560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5268765" ay="2" az="-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786844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913E17C3-30BF-0062-62EB-FBF5F0F11D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95455" y="970974"/>
                <a:ext cx="8350875" cy="857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4431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DA3A0-E506-253E-B34E-6DA7BB465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9125C61E-629E-BEF9-DFF6-0F4C9521807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195455" y="970974"/>
              <a:ext cx="8350875" cy="8579560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8350875" cy="8579560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5268765" ay="2" az="-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786844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9125C61E-629E-BEF9-DFF6-0F4C9521807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95455" y="970974"/>
                <a:ext cx="8350875" cy="857956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그림 2" descr="20대의 삶을 업그레이드 하자] 만다라트 기법 편(feat.오타니 쇼헤이) - 20대에게 가장 필요한 커리어 정보, 슈퍼루키">
            <a:extLst>
              <a:ext uri="{FF2B5EF4-FFF2-40B4-BE49-F238E27FC236}">
                <a16:creationId xmlns:a16="http://schemas.microsoft.com/office/drawing/2014/main" id="{0F45611A-6EDF-9C22-7E79-A5755E095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455" y="1156855"/>
            <a:ext cx="8393679" cy="8393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60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7B53CD-9B82-A032-A395-E607F3C4D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F97F91A0-FF81-6F1A-BFAA-B58C3A8EF1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195455" y="970974"/>
              <a:ext cx="8350874" cy="8579559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8350874" cy="8579559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5268765" ay="2" az="-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78684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F97F91A0-FF81-6F1A-BFAA-B58C3A8EF1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95455" y="970974"/>
                <a:ext cx="8350874" cy="857955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39842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C111C0-73DA-1DC3-2545-BC6C0E66F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13E9173A-7255-F9B8-631F-9D3B4368DD4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47775627"/>
                  </p:ext>
                </p:extLst>
              </p:nvPr>
            </p:nvGraphicFramePr>
            <p:xfrm>
              <a:off x="16587070" y="1262063"/>
              <a:ext cx="13917459" cy="12348691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3917459" cy="12348691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40029" ay="2192418" az="83394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786844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13E9173A-7255-F9B8-631F-9D3B4368DD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587070" y="1262063"/>
                <a:ext cx="13917459" cy="12348691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 1">
            <a:extLst>
              <a:ext uri="{FF2B5EF4-FFF2-40B4-BE49-F238E27FC236}">
                <a16:creationId xmlns:a16="http://schemas.microsoft.com/office/drawing/2014/main" id="{0CA57815-EBE3-E587-D1C9-377BB3AC7AA7}"/>
              </a:ext>
            </a:extLst>
          </p:cNvPr>
          <p:cNvSpPr/>
          <p:nvPr/>
        </p:nvSpPr>
        <p:spPr>
          <a:xfrm>
            <a:off x="4910626" y="4549156"/>
            <a:ext cx="8466748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ko-KR" altLang="en-US" sz="80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목표는 왜 실패할까</a:t>
            </a:r>
            <a:r>
              <a:rPr lang="en-US" altLang="ko-KR" sz="80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?</a:t>
            </a:r>
            <a:endParaRPr lang="en-US" sz="80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72610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F6D747-5823-C905-3BD0-8DC605EC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1">
            <a:extLst>
              <a:ext uri="{FF2B5EF4-FFF2-40B4-BE49-F238E27FC236}">
                <a16:creationId xmlns:a16="http://schemas.microsoft.com/office/drawing/2014/main" id="{0A3D63FA-F653-C8B8-4E17-4F846D3E1631}"/>
              </a:ext>
            </a:extLst>
          </p:cNvPr>
          <p:cNvSpPr/>
          <p:nvPr/>
        </p:nvSpPr>
        <p:spPr>
          <a:xfrm>
            <a:off x="5375479" y="473927"/>
            <a:ext cx="7567032" cy="669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목표는 왜 실패할까</a:t>
            </a:r>
            <a:r>
              <a:rPr lang="en-US" altLang="ko-KR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876346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D52D8-271A-D0E4-E343-975532E0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99F46D52-7F59-E3BD-1036-63FB6AD3B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1154" y="251687"/>
            <a:ext cx="16955682" cy="229558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BCC65B-F10A-A73A-E217-BB51C37171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8754" y="2992582"/>
            <a:ext cx="17230492" cy="68204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CCFFB5E-B986-8E3E-0402-EE9427C8B5EA}"/>
              </a:ext>
            </a:extLst>
          </p:cNvPr>
          <p:cNvSpPr/>
          <p:nvPr/>
        </p:nvSpPr>
        <p:spPr>
          <a:xfrm>
            <a:off x="5375479" y="473927"/>
            <a:ext cx="7567032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기획 배경</a:t>
            </a:r>
            <a:endParaRPr lang="en-US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8C2DD65C-123C-2F7B-422F-EEDD66FE823A}"/>
              </a:ext>
            </a:extLst>
          </p:cNvPr>
          <p:cNvSpPr/>
          <p:nvPr/>
        </p:nvSpPr>
        <p:spPr>
          <a:xfrm>
            <a:off x="3052762" y="1149150"/>
            <a:ext cx="12182475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수행 방법에 따른 목표 수행 지표</a:t>
            </a:r>
            <a:endParaRPr lang="en-US" altLang="ko-KR" sz="6600" b="1" spc="-100" dirty="0">
              <a:solidFill>
                <a:schemeClr val="tx1">
                  <a:lumMod val="95000"/>
                  <a:lumOff val="5000"/>
                </a:schemeClr>
              </a:solidFill>
              <a:latin typeface="나눔스퀘어 네오 Heavy" pitchFamily="2" charset="0"/>
              <a:ea typeface="나눔스퀘어 네오 Heavy" panose="020B0A02040204020203" pitchFamily="34" charset="0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D1781459-23C5-EE1D-E447-4CF3EA24C7A3}"/>
              </a:ext>
            </a:extLst>
          </p:cNvPr>
          <p:cNvSpPr/>
          <p:nvPr/>
        </p:nvSpPr>
        <p:spPr>
          <a:xfrm>
            <a:off x="5972318" y="9356459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출처: Gail Matthew – Goal Research Summary</a:t>
            </a:r>
            <a:endParaRPr lang="en-US" sz="1800" spc="-100" dirty="0">
              <a:latin typeface="나눔스퀘어 네오 Heavy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7192C17F-0A9A-A0EC-CC4D-4B0BCB5EC6AC}"/>
              </a:ext>
            </a:extLst>
          </p:cNvPr>
          <p:cNvGrpSpPr/>
          <p:nvPr/>
        </p:nvGrpSpPr>
        <p:grpSpPr>
          <a:xfrm>
            <a:off x="2334079" y="4672834"/>
            <a:ext cx="13619842" cy="3416485"/>
            <a:chOff x="965874" y="3846216"/>
            <a:chExt cx="15621000" cy="4516734"/>
          </a:xfrm>
        </p:grpSpPr>
        <p:sp>
          <p:nvSpPr>
            <p:cNvPr id="4" name="Text 9">
              <a:extLst>
                <a:ext uri="{FF2B5EF4-FFF2-40B4-BE49-F238E27FC236}">
                  <a16:creationId xmlns:a16="http://schemas.microsoft.com/office/drawing/2014/main" id="{09D07B26-701D-E7EB-0433-E4B211D94827}"/>
                </a:ext>
              </a:extLst>
            </p:cNvPr>
            <p:cNvSpPr/>
            <p:nvPr/>
          </p:nvSpPr>
          <p:spPr>
            <a:xfrm>
              <a:off x="1585754" y="5101503"/>
              <a:ext cx="1686198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4.28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5" name="Shape 10">
              <a:extLst>
                <a:ext uri="{FF2B5EF4-FFF2-40B4-BE49-F238E27FC236}">
                  <a16:creationId xmlns:a16="http://schemas.microsoft.com/office/drawing/2014/main" id="{8EC33F1D-37C5-1D6F-AED3-79B154FBBC52}"/>
                </a:ext>
              </a:extLst>
            </p:cNvPr>
            <p:cNvSpPr/>
            <p:nvPr/>
          </p:nvSpPr>
          <p:spPr>
            <a:xfrm>
              <a:off x="965874" y="6076950"/>
              <a:ext cx="2849860" cy="1428750"/>
            </a:xfrm>
            <a:custGeom>
              <a:avLst/>
              <a:gdLst/>
              <a:ahLst/>
              <a:cxnLst/>
              <a:rect l="l" t="t" r="r" b="b"/>
              <a:pathLst>
                <a:path w="2849860" h="142875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1428750"/>
                  </a:lnTo>
                  <a:lnTo>
                    <a:pt x="0" y="142875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>
                <a:latin typeface="나눔스퀘어 네오 Heavy" pitchFamily="2" charset="0"/>
              </a:endParaRPr>
            </a:p>
          </p:txBody>
        </p:sp>
        <p:sp>
          <p:nvSpPr>
            <p:cNvPr id="7" name="Text 11">
              <a:extLst>
                <a:ext uri="{FF2B5EF4-FFF2-40B4-BE49-F238E27FC236}">
                  <a16:creationId xmlns:a16="http://schemas.microsoft.com/office/drawing/2014/main" id="{BBF1DBBA-C2B3-A074-CBC1-DF1C4B9E10BE}"/>
                </a:ext>
              </a:extLst>
            </p:cNvPr>
            <p:cNvSpPr/>
            <p:nvPr/>
          </p:nvSpPr>
          <p:spPr>
            <a:xfrm>
              <a:off x="1309608" y="7658100"/>
              <a:ext cx="2187338" cy="6921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목표를</a:t>
              </a: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 </a:t>
              </a:r>
              <a:b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</a:b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적지</a:t>
              </a: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 </a:t>
              </a: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않음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8" name="Text 12">
              <a:extLst>
                <a:ext uri="{FF2B5EF4-FFF2-40B4-BE49-F238E27FC236}">
                  <a16:creationId xmlns:a16="http://schemas.microsoft.com/office/drawing/2014/main" id="{52C40590-454C-750D-7D74-41BB94AE7AE0}"/>
                </a:ext>
              </a:extLst>
            </p:cNvPr>
            <p:cNvSpPr/>
            <p:nvPr/>
          </p:nvSpPr>
          <p:spPr>
            <a:xfrm>
              <a:off x="4785331" y="4579743"/>
              <a:ext cx="1697958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6.08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9" name="Shape 13">
              <a:extLst>
                <a:ext uri="{FF2B5EF4-FFF2-40B4-BE49-F238E27FC236}">
                  <a16:creationId xmlns:a16="http://schemas.microsoft.com/office/drawing/2014/main" id="{BEC4AEEE-B41E-C7C1-67B8-1BE342958A5C}"/>
                </a:ext>
              </a:extLst>
            </p:cNvPr>
            <p:cNvSpPr/>
            <p:nvPr/>
          </p:nvSpPr>
          <p:spPr>
            <a:xfrm>
              <a:off x="4158634" y="5546725"/>
              <a:ext cx="2849959" cy="2028825"/>
            </a:xfrm>
            <a:custGeom>
              <a:avLst/>
              <a:gdLst/>
              <a:ahLst/>
              <a:cxnLst/>
              <a:rect l="l" t="t" r="r" b="b"/>
              <a:pathLst>
                <a:path w="2849959" h="2028825">
                  <a:moveTo>
                    <a:pt x="95250" y="0"/>
                  </a:moveTo>
                  <a:lnTo>
                    <a:pt x="2754709" y="0"/>
                  </a:lnTo>
                  <a:arcTo wR="95250" hR="95250" stAng="16200000" swAng="5400000"/>
                  <a:lnTo>
                    <a:pt x="2849959" y="2028825"/>
                  </a:lnTo>
                  <a:lnTo>
                    <a:pt x="0" y="2028825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 spc="-100">
                <a:latin typeface="나눔스퀘어 네오 Heavy" pitchFamily="2" charset="0"/>
              </a:endParaRPr>
            </a:p>
          </p:txBody>
        </p:sp>
        <p:sp>
          <p:nvSpPr>
            <p:cNvPr id="10" name="Text 14">
              <a:extLst>
                <a:ext uri="{FF2B5EF4-FFF2-40B4-BE49-F238E27FC236}">
                  <a16:creationId xmlns:a16="http://schemas.microsoft.com/office/drawing/2014/main" id="{AF7F2841-1520-986D-B60E-AD712D6E1FA4}"/>
                </a:ext>
              </a:extLst>
            </p:cNvPr>
            <p:cNvSpPr/>
            <p:nvPr/>
          </p:nvSpPr>
          <p:spPr>
            <a:xfrm>
              <a:off x="4476192" y="7715250"/>
              <a:ext cx="2187337" cy="6223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목표를</a:t>
              </a: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 </a:t>
              </a:r>
              <a:b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</a:b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적음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11" name="Text 15">
              <a:extLst>
                <a:ext uri="{FF2B5EF4-FFF2-40B4-BE49-F238E27FC236}">
                  <a16:creationId xmlns:a16="http://schemas.microsoft.com/office/drawing/2014/main" id="{2D674D7E-F9B0-D15F-00E4-3D07D9165778}"/>
                </a:ext>
              </a:extLst>
            </p:cNvPr>
            <p:cNvSpPr/>
            <p:nvPr/>
          </p:nvSpPr>
          <p:spPr>
            <a:xfrm>
              <a:off x="7856046" y="4697476"/>
              <a:ext cx="1697958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5.08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12" name="Shape 16">
              <a:extLst>
                <a:ext uri="{FF2B5EF4-FFF2-40B4-BE49-F238E27FC236}">
                  <a16:creationId xmlns:a16="http://schemas.microsoft.com/office/drawing/2014/main" id="{27CE7228-ABCC-A8F4-3EC5-70F4E9E63F56}"/>
                </a:ext>
              </a:extLst>
            </p:cNvPr>
            <p:cNvSpPr/>
            <p:nvPr/>
          </p:nvSpPr>
          <p:spPr>
            <a:xfrm>
              <a:off x="7351494" y="5880100"/>
              <a:ext cx="2849860" cy="1695450"/>
            </a:xfrm>
            <a:custGeom>
              <a:avLst/>
              <a:gdLst/>
              <a:ahLst/>
              <a:cxnLst/>
              <a:rect l="l" t="t" r="r" b="b"/>
              <a:pathLst>
                <a:path w="2849860" h="169545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1695450"/>
                  </a:lnTo>
                  <a:lnTo>
                    <a:pt x="0" y="169545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>
                <a:latin typeface="나눔스퀘어 네오 Heavy" pitchFamily="2" charset="0"/>
              </a:endParaRPr>
            </a:p>
          </p:txBody>
        </p:sp>
        <p:sp>
          <p:nvSpPr>
            <p:cNvPr id="13" name="Text 17">
              <a:extLst>
                <a:ext uri="{FF2B5EF4-FFF2-40B4-BE49-F238E27FC236}">
                  <a16:creationId xmlns:a16="http://schemas.microsoft.com/office/drawing/2014/main" id="{71460A37-66CA-4FB2-81E5-0BB616F1D360}"/>
                </a:ext>
              </a:extLst>
            </p:cNvPr>
            <p:cNvSpPr/>
            <p:nvPr/>
          </p:nvSpPr>
          <p:spPr>
            <a:xfrm>
              <a:off x="7351494" y="7715250"/>
              <a:ext cx="2849860" cy="6223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실행계획까지 적음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14" name="Text 18">
              <a:extLst>
                <a:ext uri="{FF2B5EF4-FFF2-40B4-BE49-F238E27FC236}">
                  <a16:creationId xmlns:a16="http://schemas.microsoft.com/office/drawing/2014/main" id="{C21D3163-DCBD-D7F1-4500-7EB350656FDF}"/>
                </a:ext>
              </a:extLst>
            </p:cNvPr>
            <p:cNvSpPr/>
            <p:nvPr/>
          </p:nvSpPr>
          <p:spPr>
            <a:xfrm>
              <a:off x="11191602" y="4503203"/>
              <a:ext cx="1555162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6.41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15" name="Shape 19">
              <a:extLst>
                <a:ext uri="{FF2B5EF4-FFF2-40B4-BE49-F238E27FC236}">
                  <a16:creationId xmlns:a16="http://schemas.microsoft.com/office/drawing/2014/main" id="{3F8BC8F0-17F5-9933-5B8C-6CF10844C116}"/>
                </a:ext>
              </a:extLst>
            </p:cNvPr>
            <p:cNvSpPr/>
            <p:nvPr/>
          </p:nvSpPr>
          <p:spPr>
            <a:xfrm>
              <a:off x="10544254" y="5441950"/>
              <a:ext cx="2849860" cy="2133600"/>
            </a:xfrm>
            <a:custGeom>
              <a:avLst/>
              <a:gdLst/>
              <a:ahLst/>
              <a:cxnLst/>
              <a:rect l="l" t="t" r="r" b="b"/>
              <a:pathLst>
                <a:path w="2849860" h="213360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2133600"/>
                  </a:lnTo>
                  <a:lnTo>
                    <a:pt x="0" y="213360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 spc="-100">
                <a:latin typeface="나눔스퀘어 네오 Heavy" pitchFamily="2" charset="0"/>
              </a:endParaRPr>
            </a:p>
          </p:txBody>
        </p:sp>
        <p:sp>
          <p:nvSpPr>
            <p:cNvPr id="16" name="Text 20">
              <a:extLst>
                <a:ext uri="{FF2B5EF4-FFF2-40B4-BE49-F238E27FC236}">
                  <a16:creationId xmlns:a16="http://schemas.microsoft.com/office/drawing/2014/main" id="{C74363ED-9EE3-DCB5-F63F-A136D4D01A6A}"/>
                </a:ext>
              </a:extLst>
            </p:cNvPr>
            <p:cNvSpPr/>
            <p:nvPr/>
          </p:nvSpPr>
          <p:spPr>
            <a:xfrm>
              <a:off x="11124148" y="7727950"/>
              <a:ext cx="1773315" cy="6223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지인에게 약속함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DD8A6EFB-2805-940D-6DCB-69B35F3B5D89}"/>
                </a:ext>
              </a:extLst>
            </p:cNvPr>
            <p:cNvGrpSpPr/>
            <p:nvPr/>
          </p:nvGrpSpPr>
          <p:grpSpPr>
            <a:xfrm>
              <a:off x="14138188" y="3846216"/>
              <a:ext cx="2123707" cy="1144507"/>
              <a:chOff x="14722949" y="3815220"/>
              <a:chExt cx="2123707" cy="1144507"/>
            </a:xfrm>
          </p:grpSpPr>
          <p:sp>
            <p:nvSpPr>
              <p:cNvPr id="20" name="Shape 21">
                <a:extLst>
                  <a:ext uri="{FF2B5EF4-FFF2-40B4-BE49-F238E27FC236}">
                    <a16:creationId xmlns:a16="http://schemas.microsoft.com/office/drawing/2014/main" id="{6EE82D1D-DBBF-F9D1-16F3-5B0E431CA065}"/>
                  </a:ext>
                </a:extLst>
              </p:cNvPr>
              <p:cNvSpPr/>
              <p:nvPr/>
            </p:nvSpPr>
            <p:spPr>
              <a:xfrm>
                <a:off x="14722949" y="3815220"/>
                <a:ext cx="2123707" cy="1144507"/>
              </a:xfrm>
              <a:prstGeom prst="roundRect">
                <a:avLst>
                  <a:gd name="adj" fmla="val 17647"/>
                </a:avLst>
              </a:prstGeom>
              <a:solidFill>
                <a:srgbClr val="ED8B1F"/>
              </a:solidFill>
              <a:ln/>
            </p:spPr>
            <p:txBody>
              <a:bodyPr/>
              <a:lstStyle/>
              <a:p>
                <a:endParaRPr lang="ko-KR" altLang="en-US" spc="-100">
                  <a:latin typeface="나눔스퀘어 네오 Heavy" pitchFamily="2" charset="0"/>
                </a:endParaRPr>
              </a:p>
            </p:txBody>
          </p:sp>
          <p:sp>
            <p:nvSpPr>
              <p:cNvPr id="21" name="Text 22">
                <a:extLst>
                  <a:ext uri="{FF2B5EF4-FFF2-40B4-BE49-F238E27FC236}">
                    <a16:creationId xmlns:a16="http://schemas.microsoft.com/office/drawing/2014/main" id="{8FB31A42-F2AD-F895-F144-E63175C434CB}"/>
                  </a:ext>
                </a:extLst>
              </p:cNvPr>
              <p:cNvSpPr/>
              <p:nvPr/>
            </p:nvSpPr>
            <p:spPr>
              <a:xfrm>
                <a:off x="14953344" y="3890429"/>
                <a:ext cx="1662919" cy="1043521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rmAutofit fontScale="92500"/>
              </a:bodyPr>
              <a:lstStyle/>
              <a:p>
                <a:pPr marL="0" indent="0" algn="ctr">
                  <a:buNone/>
                </a:pPr>
                <a:r>
                  <a:rPr lang="en-US" sz="4800" b="1" spc="-100" dirty="0">
                    <a:solidFill>
                      <a:srgbClr val="FFFFFF"/>
                    </a:solidFill>
                    <a:latin typeface="나눔스퀘어 네오 Heavy" pitchFamily="2" charset="0"/>
                    <a:cs typeface="나눔스퀘어 네오 Heavy" pitchFamily="34" charset="-120"/>
                  </a:rPr>
                  <a:t>7.60</a:t>
                </a:r>
                <a:endParaRPr lang="en-US" sz="4800" spc="-100" dirty="0">
                  <a:latin typeface="나눔스퀘어 네오 Heavy" pitchFamily="2" charset="0"/>
                </a:endParaRPr>
              </a:p>
            </p:txBody>
          </p:sp>
        </p:grpSp>
        <p:sp>
          <p:nvSpPr>
            <p:cNvPr id="18" name="Shape 23">
              <a:extLst>
                <a:ext uri="{FF2B5EF4-FFF2-40B4-BE49-F238E27FC236}">
                  <a16:creationId xmlns:a16="http://schemas.microsoft.com/office/drawing/2014/main" id="{B56E5963-84B9-E180-F2C5-AA48186B1F4A}"/>
                </a:ext>
              </a:extLst>
            </p:cNvPr>
            <p:cNvSpPr/>
            <p:nvPr/>
          </p:nvSpPr>
          <p:spPr>
            <a:xfrm>
              <a:off x="13737014" y="5016500"/>
              <a:ext cx="2849860" cy="2533650"/>
            </a:xfrm>
            <a:custGeom>
              <a:avLst/>
              <a:gdLst/>
              <a:ahLst/>
              <a:cxnLst/>
              <a:rect l="l" t="t" r="r" b="b"/>
              <a:pathLst>
                <a:path w="2849860" h="253365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2533650"/>
                  </a:lnTo>
                  <a:lnTo>
                    <a:pt x="0" y="253365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 spc="-100">
                <a:latin typeface="나눔스퀘어 네오 Heavy" pitchFamily="2" charset="0"/>
              </a:endParaRPr>
            </a:p>
          </p:txBody>
        </p:sp>
        <p:sp>
          <p:nvSpPr>
            <p:cNvPr id="19" name="Text 24">
              <a:extLst>
                <a:ext uri="{FF2B5EF4-FFF2-40B4-BE49-F238E27FC236}">
                  <a16:creationId xmlns:a16="http://schemas.microsoft.com/office/drawing/2014/main" id="{85C64089-1AC3-4390-0B9B-3FC03CCC43E1}"/>
                </a:ext>
              </a:extLst>
            </p:cNvPr>
            <p:cNvSpPr/>
            <p:nvPr/>
          </p:nvSpPr>
          <p:spPr>
            <a:xfrm>
              <a:off x="13737014" y="7715250"/>
              <a:ext cx="2849860" cy="6477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진행상황을</a:t>
              </a: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 </a:t>
              </a:r>
              <a:b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</a:b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공유함</a:t>
              </a:r>
              <a:endParaRPr lang="en-US" sz="3200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5145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86FE5A-20FE-3CD2-622C-D3AC06B82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6A3942-6EDD-25C5-572D-77A32A0149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1154" y="251687"/>
            <a:ext cx="16955682" cy="229558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1CBB33-427F-EDD9-C84B-F44958154C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8754" y="2992582"/>
            <a:ext cx="17230492" cy="68204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69FE6102-3A81-5AE3-A3FB-8EA920951E5E}"/>
              </a:ext>
            </a:extLst>
          </p:cNvPr>
          <p:cNvSpPr/>
          <p:nvPr/>
        </p:nvSpPr>
        <p:spPr>
          <a:xfrm>
            <a:off x="5375479" y="473927"/>
            <a:ext cx="7567032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기획 배경</a:t>
            </a:r>
            <a:endParaRPr lang="en-US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5CE5F4DE-DF74-6304-F0BA-4CD48FC76BBD}"/>
              </a:ext>
            </a:extLst>
          </p:cNvPr>
          <p:cNvSpPr/>
          <p:nvPr/>
        </p:nvSpPr>
        <p:spPr>
          <a:xfrm>
            <a:off x="3052762" y="1149150"/>
            <a:ext cx="12182475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수행 방법에 따른 목표 수행 지표</a:t>
            </a:r>
            <a:endParaRPr lang="en-US" altLang="ko-KR" sz="6600" b="1" spc="-100" dirty="0">
              <a:solidFill>
                <a:schemeClr val="tx1">
                  <a:lumMod val="95000"/>
                  <a:lumOff val="5000"/>
                </a:schemeClr>
              </a:solidFill>
              <a:latin typeface="나눔스퀘어 네오 Heavy" pitchFamily="2" charset="0"/>
              <a:ea typeface="나눔스퀘어 네오 Heavy" panose="020B0A02040204020203" pitchFamily="34" charset="0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D0055925-E7F1-71F0-6461-33CB2855BC72}"/>
              </a:ext>
            </a:extLst>
          </p:cNvPr>
          <p:cNvSpPr/>
          <p:nvPr/>
        </p:nvSpPr>
        <p:spPr>
          <a:xfrm>
            <a:off x="5972318" y="9356459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출처: Gail Matthew – Goal Research Summary</a:t>
            </a:r>
            <a:endParaRPr lang="en-US" sz="1800" spc="-100" dirty="0">
              <a:latin typeface="나눔스퀘어 네오 Heavy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A7D2BF0-645C-090D-BDEA-2B2C75CEE715}"/>
              </a:ext>
            </a:extLst>
          </p:cNvPr>
          <p:cNvGrpSpPr/>
          <p:nvPr/>
        </p:nvGrpSpPr>
        <p:grpSpPr>
          <a:xfrm>
            <a:off x="1039408" y="3740278"/>
            <a:ext cx="16664246" cy="1900968"/>
            <a:chOff x="916961" y="4969787"/>
            <a:chExt cx="16664246" cy="1900968"/>
          </a:xfrm>
        </p:grpSpPr>
        <p:sp>
          <p:nvSpPr>
            <p:cNvPr id="23" name="Text 12">
              <a:extLst>
                <a:ext uri="{FF2B5EF4-FFF2-40B4-BE49-F238E27FC236}">
                  <a16:creationId xmlns:a16="http://schemas.microsoft.com/office/drawing/2014/main" id="{92022891-7AF0-6519-BF57-45CCBC6E6FE5}"/>
                </a:ext>
              </a:extLst>
            </p:cNvPr>
            <p:cNvSpPr/>
            <p:nvPr/>
          </p:nvSpPr>
          <p:spPr>
            <a:xfrm>
              <a:off x="4721221" y="4969787"/>
              <a:ext cx="1480438" cy="78932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6.08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24" name="Text 14">
              <a:extLst>
                <a:ext uri="{FF2B5EF4-FFF2-40B4-BE49-F238E27FC236}">
                  <a16:creationId xmlns:a16="http://schemas.microsoft.com/office/drawing/2014/main" id="{44F7436D-7909-86E8-6519-34779A349286}"/>
                </a:ext>
              </a:extLst>
            </p:cNvPr>
            <p:cNvSpPr/>
            <p:nvPr/>
          </p:nvSpPr>
          <p:spPr>
            <a:xfrm>
              <a:off x="939093" y="5170535"/>
              <a:ext cx="2501900" cy="47071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목표를</a:t>
              </a: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 </a:t>
              </a: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적음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25" name="Text 15">
              <a:extLst>
                <a:ext uri="{FF2B5EF4-FFF2-40B4-BE49-F238E27FC236}">
                  <a16:creationId xmlns:a16="http://schemas.microsoft.com/office/drawing/2014/main" id="{9B9B42BA-6416-DC43-8905-C9DF4CD51120}"/>
                </a:ext>
              </a:extLst>
            </p:cNvPr>
            <p:cNvSpPr/>
            <p:nvPr/>
          </p:nvSpPr>
          <p:spPr>
            <a:xfrm>
              <a:off x="4699089" y="6081429"/>
              <a:ext cx="1480438" cy="78932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5.08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26" name="Text 17">
              <a:extLst>
                <a:ext uri="{FF2B5EF4-FFF2-40B4-BE49-F238E27FC236}">
                  <a16:creationId xmlns:a16="http://schemas.microsoft.com/office/drawing/2014/main" id="{C9B7AECC-1447-3B3B-74C5-29CCCF898A65}"/>
                </a:ext>
              </a:extLst>
            </p:cNvPr>
            <p:cNvSpPr/>
            <p:nvPr/>
          </p:nvSpPr>
          <p:spPr>
            <a:xfrm>
              <a:off x="916961" y="6241721"/>
              <a:ext cx="3637243" cy="47071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실행계획까지 적음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27" name="화살표: 오른쪽 26">
              <a:extLst>
                <a:ext uri="{FF2B5EF4-FFF2-40B4-BE49-F238E27FC236}">
                  <a16:creationId xmlns:a16="http://schemas.microsoft.com/office/drawing/2014/main" id="{F21A06BC-D040-5FE7-33C3-B362ADCB90AF}"/>
                </a:ext>
              </a:extLst>
            </p:cNvPr>
            <p:cNvSpPr/>
            <p:nvPr/>
          </p:nvSpPr>
          <p:spPr>
            <a:xfrm>
              <a:off x="6802582" y="5170535"/>
              <a:ext cx="1480438" cy="47071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pc="-100"/>
            </a:p>
          </p:txBody>
        </p:sp>
        <p:sp>
          <p:nvSpPr>
            <p:cNvPr id="28" name="화살표: 오른쪽 27">
              <a:extLst>
                <a:ext uri="{FF2B5EF4-FFF2-40B4-BE49-F238E27FC236}">
                  <a16:creationId xmlns:a16="http://schemas.microsoft.com/office/drawing/2014/main" id="{EA2EB31E-7EC5-621C-A327-6661576E31E3}"/>
                </a:ext>
              </a:extLst>
            </p:cNvPr>
            <p:cNvSpPr/>
            <p:nvPr/>
          </p:nvSpPr>
          <p:spPr>
            <a:xfrm>
              <a:off x="6802582" y="6241721"/>
              <a:ext cx="1480438" cy="47071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pc="-100"/>
            </a:p>
          </p:txBody>
        </p:sp>
        <p:sp>
          <p:nvSpPr>
            <p:cNvPr id="29" name="Text 14">
              <a:extLst>
                <a:ext uri="{FF2B5EF4-FFF2-40B4-BE49-F238E27FC236}">
                  <a16:creationId xmlns:a16="http://schemas.microsoft.com/office/drawing/2014/main" id="{6AC63A54-2063-EA3C-24FC-342E7CD1D918}"/>
                </a:ext>
              </a:extLst>
            </p:cNvPr>
            <p:cNvSpPr/>
            <p:nvPr/>
          </p:nvSpPr>
          <p:spPr>
            <a:xfrm>
              <a:off x="8725642" y="5641246"/>
              <a:ext cx="8855565" cy="6004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>
                <a:buNone/>
              </a:pPr>
              <a:r>
                <a:rPr lang="en-US" altLang="ko-KR" sz="36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</a:rPr>
                <a:t>81</a:t>
              </a:r>
              <a:r>
                <a:rPr lang="ko-KR" altLang="en-US" sz="36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</a:rPr>
                <a:t>칸 그리드</a:t>
              </a:r>
              <a:r>
                <a:rPr lang="en-US" altLang="ko-KR" sz="36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</a:rPr>
                <a:t>, </a:t>
              </a:r>
              <a:r>
                <a:rPr lang="ko-KR" altLang="en-US" sz="36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</a:rPr>
                <a:t>목표를 </a:t>
              </a:r>
              <a:r>
                <a:rPr lang="ko-KR" altLang="en-US" sz="36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</a:rPr>
                <a:t>잘개</a:t>
              </a:r>
              <a:r>
                <a:rPr lang="ko-KR" altLang="en-US" sz="36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</a:rPr>
                <a:t> 쪼갠 실행계획</a:t>
              </a:r>
              <a:endParaRPr lang="en-US" altLang="ko-KR" sz="3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63FD7CB-0502-7941-6B67-518D93688FE4}"/>
              </a:ext>
            </a:extLst>
          </p:cNvPr>
          <p:cNvGrpSpPr/>
          <p:nvPr/>
        </p:nvGrpSpPr>
        <p:grpSpPr>
          <a:xfrm>
            <a:off x="822483" y="6350688"/>
            <a:ext cx="13685530" cy="1934585"/>
            <a:chOff x="706707" y="4984193"/>
            <a:chExt cx="13685530" cy="1934585"/>
          </a:xfrm>
        </p:grpSpPr>
        <p:sp>
          <p:nvSpPr>
            <p:cNvPr id="31" name="Text 18">
              <a:extLst>
                <a:ext uri="{FF2B5EF4-FFF2-40B4-BE49-F238E27FC236}">
                  <a16:creationId xmlns:a16="http://schemas.microsoft.com/office/drawing/2014/main" id="{871A7FC4-B5E1-FA5E-655B-372F4CD21B8B}"/>
                </a:ext>
              </a:extLst>
            </p:cNvPr>
            <p:cNvSpPr/>
            <p:nvPr/>
          </p:nvSpPr>
          <p:spPr>
            <a:xfrm>
              <a:off x="4721221" y="4984193"/>
              <a:ext cx="1355935" cy="78932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rgbClr val="2B2B2B"/>
                  </a:solidFill>
                  <a:latin typeface="나눔스퀘어 네오 Heavy" pitchFamily="2" charset="0"/>
                  <a:cs typeface="나눔스퀘어 네오 Heavy" pitchFamily="34" charset="-120"/>
                </a:rPr>
                <a:t>6.41</a:t>
              </a:r>
              <a:endParaRPr lang="en-US" sz="4800" spc="-100" dirty="0">
                <a:latin typeface="나눔스퀘어 네오 Heavy" pitchFamily="2" charset="0"/>
              </a:endParaRPr>
            </a:p>
          </p:txBody>
        </p:sp>
        <p:sp>
          <p:nvSpPr>
            <p:cNvPr id="32" name="Text 20">
              <a:extLst>
                <a:ext uri="{FF2B5EF4-FFF2-40B4-BE49-F238E27FC236}">
                  <a16:creationId xmlns:a16="http://schemas.microsoft.com/office/drawing/2014/main" id="{B5A97048-A622-A2D2-F8A6-D123CB4C62D3}"/>
                </a:ext>
              </a:extLst>
            </p:cNvPr>
            <p:cNvSpPr/>
            <p:nvPr/>
          </p:nvSpPr>
          <p:spPr>
            <a:xfrm>
              <a:off x="939093" y="5143501"/>
              <a:ext cx="3261996" cy="47071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지인에게 약속함</a:t>
              </a:r>
              <a:endParaRPr lang="en-US" sz="32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33" name="Text 22">
              <a:extLst>
                <a:ext uri="{FF2B5EF4-FFF2-40B4-BE49-F238E27FC236}">
                  <a16:creationId xmlns:a16="http://schemas.microsoft.com/office/drawing/2014/main" id="{7F5A879E-4789-A9E4-A861-A697415AAE7B}"/>
                </a:ext>
              </a:extLst>
            </p:cNvPr>
            <p:cNvSpPr/>
            <p:nvPr/>
          </p:nvSpPr>
          <p:spPr>
            <a:xfrm>
              <a:off x="4714365" y="6129452"/>
              <a:ext cx="1449887" cy="78932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48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7.60</a:t>
              </a:r>
              <a:endParaRPr lang="en-US" sz="4800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34" name="Text 24">
              <a:extLst>
                <a:ext uri="{FF2B5EF4-FFF2-40B4-BE49-F238E27FC236}">
                  <a16:creationId xmlns:a16="http://schemas.microsoft.com/office/drawing/2014/main" id="{CEFE982C-7F28-D535-B3AC-88C22629485C}"/>
                </a:ext>
              </a:extLst>
            </p:cNvPr>
            <p:cNvSpPr/>
            <p:nvPr/>
          </p:nvSpPr>
          <p:spPr>
            <a:xfrm>
              <a:off x="706707" y="6279153"/>
              <a:ext cx="4007658" cy="489924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진행상황을</a:t>
              </a:r>
              <a:r>
                <a:rPr lang="en-US" sz="32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 </a:t>
              </a:r>
              <a:r>
                <a:rPr lang="en-US" sz="3200" b="1" spc="-1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공유함</a:t>
              </a:r>
              <a:endParaRPr lang="en-US" sz="3200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  <p:sp>
          <p:nvSpPr>
            <p:cNvPr id="36" name="화살표: 오른쪽 35">
              <a:extLst>
                <a:ext uri="{FF2B5EF4-FFF2-40B4-BE49-F238E27FC236}">
                  <a16:creationId xmlns:a16="http://schemas.microsoft.com/office/drawing/2014/main" id="{64BF31C2-1F99-8240-3B02-BF99184AEF81}"/>
                </a:ext>
              </a:extLst>
            </p:cNvPr>
            <p:cNvSpPr/>
            <p:nvPr/>
          </p:nvSpPr>
          <p:spPr>
            <a:xfrm>
              <a:off x="6802582" y="5143500"/>
              <a:ext cx="1480438" cy="47071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pc="-100"/>
            </a:p>
          </p:txBody>
        </p:sp>
        <p:sp>
          <p:nvSpPr>
            <p:cNvPr id="38" name="화살표: 오른쪽 37">
              <a:extLst>
                <a:ext uri="{FF2B5EF4-FFF2-40B4-BE49-F238E27FC236}">
                  <a16:creationId xmlns:a16="http://schemas.microsoft.com/office/drawing/2014/main" id="{43DDF7DC-1907-6429-781B-7D743540F766}"/>
                </a:ext>
              </a:extLst>
            </p:cNvPr>
            <p:cNvSpPr/>
            <p:nvPr/>
          </p:nvSpPr>
          <p:spPr>
            <a:xfrm>
              <a:off x="6802582" y="6288759"/>
              <a:ext cx="1480438" cy="47071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pc="-100"/>
            </a:p>
          </p:txBody>
        </p:sp>
        <p:sp>
          <p:nvSpPr>
            <p:cNvPr id="39" name="Text 20">
              <a:extLst>
                <a:ext uri="{FF2B5EF4-FFF2-40B4-BE49-F238E27FC236}">
                  <a16:creationId xmlns:a16="http://schemas.microsoft.com/office/drawing/2014/main" id="{2CD5BA95-E43C-3DCF-8AB2-9CF1DBA2AC04}"/>
                </a:ext>
              </a:extLst>
            </p:cNvPr>
            <p:cNvSpPr/>
            <p:nvPr/>
          </p:nvSpPr>
          <p:spPr>
            <a:xfrm>
              <a:off x="8722023" y="5614211"/>
              <a:ext cx="5670214" cy="114525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4800" b="1" spc="-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나눔스퀘어 네오 Heavy" pitchFamily="2" charset="0"/>
                  <a:cs typeface="나눔스퀘어 네오 Heavy" pitchFamily="34" charset="-120"/>
                </a:rPr>
                <a:t>협업 및 공유 기능</a:t>
              </a:r>
              <a:endParaRPr lang="en-US" sz="48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5230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4446D1-F621-E7F0-753F-09E7C948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A9FB686-A13C-EA83-EAB9-9BD58B518B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1154" y="251687"/>
            <a:ext cx="16955682" cy="229558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6F70DA96-346B-1277-FD04-4DF089581BC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8288000" y="-2156659"/>
              <a:ext cx="15279612" cy="14600318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5279612" cy="14600318"/>
                    </a:xfrm>
                    <a:prstGeom prst="rect">
                      <a:avLst/>
                    </a:prstGeom>
                  </am3d:spPr>
                  <am3d:camera>
                    <am3d:pos x="0" y="0" z="813787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33" d="1000000"/>
                    <am3d:preTrans dx="0" dy="-1542000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25340" ay="2486100" az="215663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10731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6F70DA96-346B-1277-FD04-4DF089581B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288000" y="-2156659"/>
                <a:ext cx="15279612" cy="14600318"/>
              </a:xfrm>
              <a:prstGeom prst="rect">
                <a:avLst/>
              </a:prstGeom>
            </p:spPr>
          </p:pic>
        </mc:Fallback>
      </mc:AlternateContent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409E1D5-224B-EE1C-C344-A3116B3333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8754" y="2992582"/>
            <a:ext cx="17230492" cy="68204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0BCC114-E003-83F0-51BF-01C62B1BE612}"/>
              </a:ext>
            </a:extLst>
          </p:cNvPr>
          <p:cNvSpPr/>
          <p:nvPr/>
        </p:nvSpPr>
        <p:spPr>
          <a:xfrm>
            <a:off x="5644505" y="489929"/>
            <a:ext cx="7567032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기획 배경</a:t>
            </a:r>
            <a:endParaRPr lang="en-US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E3376E5-51A3-6594-2D7F-A6622A5A8430}"/>
              </a:ext>
            </a:extLst>
          </p:cNvPr>
          <p:cNvSpPr/>
          <p:nvPr/>
        </p:nvSpPr>
        <p:spPr>
          <a:xfrm>
            <a:off x="1346865" y="1091529"/>
            <a:ext cx="17132299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ko-KR" altLang="en-US" sz="66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전 세계 </a:t>
            </a:r>
            <a:r>
              <a:rPr lang="en-US" altLang="ko-KR" sz="66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HABIT TRACKING </a:t>
            </a:r>
            <a:r>
              <a:rPr lang="ko-KR" altLang="en-US" sz="66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분야의 성장</a:t>
            </a:r>
            <a:endParaRPr lang="en-US" sz="66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F13A600-97D6-9D90-B795-9B37FC82AEDF}"/>
              </a:ext>
            </a:extLst>
          </p:cNvPr>
          <p:cNvGrpSpPr/>
          <p:nvPr/>
        </p:nvGrpSpPr>
        <p:grpSpPr>
          <a:xfrm>
            <a:off x="2020909" y="6781233"/>
            <a:ext cx="5502544" cy="1181100"/>
            <a:chOff x="1017315" y="3749667"/>
            <a:chExt cx="5502544" cy="1181100"/>
          </a:xfrm>
        </p:grpSpPr>
        <p:sp>
          <p:nvSpPr>
            <p:cNvPr id="7" name="Text 9">
              <a:extLst>
                <a:ext uri="{FF2B5EF4-FFF2-40B4-BE49-F238E27FC236}">
                  <a16:creationId xmlns:a16="http://schemas.microsoft.com/office/drawing/2014/main" id="{33B55CC9-6EE6-492D-E7A5-4D4F2297556C}"/>
                </a:ext>
              </a:extLst>
            </p:cNvPr>
            <p:cNvSpPr/>
            <p:nvPr/>
          </p:nvSpPr>
          <p:spPr>
            <a:xfrm>
              <a:off x="1071559" y="3749667"/>
              <a:ext cx="544830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950" b="1" spc="-100" dirty="0">
                  <a:solidFill>
                    <a:srgbClr val="3A2100"/>
                  </a:solidFill>
                  <a:latin typeface="나눔스퀘어 네오 Heavy"/>
                  <a:cs typeface="나눔스퀘어 네오 Heavy" pitchFamily="34" charset="-120"/>
                </a:rPr>
                <a:t>2026년</a:t>
              </a:r>
              <a:endParaRPr lang="en-US" sz="1950" spc="-100" dirty="0">
                <a:solidFill>
                  <a:srgbClr val="3A2100"/>
                </a:solidFill>
                <a:latin typeface="나눔스퀘어 네오 Heavy"/>
              </a:endParaRPr>
            </a:p>
          </p:txBody>
        </p:sp>
        <p:sp>
          <p:nvSpPr>
            <p:cNvPr id="8" name="Text 10">
              <a:extLst>
                <a:ext uri="{FF2B5EF4-FFF2-40B4-BE49-F238E27FC236}">
                  <a16:creationId xmlns:a16="http://schemas.microsoft.com/office/drawing/2014/main" id="{992B8B47-DD7D-07CD-524E-D33FD73719FE}"/>
                </a:ext>
              </a:extLst>
            </p:cNvPr>
            <p:cNvSpPr/>
            <p:nvPr/>
          </p:nvSpPr>
          <p:spPr>
            <a:xfrm>
              <a:off x="1017315" y="4111617"/>
              <a:ext cx="5448300" cy="8191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3900" b="1" spc="-100" dirty="0">
                  <a:solidFill>
                    <a:srgbClr val="3A2100"/>
                  </a:solidFill>
                  <a:latin typeface="나눔스퀘어 네오 Heavy"/>
                  <a:cs typeface="나눔스퀘어 네오 Heavy" pitchFamily="34" charset="-120"/>
                </a:rPr>
                <a:t>약 149.5억 달러</a:t>
              </a:r>
              <a:endParaRPr lang="en-US" sz="3900" spc="-100" dirty="0">
                <a:solidFill>
                  <a:srgbClr val="3A2100"/>
                </a:solidFill>
                <a:latin typeface="나눔스퀘어 네오 Heavy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64CD290-2AE3-B318-29AF-2DD882125E18}"/>
              </a:ext>
            </a:extLst>
          </p:cNvPr>
          <p:cNvGrpSpPr/>
          <p:nvPr/>
        </p:nvGrpSpPr>
        <p:grpSpPr>
          <a:xfrm>
            <a:off x="10663154" y="3455083"/>
            <a:ext cx="6443216" cy="1495960"/>
            <a:chOff x="1017315" y="5233576"/>
            <a:chExt cx="6443216" cy="1495960"/>
          </a:xfrm>
        </p:grpSpPr>
        <p:sp>
          <p:nvSpPr>
            <p:cNvPr id="11" name="Text 11">
              <a:extLst>
                <a:ext uri="{FF2B5EF4-FFF2-40B4-BE49-F238E27FC236}">
                  <a16:creationId xmlns:a16="http://schemas.microsoft.com/office/drawing/2014/main" id="{872CAB0C-AFE9-DF7A-6056-97D083E68591}"/>
                </a:ext>
              </a:extLst>
            </p:cNvPr>
            <p:cNvSpPr/>
            <p:nvPr/>
          </p:nvSpPr>
          <p:spPr>
            <a:xfrm>
              <a:off x="1071559" y="5233576"/>
              <a:ext cx="544830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spc="-100" dirty="0">
                  <a:solidFill>
                    <a:srgbClr val="ED8B1F"/>
                  </a:solidFill>
                  <a:latin typeface="나눔스퀘어 네오 Heavy"/>
                  <a:cs typeface="나눔스퀘어 네오 Heavy" pitchFamily="34" charset="-120"/>
                </a:rPr>
                <a:t>2035년</a:t>
              </a:r>
              <a:endParaRPr lang="en-US" sz="3600" spc="-100" dirty="0">
                <a:latin typeface="나눔스퀘어 네오 Heavy"/>
              </a:endParaRPr>
            </a:p>
          </p:txBody>
        </p:sp>
        <p:sp>
          <p:nvSpPr>
            <p:cNvPr id="12" name="Text 12">
              <a:extLst>
                <a:ext uri="{FF2B5EF4-FFF2-40B4-BE49-F238E27FC236}">
                  <a16:creationId xmlns:a16="http://schemas.microsoft.com/office/drawing/2014/main" id="{C59CA5AE-EC33-BDFA-257A-C7BA8B554609}"/>
                </a:ext>
              </a:extLst>
            </p:cNvPr>
            <p:cNvSpPr/>
            <p:nvPr/>
          </p:nvSpPr>
          <p:spPr>
            <a:xfrm>
              <a:off x="1017315" y="5719886"/>
              <a:ext cx="6443216" cy="10096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6600" b="1" spc="-100" dirty="0">
                  <a:solidFill>
                    <a:srgbClr val="ED8B1F"/>
                  </a:solidFill>
                  <a:latin typeface="나눔스퀘어 네오 Heavy"/>
                  <a:cs typeface="나눔스퀘어 네오 Heavy" pitchFamily="34" charset="-120"/>
                </a:rPr>
                <a:t>약 502.2억 달러</a:t>
              </a:r>
              <a:endParaRPr lang="en-US" sz="6600" spc="-100" dirty="0">
                <a:latin typeface="나눔스퀘어 네오 Heavy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24C29EBD-C934-26BF-F2EA-4E31EE0B4DDA}"/>
              </a:ext>
            </a:extLst>
          </p:cNvPr>
          <p:cNvGrpSpPr/>
          <p:nvPr/>
        </p:nvGrpSpPr>
        <p:grpSpPr>
          <a:xfrm>
            <a:off x="3368732" y="5011971"/>
            <a:ext cx="11004327" cy="4331639"/>
            <a:chOff x="6667500" y="2006600"/>
            <a:chExt cx="10668000" cy="5889625"/>
          </a:xfrm>
        </p:grpSpPr>
        <p:sp>
          <p:nvSpPr>
            <p:cNvPr id="14" name="Shape 14">
              <a:extLst>
                <a:ext uri="{FF2B5EF4-FFF2-40B4-BE49-F238E27FC236}">
                  <a16:creationId xmlns:a16="http://schemas.microsoft.com/office/drawing/2014/main" id="{51876352-86CA-9B4E-0410-7E539106F21E}"/>
                </a:ext>
              </a:extLst>
            </p:cNvPr>
            <p:cNvSpPr/>
            <p:nvPr/>
          </p:nvSpPr>
          <p:spPr>
            <a:xfrm>
              <a:off x="6667500" y="6084887"/>
              <a:ext cx="946745" cy="1428750"/>
            </a:xfrm>
            <a:custGeom>
              <a:avLst/>
              <a:gdLst/>
              <a:ahLst/>
              <a:cxnLst/>
              <a:rect l="l" t="t" r="r" b="b"/>
              <a:pathLst>
                <a:path w="946745" h="95250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952500"/>
                  </a:lnTo>
                  <a:lnTo>
                    <a:pt x="0" y="952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15" name="Text 15">
              <a:extLst>
                <a:ext uri="{FF2B5EF4-FFF2-40B4-BE49-F238E27FC236}">
                  <a16:creationId xmlns:a16="http://schemas.microsoft.com/office/drawing/2014/main" id="{97F2D764-A94D-398C-8F63-F9E53BEE0C51}"/>
                </a:ext>
              </a:extLst>
            </p:cNvPr>
            <p:cNvSpPr/>
            <p:nvPr/>
          </p:nvSpPr>
          <p:spPr>
            <a:xfrm>
              <a:off x="6973392" y="7566025"/>
              <a:ext cx="411163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'26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16" name="Shape 16">
              <a:extLst>
                <a:ext uri="{FF2B5EF4-FFF2-40B4-BE49-F238E27FC236}">
                  <a16:creationId xmlns:a16="http://schemas.microsoft.com/office/drawing/2014/main" id="{156955B5-DAC7-5A4D-CB5B-451B9A6C8394}"/>
                </a:ext>
              </a:extLst>
            </p:cNvPr>
            <p:cNvSpPr/>
            <p:nvPr/>
          </p:nvSpPr>
          <p:spPr>
            <a:xfrm>
              <a:off x="7747596" y="5850610"/>
              <a:ext cx="946845" cy="1639216"/>
            </a:xfrm>
            <a:custGeom>
              <a:avLst/>
              <a:gdLst/>
              <a:ahLst/>
              <a:cxnLst/>
              <a:rect l="l" t="t" r="r" b="b"/>
              <a:pathLst>
                <a:path w="946845" h="1190625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1190625"/>
                  </a:lnTo>
                  <a:lnTo>
                    <a:pt x="0" y="1190625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17" name="Text 17">
              <a:extLst>
                <a:ext uri="{FF2B5EF4-FFF2-40B4-BE49-F238E27FC236}">
                  <a16:creationId xmlns:a16="http://schemas.microsoft.com/office/drawing/2014/main" id="{2089C436-5326-420F-4B50-D75A061D09E5}"/>
                </a:ext>
              </a:extLst>
            </p:cNvPr>
            <p:cNvSpPr/>
            <p:nvPr/>
          </p:nvSpPr>
          <p:spPr>
            <a:xfrm>
              <a:off x="8057654" y="7566025"/>
              <a:ext cx="402927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'27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18" name="Shape 18">
              <a:extLst>
                <a:ext uri="{FF2B5EF4-FFF2-40B4-BE49-F238E27FC236}">
                  <a16:creationId xmlns:a16="http://schemas.microsoft.com/office/drawing/2014/main" id="{2C082F9F-EFD5-30D9-D93B-FDF2DB855475}"/>
                </a:ext>
              </a:extLst>
            </p:cNvPr>
            <p:cNvSpPr/>
            <p:nvPr/>
          </p:nvSpPr>
          <p:spPr>
            <a:xfrm>
              <a:off x="8827790" y="5556142"/>
              <a:ext cx="946745" cy="1933683"/>
            </a:xfrm>
            <a:custGeom>
              <a:avLst/>
              <a:gdLst/>
              <a:ahLst/>
              <a:cxnLst/>
              <a:rect l="l" t="t" r="r" b="b"/>
              <a:pathLst>
                <a:path w="946745" h="142875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1428750"/>
                  </a:lnTo>
                  <a:lnTo>
                    <a:pt x="0" y="142875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19" name="Text 19">
              <a:extLst>
                <a:ext uri="{FF2B5EF4-FFF2-40B4-BE49-F238E27FC236}">
                  <a16:creationId xmlns:a16="http://schemas.microsoft.com/office/drawing/2014/main" id="{33770A98-2FC0-4496-9551-7A9CB6B91EC1}"/>
                </a:ext>
              </a:extLst>
            </p:cNvPr>
            <p:cNvSpPr/>
            <p:nvPr/>
          </p:nvSpPr>
          <p:spPr>
            <a:xfrm>
              <a:off x="9132987" y="7566025"/>
              <a:ext cx="412552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'28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20" name="Shape 20">
              <a:extLst>
                <a:ext uri="{FF2B5EF4-FFF2-40B4-BE49-F238E27FC236}">
                  <a16:creationId xmlns:a16="http://schemas.microsoft.com/office/drawing/2014/main" id="{F812E75C-0F86-F5BF-3626-1434C4E6BAB8}"/>
                </a:ext>
              </a:extLst>
            </p:cNvPr>
            <p:cNvSpPr/>
            <p:nvPr/>
          </p:nvSpPr>
          <p:spPr>
            <a:xfrm>
              <a:off x="9907886" y="5215180"/>
              <a:ext cx="946845" cy="2274645"/>
            </a:xfrm>
            <a:custGeom>
              <a:avLst/>
              <a:gdLst/>
              <a:ahLst/>
              <a:cxnLst/>
              <a:rect l="l" t="t" r="r" b="b"/>
              <a:pathLst>
                <a:path w="946845" h="1619250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1619250"/>
                  </a:lnTo>
                  <a:lnTo>
                    <a:pt x="0" y="161925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BE3C4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21" name="Text 21">
              <a:extLst>
                <a:ext uri="{FF2B5EF4-FFF2-40B4-BE49-F238E27FC236}">
                  <a16:creationId xmlns:a16="http://schemas.microsoft.com/office/drawing/2014/main" id="{91D0C362-AC86-AABC-55B9-E304316C9964}"/>
                </a:ext>
              </a:extLst>
            </p:cNvPr>
            <p:cNvSpPr/>
            <p:nvPr/>
          </p:nvSpPr>
          <p:spPr>
            <a:xfrm>
              <a:off x="10213777" y="7566025"/>
              <a:ext cx="411163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'29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22" name="Shape 22">
              <a:extLst>
                <a:ext uri="{FF2B5EF4-FFF2-40B4-BE49-F238E27FC236}">
                  <a16:creationId xmlns:a16="http://schemas.microsoft.com/office/drawing/2014/main" id="{5217C9CC-6FF5-50CA-BB1D-14A32487E790}"/>
                </a:ext>
              </a:extLst>
            </p:cNvPr>
            <p:cNvSpPr/>
            <p:nvPr/>
          </p:nvSpPr>
          <p:spPr>
            <a:xfrm>
              <a:off x="10988080" y="4914900"/>
              <a:ext cx="946745" cy="2574925"/>
            </a:xfrm>
            <a:custGeom>
              <a:avLst/>
              <a:gdLst/>
              <a:ahLst/>
              <a:cxnLst/>
              <a:rect l="l" t="t" r="r" b="b"/>
              <a:pathLst>
                <a:path w="946745" h="1857375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1857375"/>
                  </a:lnTo>
                  <a:lnTo>
                    <a:pt x="0" y="1857375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BE3C4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23" name="Text 23">
              <a:extLst>
                <a:ext uri="{FF2B5EF4-FFF2-40B4-BE49-F238E27FC236}">
                  <a16:creationId xmlns:a16="http://schemas.microsoft.com/office/drawing/2014/main" id="{24B633EA-1827-F8B1-3382-06648F6D213C}"/>
                </a:ext>
              </a:extLst>
            </p:cNvPr>
            <p:cNvSpPr/>
            <p:nvPr/>
          </p:nvSpPr>
          <p:spPr>
            <a:xfrm>
              <a:off x="11288911" y="7566025"/>
              <a:ext cx="421184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'30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24" name="Shape 24">
              <a:extLst>
                <a:ext uri="{FF2B5EF4-FFF2-40B4-BE49-F238E27FC236}">
                  <a16:creationId xmlns:a16="http://schemas.microsoft.com/office/drawing/2014/main" id="{87B94596-3945-7E28-762A-8BE8E8D7018B}"/>
                </a:ext>
              </a:extLst>
            </p:cNvPr>
            <p:cNvSpPr/>
            <p:nvPr/>
          </p:nvSpPr>
          <p:spPr>
            <a:xfrm>
              <a:off x="12068175" y="4610746"/>
              <a:ext cx="946845" cy="2879079"/>
            </a:xfrm>
            <a:custGeom>
              <a:avLst/>
              <a:gdLst/>
              <a:ahLst/>
              <a:cxnLst/>
              <a:rect l="l" t="t" r="r" b="b"/>
              <a:pathLst>
                <a:path w="946845" h="2095500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2095500"/>
                  </a:lnTo>
                  <a:lnTo>
                    <a:pt x="0" y="2095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25" name="Text 25">
              <a:extLst>
                <a:ext uri="{FF2B5EF4-FFF2-40B4-BE49-F238E27FC236}">
                  <a16:creationId xmlns:a16="http://schemas.microsoft.com/office/drawing/2014/main" id="{51769041-BEA2-8250-FF79-552F2AA7CEA4}"/>
                </a:ext>
              </a:extLst>
            </p:cNvPr>
            <p:cNvSpPr/>
            <p:nvPr/>
          </p:nvSpPr>
          <p:spPr>
            <a:xfrm>
              <a:off x="12397680" y="7566025"/>
              <a:ext cx="364034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'31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26" name="Shape 26">
              <a:extLst>
                <a:ext uri="{FF2B5EF4-FFF2-40B4-BE49-F238E27FC236}">
                  <a16:creationId xmlns:a16="http://schemas.microsoft.com/office/drawing/2014/main" id="{C3BC6CD4-2D57-1A44-28D7-78CA957D10F4}"/>
                </a:ext>
              </a:extLst>
            </p:cNvPr>
            <p:cNvSpPr/>
            <p:nvPr/>
          </p:nvSpPr>
          <p:spPr>
            <a:xfrm>
              <a:off x="13148370" y="4293032"/>
              <a:ext cx="946745" cy="3196794"/>
            </a:xfrm>
            <a:custGeom>
              <a:avLst/>
              <a:gdLst/>
              <a:ahLst/>
              <a:cxnLst/>
              <a:rect l="l" t="t" r="r" b="b"/>
              <a:pathLst>
                <a:path w="946745" h="2333625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2333625"/>
                  </a:lnTo>
                  <a:lnTo>
                    <a:pt x="0" y="2333625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27" name="Text 27">
              <a:extLst>
                <a:ext uri="{FF2B5EF4-FFF2-40B4-BE49-F238E27FC236}">
                  <a16:creationId xmlns:a16="http://schemas.microsoft.com/office/drawing/2014/main" id="{DDC665B2-809E-2109-407E-C86699FC4B71}"/>
                </a:ext>
              </a:extLst>
            </p:cNvPr>
            <p:cNvSpPr/>
            <p:nvPr/>
          </p:nvSpPr>
          <p:spPr>
            <a:xfrm>
              <a:off x="13453467" y="7566025"/>
              <a:ext cx="412750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'32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28" name="Shape 28">
              <a:extLst>
                <a:ext uri="{FF2B5EF4-FFF2-40B4-BE49-F238E27FC236}">
                  <a16:creationId xmlns:a16="http://schemas.microsoft.com/office/drawing/2014/main" id="{5BCEC64F-2D0A-FA72-457B-E058869ACAF9}"/>
                </a:ext>
              </a:extLst>
            </p:cNvPr>
            <p:cNvSpPr/>
            <p:nvPr/>
          </p:nvSpPr>
          <p:spPr>
            <a:xfrm>
              <a:off x="14228465" y="3913322"/>
              <a:ext cx="946845" cy="3576503"/>
            </a:xfrm>
            <a:custGeom>
              <a:avLst/>
              <a:gdLst/>
              <a:ahLst/>
              <a:cxnLst/>
              <a:rect l="l" t="t" r="r" b="b"/>
              <a:pathLst>
                <a:path w="946845" h="2571750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2571750"/>
                  </a:lnTo>
                  <a:lnTo>
                    <a:pt x="0" y="257175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29" name="Text 29">
              <a:extLst>
                <a:ext uri="{FF2B5EF4-FFF2-40B4-BE49-F238E27FC236}">
                  <a16:creationId xmlns:a16="http://schemas.microsoft.com/office/drawing/2014/main" id="{7D4994FC-C362-7459-6C41-106C128A0C3E}"/>
                </a:ext>
              </a:extLst>
            </p:cNvPr>
            <p:cNvSpPr/>
            <p:nvPr/>
          </p:nvSpPr>
          <p:spPr>
            <a:xfrm>
              <a:off x="14533364" y="7566025"/>
              <a:ext cx="413246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'33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30" name="Shape 30">
              <a:extLst>
                <a:ext uri="{FF2B5EF4-FFF2-40B4-BE49-F238E27FC236}">
                  <a16:creationId xmlns:a16="http://schemas.microsoft.com/office/drawing/2014/main" id="{F015AC3D-249B-0AB4-76BC-37D23F6D7ADE}"/>
                </a:ext>
              </a:extLst>
            </p:cNvPr>
            <p:cNvSpPr/>
            <p:nvPr/>
          </p:nvSpPr>
          <p:spPr>
            <a:xfrm>
              <a:off x="15308660" y="3177154"/>
              <a:ext cx="946745" cy="4312672"/>
            </a:xfrm>
            <a:custGeom>
              <a:avLst/>
              <a:gdLst/>
              <a:ahLst/>
              <a:cxnLst/>
              <a:rect l="l" t="t" r="r" b="b"/>
              <a:pathLst>
                <a:path w="946745" h="285750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2857500"/>
                  </a:lnTo>
                  <a:lnTo>
                    <a:pt x="0" y="2857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31" name="Text 31">
              <a:extLst>
                <a:ext uri="{FF2B5EF4-FFF2-40B4-BE49-F238E27FC236}">
                  <a16:creationId xmlns:a16="http://schemas.microsoft.com/office/drawing/2014/main" id="{E4A861D3-F14A-A80A-FE8D-3BCF45A5CBE0}"/>
                </a:ext>
              </a:extLst>
            </p:cNvPr>
            <p:cNvSpPr/>
            <p:nvPr/>
          </p:nvSpPr>
          <p:spPr>
            <a:xfrm>
              <a:off x="15610880" y="7566025"/>
              <a:ext cx="418505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spc="-100" dirty="0">
                  <a:solidFill>
                    <a:srgbClr val="8A8A8A"/>
                  </a:solidFill>
                  <a:latin typeface="나눔스퀘어 네오 Heavy"/>
                  <a:cs typeface="나눔스퀘어 네오 Heavy" pitchFamily="34" charset="-120"/>
                </a:rPr>
                <a:t>'34</a:t>
              </a:r>
              <a:endParaRPr lang="en-US" sz="1800" spc="-100" dirty="0">
                <a:latin typeface="나눔스퀘어 네오 Heavy"/>
              </a:endParaRPr>
            </a:p>
          </p:txBody>
        </p:sp>
        <p:sp>
          <p:nvSpPr>
            <p:cNvPr id="32" name="Shape 32">
              <a:extLst>
                <a:ext uri="{FF2B5EF4-FFF2-40B4-BE49-F238E27FC236}">
                  <a16:creationId xmlns:a16="http://schemas.microsoft.com/office/drawing/2014/main" id="{17718ABB-2F32-4B81-96E4-E6116C4962F7}"/>
                </a:ext>
              </a:extLst>
            </p:cNvPr>
            <p:cNvSpPr/>
            <p:nvPr/>
          </p:nvSpPr>
          <p:spPr>
            <a:xfrm>
              <a:off x="16388755" y="2006600"/>
              <a:ext cx="946745" cy="5470525"/>
            </a:xfrm>
            <a:custGeom>
              <a:avLst/>
              <a:gdLst/>
              <a:ahLst/>
              <a:cxnLst/>
              <a:rect l="l" t="t" r="r" b="b"/>
              <a:pathLst>
                <a:path w="946745" h="323850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3238500"/>
                  </a:lnTo>
                  <a:lnTo>
                    <a:pt x="0" y="3238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33" name="Text 33">
              <a:extLst>
                <a:ext uri="{FF2B5EF4-FFF2-40B4-BE49-F238E27FC236}">
                  <a16:creationId xmlns:a16="http://schemas.microsoft.com/office/drawing/2014/main" id="{5D4ADDE9-93AD-F282-7AF9-29EA7343DCC7}"/>
                </a:ext>
              </a:extLst>
            </p:cNvPr>
            <p:cNvSpPr/>
            <p:nvPr/>
          </p:nvSpPr>
          <p:spPr>
            <a:xfrm>
              <a:off x="16679962" y="7553325"/>
              <a:ext cx="440432" cy="342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18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'35</a:t>
              </a:r>
              <a:endParaRPr lang="en-US" sz="1800" spc="-100" dirty="0">
                <a:latin typeface="나눔스퀘어 네오 Heavy"/>
              </a:endParaRPr>
            </a:p>
          </p:txBody>
        </p:sp>
      </p:grpSp>
      <p:sp>
        <p:nvSpPr>
          <p:cNvPr id="34" name="Text 25">
            <a:extLst>
              <a:ext uri="{FF2B5EF4-FFF2-40B4-BE49-F238E27FC236}">
                <a16:creationId xmlns:a16="http://schemas.microsoft.com/office/drawing/2014/main" id="{00683C10-DF55-F155-4774-BF7AA3D9861A}"/>
              </a:ext>
            </a:extLst>
          </p:cNvPr>
          <p:cNvSpPr/>
          <p:nvPr/>
        </p:nvSpPr>
        <p:spPr>
          <a:xfrm>
            <a:off x="5972318" y="9356459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출처: </a:t>
            </a:r>
            <a:r>
              <a:rPr lang="en-US" altLang="ko-KR" sz="1800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Business Search Insight</a:t>
            </a:r>
            <a:endParaRPr lang="en-US" sz="1800" spc="-100" dirty="0">
              <a:latin typeface="나눔스퀘어 네오 Heavy"/>
            </a:endParaRPr>
          </a:p>
        </p:txBody>
      </p:sp>
    </p:spTree>
    <p:extLst>
      <p:ext uri="{BB962C8B-B14F-4D97-AF65-F5344CB8AC3E}">
        <p14:creationId xmlns:p14="http://schemas.microsoft.com/office/powerpoint/2010/main" val="3067509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F3674-8FCA-46A5-FCDC-D6201FDD0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53049CE-4FA5-9AC3-86D2-741D7DAAEB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1154" y="251687"/>
            <a:ext cx="16955682" cy="229558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5595762-4848-51CC-2010-88F6523FF0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8754" y="2992582"/>
            <a:ext cx="17230492" cy="68204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87CA861-8818-C82E-6AF5-F7DDA59863B6}"/>
              </a:ext>
            </a:extLst>
          </p:cNvPr>
          <p:cNvSpPr/>
          <p:nvPr/>
        </p:nvSpPr>
        <p:spPr>
          <a:xfrm>
            <a:off x="5375479" y="473927"/>
            <a:ext cx="7567032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기획 배경</a:t>
            </a:r>
            <a:endParaRPr lang="en-US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58ACF8B5-2C62-3565-21DA-716109C694EB}"/>
              </a:ext>
            </a:extLst>
          </p:cNvPr>
          <p:cNvSpPr/>
          <p:nvPr/>
        </p:nvSpPr>
        <p:spPr>
          <a:xfrm>
            <a:off x="3052762" y="1149150"/>
            <a:ext cx="12182475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주요 타겟층 선정</a:t>
            </a:r>
            <a:endParaRPr lang="en-US" altLang="ko-KR" sz="6600" b="1" spc="-100" dirty="0">
              <a:solidFill>
                <a:schemeClr val="tx1">
                  <a:lumMod val="95000"/>
                  <a:lumOff val="5000"/>
                </a:schemeClr>
              </a:solidFill>
              <a:latin typeface="나눔스퀘어 네오 Heavy" pitchFamily="2" charset="0"/>
              <a:ea typeface="나눔스퀘어 네오 Heavy" panose="020B0A02040204020203" pitchFamily="34" charset="0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77C79830-976A-4D6D-7D39-720982DB34CA}"/>
              </a:ext>
            </a:extLst>
          </p:cNvPr>
          <p:cNvSpPr/>
          <p:nvPr/>
        </p:nvSpPr>
        <p:spPr>
          <a:xfrm>
            <a:off x="5972318" y="9285381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ko-KR" altLang="en-US" spc="-100" dirty="0" err="1">
                <a:solidFill>
                  <a:srgbClr val="8A8A8A"/>
                </a:solidFill>
                <a:latin typeface="나눔스퀘어 네오 Heavy"/>
              </a:rPr>
              <a:t>오픈서베이</a:t>
            </a:r>
            <a:r>
              <a:rPr lang="ko-KR" altLang="en-US" spc="-100" dirty="0">
                <a:solidFill>
                  <a:srgbClr val="8A8A8A"/>
                </a:solidFill>
                <a:latin typeface="나눔스퀘어 네오 Heavy"/>
              </a:rPr>
              <a:t> 대학 생활 트렌드 리포트 </a:t>
            </a:r>
            <a:r>
              <a:rPr lang="en-US" altLang="ko-KR" spc="-100" dirty="0">
                <a:solidFill>
                  <a:srgbClr val="8A8A8A"/>
                </a:solidFill>
                <a:latin typeface="나눔스퀘어 네오 Heavy"/>
              </a:rPr>
              <a:t>2025, </a:t>
            </a:r>
            <a:r>
              <a:rPr lang="ko-KR" altLang="en-US" spc="-100" dirty="0">
                <a:solidFill>
                  <a:srgbClr val="8A8A8A"/>
                </a:solidFill>
                <a:latin typeface="나눔스퀘어 네오 Heavy"/>
              </a:rPr>
              <a:t>실천한 활동 </a:t>
            </a:r>
            <a:r>
              <a:rPr lang="en-US" altLang="ko-KR" spc="-100" dirty="0">
                <a:solidFill>
                  <a:srgbClr val="8A8A8A"/>
                </a:solidFill>
                <a:latin typeface="나눔스퀘어 네오 Heavy"/>
              </a:rPr>
              <a:t>TOP8</a:t>
            </a:r>
            <a:endParaRPr lang="en-US" altLang="ko-KR" spc="-100" dirty="0">
              <a:latin typeface="나눔스퀘어 네오 Heavy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CC5DB915-836F-B375-F9A3-6EEF1F8EFFC7}"/>
              </a:ext>
            </a:extLst>
          </p:cNvPr>
          <p:cNvSpPr/>
          <p:nvPr/>
        </p:nvSpPr>
        <p:spPr>
          <a:xfrm>
            <a:off x="560535" y="6228630"/>
            <a:ext cx="17151054" cy="13995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15842"/>
              </a:lnSpc>
              <a:buNone/>
            </a:pPr>
            <a:r>
              <a:rPr lang="ko-KR" alt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대학생 </a:t>
            </a:r>
            <a:r>
              <a:rPr 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10</a:t>
            </a:r>
            <a:r>
              <a:rPr lang="ko-KR" alt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명 </a:t>
            </a:r>
            <a:r>
              <a:rPr 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중 6</a:t>
            </a:r>
            <a:r>
              <a:rPr lang="ko-KR" alt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명</a:t>
            </a:r>
            <a:r>
              <a:rPr 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은 </a:t>
            </a:r>
            <a:r>
              <a:rPr lang="en-US" sz="6000" b="1" spc="-100" dirty="0" err="1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갓생을</a:t>
            </a:r>
            <a:r>
              <a:rPr 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 </a:t>
            </a:r>
          </a:p>
          <a:p>
            <a:pPr marL="0" indent="0" algn="ctr">
              <a:lnSpc>
                <a:spcPct val="115842"/>
              </a:lnSpc>
              <a:buNone/>
            </a:pPr>
            <a:r>
              <a:rPr lang="en-US" sz="6000" b="1" spc="-100" dirty="0" err="1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실천한</a:t>
            </a:r>
            <a:r>
              <a:rPr lang="en-US" sz="60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 경험이 있음</a:t>
            </a:r>
            <a:endParaRPr lang="en-US" sz="6000" spc="-100" dirty="0">
              <a:latin typeface="나눔스퀘어 네오 Heavy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5CEB55E-96D7-B457-91B0-4239BDB1E3A1}"/>
              </a:ext>
            </a:extLst>
          </p:cNvPr>
          <p:cNvGrpSpPr/>
          <p:nvPr/>
        </p:nvGrpSpPr>
        <p:grpSpPr>
          <a:xfrm>
            <a:off x="1809750" y="4336730"/>
            <a:ext cx="14535149" cy="1321120"/>
            <a:chOff x="3211819" y="4384497"/>
            <a:chExt cx="12167369" cy="1321120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6174DFC2-9FB0-3EFF-849E-A03CDB777200}"/>
                </a:ext>
              </a:extLst>
            </p:cNvPr>
            <p:cNvGrpSpPr/>
            <p:nvPr/>
          </p:nvGrpSpPr>
          <p:grpSpPr>
            <a:xfrm>
              <a:off x="3211819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52" name="사각형: 잘린 위쪽 모서리 51">
                <a:extLst>
                  <a:ext uri="{FF2B5EF4-FFF2-40B4-BE49-F238E27FC236}">
                    <a16:creationId xmlns:a16="http://schemas.microsoft.com/office/drawing/2014/main" id="{C7481E31-901F-96EF-DDFB-60A02BACF1CD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  <p:sp>
            <p:nvSpPr>
              <p:cNvPr id="54" name="타원 53">
                <a:extLst>
                  <a:ext uri="{FF2B5EF4-FFF2-40B4-BE49-F238E27FC236}">
                    <a16:creationId xmlns:a16="http://schemas.microsoft.com/office/drawing/2014/main" id="{F7BAB426-41F5-4101-F127-DEFA6D915520}"/>
                  </a:ext>
                </a:extLst>
              </p:cNvPr>
              <p:cNvSpPr/>
              <p:nvPr/>
            </p:nvSpPr>
            <p:spPr>
              <a:xfrm>
                <a:off x="2703234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A90E3812-72CD-3946-DFE7-D7D8F53762B9}"/>
                </a:ext>
              </a:extLst>
            </p:cNvPr>
            <p:cNvGrpSpPr/>
            <p:nvPr/>
          </p:nvGrpSpPr>
          <p:grpSpPr>
            <a:xfrm>
              <a:off x="4446100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50" name="사각형: 잘린 위쪽 모서리 49">
                <a:extLst>
                  <a:ext uri="{FF2B5EF4-FFF2-40B4-BE49-F238E27FC236}">
                    <a16:creationId xmlns:a16="http://schemas.microsoft.com/office/drawing/2014/main" id="{5B6A95A3-6ADD-364E-95CA-9D047A94E5A2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 dirty="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CE718AE7-9BC4-2D2E-0578-A5AA484885D4}"/>
                  </a:ext>
                </a:extLst>
              </p:cNvPr>
              <p:cNvSpPr/>
              <p:nvPr/>
            </p:nvSpPr>
            <p:spPr>
              <a:xfrm>
                <a:off x="2695027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206D7779-41AA-896F-FDDD-51C7F65853A6}"/>
                </a:ext>
              </a:extLst>
            </p:cNvPr>
            <p:cNvGrpSpPr/>
            <p:nvPr/>
          </p:nvGrpSpPr>
          <p:grpSpPr>
            <a:xfrm>
              <a:off x="5680381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48" name="사각형: 잘린 위쪽 모서리 47">
                <a:extLst>
                  <a:ext uri="{FF2B5EF4-FFF2-40B4-BE49-F238E27FC236}">
                    <a16:creationId xmlns:a16="http://schemas.microsoft.com/office/drawing/2014/main" id="{E32B25A7-D251-2BB2-DC1E-43FC39C3F85E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7A20C2B-4179-B1E3-1701-64D3240D70FA}"/>
                  </a:ext>
                </a:extLst>
              </p:cNvPr>
              <p:cNvSpPr/>
              <p:nvPr/>
            </p:nvSpPr>
            <p:spPr>
              <a:xfrm>
                <a:off x="2708525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482D6884-9E5A-5EB0-6DFE-FC8BC9D1E389}"/>
                </a:ext>
              </a:extLst>
            </p:cNvPr>
            <p:cNvGrpSpPr/>
            <p:nvPr/>
          </p:nvGrpSpPr>
          <p:grpSpPr>
            <a:xfrm>
              <a:off x="6914662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46" name="사각형: 잘린 위쪽 모서리 45">
                <a:extLst>
                  <a:ext uri="{FF2B5EF4-FFF2-40B4-BE49-F238E27FC236}">
                    <a16:creationId xmlns:a16="http://schemas.microsoft.com/office/drawing/2014/main" id="{2C3C3419-E3B4-0327-5DF4-AA58E347F18F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  <p:sp>
            <p:nvSpPr>
              <p:cNvPr id="47" name="타원 46">
                <a:extLst>
                  <a:ext uri="{FF2B5EF4-FFF2-40B4-BE49-F238E27FC236}">
                    <a16:creationId xmlns:a16="http://schemas.microsoft.com/office/drawing/2014/main" id="{B0BA07BD-3778-B770-2274-AE46958A8C06}"/>
                  </a:ext>
                </a:extLst>
              </p:cNvPr>
              <p:cNvSpPr/>
              <p:nvPr/>
            </p:nvSpPr>
            <p:spPr>
              <a:xfrm>
                <a:off x="2703234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rgbClr val="FFC000"/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079ABE0D-9888-9D81-FE1F-C3004E390CA3}"/>
                </a:ext>
              </a:extLst>
            </p:cNvPr>
            <p:cNvGrpSpPr/>
            <p:nvPr/>
          </p:nvGrpSpPr>
          <p:grpSpPr>
            <a:xfrm>
              <a:off x="8154085" y="4407083"/>
              <a:ext cx="1011696" cy="1298534"/>
              <a:chOff x="2526224" y="5005834"/>
              <a:chExt cx="863024" cy="968763"/>
            </a:xfrm>
            <a:solidFill>
              <a:schemeClr val="accent2"/>
            </a:solidFill>
          </p:grpSpPr>
          <p:sp>
            <p:nvSpPr>
              <p:cNvPr id="44" name="사각형: 잘린 위쪽 모서리 43">
                <a:extLst>
                  <a:ext uri="{FF2B5EF4-FFF2-40B4-BE49-F238E27FC236}">
                    <a16:creationId xmlns:a16="http://schemas.microsoft.com/office/drawing/2014/main" id="{9625968E-BEB6-EC82-BEC3-89AAC81A150E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latin typeface="나눔스퀘어 네오 Heavy"/>
                </a:endParaRPr>
              </a:p>
            </p:txBody>
          </p:sp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BFD2A05C-404E-1A4B-E4EB-64933768A50F}"/>
                  </a:ext>
                </a:extLst>
              </p:cNvPr>
              <p:cNvSpPr/>
              <p:nvPr/>
            </p:nvSpPr>
            <p:spPr>
              <a:xfrm>
                <a:off x="2701413" y="5005834"/>
                <a:ext cx="509003" cy="499214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latin typeface="나눔스퀘어 네오 Heavy"/>
                </a:endParaRPr>
              </a:p>
            </p:txBody>
          </p:sp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2DD17FEA-7DB9-84A9-DD7F-CB1869163C2F}"/>
                </a:ext>
              </a:extLst>
            </p:cNvPr>
            <p:cNvGrpSpPr/>
            <p:nvPr/>
          </p:nvGrpSpPr>
          <p:grpSpPr>
            <a:xfrm>
              <a:off x="9393507" y="4384497"/>
              <a:ext cx="1011696" cy="1321120"/>
              <a:chOff x="2526224" y="4988984"/>
              <a:chExt cx="863024" cy="985613"/>
            </a:xfrm>
            <a:solidFill>
              <a:schemeClr val="accent2"/>
            </a:solidFill>
          </p:grpSpPr>
          <p:sp>
            <p:nvSpPr>
              <p:cNvPr id="42" name="사각형: 잘린 위쪽 모서리 41">
                <a:extLst>
                  <a:ext uri="{FF2B5EF4-FFF2-40B4-BE49-F238E27FC236}">
                    <a16:creationId xmlns:a16="http://schemas.microsoft.com/office/drawing/2014/main" id="{FEADAC98-C7E1-A9C9-B713-4FEC8E9FE4CB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latin typeface="나눔스퀘어 네오 Heavy"/>
                </a:endParaRPr>
              </a:p>
            </p:txBody>
          </p: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B76A3957-084C-1CAA-F794-DEB8F0E4E671}"/>
                  </a:ext>
                </a:extLst>
              </p:cNvPr>
              <p:cNvSpPr/>
              <p:nvPr/>
            </p:nvSpPr>
            <p:spPr>
              <a:xfrm>
                <a:off x="2700849" y="4988984"/>
                <a:ext cx="509003" cy="499214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latin typeface="나눔스퀘어 네오 Heavy"/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44B57F1-E140-8CCC-47C6-19E3ACA179D5}"/>
                </a:ext>
              </a:extLst>
            </p:cNvPr>
            <p:cNvGrpSpPr/>
            <p:nvPr/>
          </p:nvGrpSpPr>
          <p:grpSpPr>
            <a:xfrm>
              <a:off x="10632930" y="4391173"/>
              <a:ext cx="1011696" cy="1314440"/>
              <a:chOff x="2526224" y="4993967"/>
              <a:chExt cx="863024" cy="980630"/>
            </a:xfrm>
            <a:solidFill>
              <a:schemeClr val="accent2"/>
            </a:solidFill>
          </p:grpSpPr>
          <p:sp>
            <p:nvSpPr>
              <p:cNvPr id="40" name="사각형: 잘린 위쪽 모서리 39">
                <a:extLst>
                  <a:ext uri="{FF2B5EF4-FFF2-40B4-BE49-F238E27FC236}">
                    <a16:creationId xmlns:a16="http://schemas.microsoft.com/office/drawing/2014/main" id="{73D5CEFB-D4B8-D98D-FECE-ECE802C6846B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B1FF43F2-EE2F-CCDF-AEEF-DB8B90CC8F97}"/>
                  </a:ext>
                </a:extLst>
              </p:cNvPr>
              <p:cNvSpPr/>
              <p:nvPr/>
            </p:nvSpPr>
            <p:spPr>
              <a:xfrm>
                <a:off x="2700849" y="4993967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8E2A4311-F308-9C76-066B-0557E483B38C}"/>
                </a:ext>
              </a:extLst>
            </p:cNvPr>
            <p:cNvGrpSpPr/>
            <p:nvPr/>
          </p:nvGrpSpPr>
          <p:grpSpPr>
            <a:xfrm>
              <a:off x="11873185" y="4395147"/>
              <a:ext cx="1011696" cy="1304848"/>
              <a:chOff x="2526224" y="5001123"/>
              <a:chExt cx="863024" cy="973474"/>
            </a:xfrm>
            <a:solidFill>
              <a:schemeClr val="accent2"/>
            </a:solidFill>
          </p:grpSpPr>
          <p:sp>
            <p:nvSpPr>
              <p:cNvPr id="20" name="사각형: 잘린 위쪽 모서리 19">
                <a:extLst>
                  <a:ext uri="{FF2B5EF4-FFF2-40B4-BE49-F238E27FC236}">
                    <a16:creationId xmlns:a16="http://schemas.microsoft.com/office/drawing/2014/main" id="{DA8B634C-7C17-2EFA-DEEC-BF146736B07D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  <p:sp>
            <p:nvSpPr>
              <p:cNvPr id="21" name="타원 20">
                <a:extLst>
                  <a:ext uri="{FF2B5EF4-FFF2-40B4-BE49-F238E27FC236}">
                    <a16:creationId xmlns:a16="http://schemas.microsoft.com/office/drawing/2014/main" id="{E02664E3-CC32-ABEC-5528-0E517EDE5565}"/>
                  </a:ext>
                </a:extLst>
              </p:cNvPr>
              <p:cNvSpPr/>
              <p:nvPr/>
            </p:nvSpPr>
            <p:spPr>
              <a:xfrm>
                <a:off x="2706733" y="5001123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B1A638A-FEB5-C461-AF40-AB3D6788E4C2}"/>
                </a:ext>
              </a:extLst>
            </p:cNvPr>
            <p:cNvGrpSpPr/>
            <p:nvPr/>
          </p:nvGrpSpPr>
          <p:grpSpPr>
            <a:xfrm>
              <a:off x="13120339" y="4395149"/>
              <a:ext cx="1011696" cy="1302002"/>
              <a:chOff x="2526224" y="5001122"/>
              <a:chExt cx="863024" cy="971350"/>
            </a:xfrm>
            <a:solidFill>
              <a:schemeClr val="accent2"/>
            </a:solidFill>
          </p:grpSpPr>
          <p:sp>
            <p:nvSpPr>
              <p:cNvPr id="18" name="사각형: 잘린 위쪽 모서리 17">
                <a:extLst>
                  <a:ext uri="{FF2B5EF4-FFF2-40B4-BE49-F238E27FC236}">
                    <a16:creationId xmlns:a16="http://schemas.microsoft.com/office/drawing/2014/main" id="{953D0F07-5E9B-2763-7A65-6363B2EA7350}"/>
                  </a:ext>
                </a:extLst>
              </p:cNvPr>
              <p:cNvSpPr/>
              <p:nvPr/>
            </p:nvSpPr>
            <p:spPr>
              <a:xfrm>
                <a:off x="2526224" y="5610925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555AFD40-B82C-4816-E338-D96F28568BC9}"/>
                  </a:ext>
                </a:extLst>
              </p:cNvPr>
              <p:cNvSpPr/>
              <p:nvPr/>
            </p:nvSpPr>
            <p:spPr>
              <a:xfrm>
                <a:off x="2703234" y="5001122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C6B11E60-6019-507D-7325-E23D6EB8489E}"/>
                </a:ext>
              </a:extLst>
            </p:cNvPr>
            <p:cNvGrpSpPr/>
            <p:nvPr/>
          </p:nvGrpSpPr>
          <p:grpSpPr>
            <a:xfrm>
              <a:off x="14367492" y="4391177"/>
              <a:ext cx="1011696" cy="1302126"/>
              <a:chOff x="2526224" y="4998155"/>
              <a:chExt cx="863024" cy="971442"/>
            </a:xfrm>
            <a:solidFill>
              <a:schemeClr val="accent2"/>
            </a:solidFill>
          </p:grpSpPr>
          <p:sp>
            <p:nvSpPr>
              <p:cNvPr id="16" name="사각형: 잘린 위쪽 모서리 15">
                <a:extLst>
                  <a:ext uri="{FF2B5EF4-FFF2-40B4-BE49-F238E27FC236}">
                    <a16:creationId xmlns:a16="http://schemas.microsoft.com/office/drawing/2014/main" id="{4A4C4D53-96A3-5091-8BA7-8BDB0369FDE6}"/>
                  </a:ext>
                </a:extLst>
              </p:cNvPr>
              <p:cNvSpPr/>
              <p:nvPr/>
            </p:nvSpPr>
            <p:spPr>
              <a:xfrm>
                <a:off x="2526224" y="5608050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37D5E57A-B9BC-304D-2BF0-AEC01A942C14}"/>
                  </a:ext>
                </a:extLst>
              </p:cNvPr>
              <p:cNvSpPr/>
              <p:nvPr/>
            </p:nvSpPr>
            <p:spPr>
              <a:xfrm>
                <a:off x="2703234" y="4998155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pc="-100" dirty="0">
                  <a:solidFill>
                    <a:schemeClr val="bg2">
                      <a:lumMod val="90000"/>
                    </a:schemeClr>
                  </a:solidFill>
                  <a:latin typeface="나눔스퀘어 네오 Heavy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45659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B9A67-7E5C-C5CA-A03A-E6D87B5E0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4E8AAB7-762D-44E9-4FF8-29D42A7867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1154" y="251687"/>
            <a:ext cx="16955682" cy="229558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8473F12-8E05-42C4-40EE-79DFC027E3A4}"/>
              </a:ext>
            </a:extLst>
          </p:cNvPr>
          <p:cNvSpPr>
            <a:spLocks/>
          </p:cNvSpPr>
          <p:nvPr/>
        </p:nvSpPr>
        <p:spPr>
          <a:xfrm>
            <a:off x="528754" y="2992582"/>
            <a:ext cx="17230492" cy="68204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A8022BA-D6A9-4267-1BFD-4A1EEE0CC0CB}"/>
              </a:ext>
            </a:extLst>
          </p:cNvPr>
          <p:cNvSpPr/>
          <p:nvPr/>
        </p:nvSpPr>
        <p:spPr>
          <a:xfrm>
            <a:off x="5375479" y="473927"/>
            <a:ext cx="7567032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471"/>
              </a:lnSpc>
              <a:buNone/>
            </a:pPr>
            <a:r>
              <a:rPr lang="ko-KR" altLang="en-US" sz="4400" b="1" spc="-100" dirty="0">
                <a:solidFill>
                  <a:srgbClr val="3A2100"/>
                </a:solidFill>
                <a:latin typeface="나눔스퀘어 네오 Heavy" panose="020B0A02040204020203" pitchFamily="34" charset="0"/>
                <a:ea typeface="나눔스퀘어 네오 Heavy" panose="020B0A02040204020203" pitchFamily="34" charset="0"/>
              </a:rPr>
              <a:t>기획 배경</a:t>
            </a:r>
            <a:endParaRPr lang="en-US" sz="4400" b="1" spc="-100" dirty="0">
              <a:solidFill>
                <a:srgbClr val="3A2100"/>
              </a:solidFill>
              <a:latin typeface="나눔스퀘어 네오 Heavy" panose="020B0A02040204020203" pitchFamily="34" charset="0"/>
              <a:ea typeface="나눔스퀘어 네오 Heavy" panose="020B0A02040204020203" pitchFamily="34" charset="0"/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DE9E8F1D-671D-1637-D857-E6FD0DB697CC}"/>
              </a:ext>
            </a:extLst>
          </p:cNvPr>
          <p:cNvSpPr/>
          <p:nvPr/>
        </p:nvSpPr>
        <p:spPr>
          <a:xfrm>
            <a:off x="3052762" y="1149150"/>
            <a:ext cx="12182475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주요 타겟층 선정</a:t>
            </a:r>
            <a:endParaRPr lang="en-US" altLang="ko-KR" sz="6600" b="1" spc="-100" dirty="0">
              <a:solidFill>
                <a:schemeClr val="tx1">
                  <a:lumMod val="95000"/>
                  <a:lumOff val="5000"/>
                </a:schemeClr>
              </a:solidFill>
              <a:latin typeface="나눔스퀘어 네오 Heavy" pitchFamily="2" charset="0"/>
              <a:ea typeface="나눔스퀘어 네오 Heavy" panose="020B0A02040204020203" pitchFamily="34" charset="0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4BED15D2-8FDC-46CC-B1D1-862332A6DB2A}"/>
              </a:ext>
            </a:extLst>
          </p:cNvPr>
          <p:cNvSpPr/>
          <p:nvPr/>
        </p:nvSpPr>
        <p:spPr>
          <a:xfrm>
            <a:off x="5933753" y="9014523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ko-KR" altLang="en-US" spc="-100" dirty="0" err="1">
                <a:solidFill>
                  <a:srgbClr val="8A8A8A"/>
                </a:solidFill>
                <a:latin typeface="나눔스퀘어 네오 Heavy"/>
              </a:rPr>
              <a:t>오픈서베이</a:t>
            </a:r>
            <a:r>
              <a:rPr lang="ko-KR" altLang="en-US" spc="-100" dirty="0">
                <a:solidFill>
                  <a:srgbClr val="8A8A8A"/>
                </a:solidFill>
                <a:latin typeface="나눔스퀘어 네오 Heavy"/>
              </a:rPr>
              <a:t> 대학 생활 트렌드 리포트 </a:t>
            </a:r>
            <a:r>
              <a:rPr lang="en-US" altLang="ko-KR" spc="-100" dirty="0">
                <a:solidFill>
                  <a:srgbClr val="8A8A8A"/>
                </a:solidFill>
                <a:latin typeface="나눔스퀘어 네오 Heavy"/>
              </a:rPr>
              <a:t>2025, </a:t>
            </a:r>
            <a:r>
              <a:rPr lang="ko-KR" altLang="en-US" spc="-100" dirty="0">
                <a:solidFill>
                  <a:srgbClr val="8A8A8A"/>
                </a:solidFill>
                <a:latin typeface="나눔스퀘어 네오 Heavy"/>
              </a:rPr>
              <a:t>실천한 활동 </a:t>
            </a:r>
            <a:r>
              <a:rPr lang="en-US" altLang="ko-KR" spc="-100" dirty="0">
                <a:solidFill>
                  <a:srgbClr val="8A8A8A"/>
                </a:solidFill>
                <a:latin typeface="나눔스퀘어 네오 Heavy"/>
              </a:rPr>
              <a:t>TOP8</a:t>
            </a:r>
            <a:endParaRPr lang="en-US" altLang="ko-KR" spc="-100" dirty="0">
              <a:latin typeface="나눔스퀘어 네오 Heavy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9ECD13A-6270-2708-CF9F-6B3C2803FA35}"/>
              </a:ext>
            </a:extLst>
          </p:cNvPr>
          <p:cNvGrpSpPr/>
          <p:nvPr/>
        </p:nvGrpSpPr>
        <p:grpSpPr>
          <a:xfrm>
            <a:off x="3034768" y="3608801"/>
            <a:ext cx="13652096" cy="5131440"/>
            <a:chOff x="3213344" y="2505603"/>
            <a:chExt cx="13652096" cy="5131440"/>
          </a:xfrm>
        </p:grpSpPr>
        <p:sp>
          <p:nvSpPr>
            <p:cNvPr id="4" name="Text 17">
              <a:extLst>
                <a:ext uri="{FF2B5EF4-FFF2-40B4-BE49-F238E27FC236}">
                  <a16:creationId xmlns:a16="http://schemas.microsoft.com/office/drawing/2014/main" id="{B48212F5-76B2-23FC-D487-E8E8EFDA9478}"/>
                </a:ext>
              </a:extLst>
            </p:cNvPr>
            <p:cNvSpPr/>
            <p:nvPr/>
          </p:nvSpPr>
          <p:spPr>
            <a:xfrm>
              <a:off x="3213344" y="2505603"/>
              <a:ext cx="13652096" cy="6452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4800" b="1" spc="-100" dirty="0">
                  <a:latin typeface="나눔스퀘어 네오 Heavy"/>
                  <a:cs typeface="나눔스퀘어 네오 Heavy" pitchFamily="34" charset="-120"/>
                </a:rPr>
                <a:t>실천한 활동 </a:t>
              </a:r>
              <a:r>
                <a:rPr lang="en-US" altLang="ko-KR" sz="4800" b="1" spc="-100" dirty="0">
                  <a:latin typeface="나눔스퀘어 네오 Heavy"/>
                  <a:cs typeface="나눔스퀘어 네오 Heavy" pitchFamily="34" charset="-120"/>
                </a:rPr>
                <a:t>TOP 5</a:t>
              </a:r>
              <a:endParaRPr lang="en-US" sz="4800" spc="-100" dirty="0">
                <a:latin typeface="나눔스퀘어 네오 Heavy"/>
              </a:endParaRPr>
            </a:p>
          </p:txBody>
        </p:sp>
        <p:sp>
          <p:nvSpPr>
            <p:cNvPr id="5" name="Text 18">
              <a:extLst>
                <a:ext uri="{FF2B5EF4-FFF2-40B4-BE49-F238E27FC236}">
                  <a16:creationId xmlns:a16="http://schemas.microsoft.com/office/drawing/2014/main" id="{4670CCFE-0BAF-B122-8E76-3BD5C0421A1C}"/>
                </a:ext>
              </a:extLst>
            </p:cNvPr>
            <p:cNvSpPr/>
            <p:nvPr/>
          </p:nvSpPr>
          <p:spPr>
            <a:xfrm>
              <a:off x="3283087" y="3841441"/>
              <a:ext cx="2963968" cy="52189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spc="-100" dirty="0">
                  <a:solidFill>
                    <a:srgbClr val="2B2B2B"/>
                  </a:solidFill>
                  <a:latin typeface="나눔스퀘어 네오 Heavy"/>
                </a:rPr>
                <a:t>규칙적인 운동</a:t>
              </a:r>
              <a:endParaRPr lang="en-US" sz="2800" b="1" spc="-100" dirty="0">
                <a:latin typeface="나눔스퀘어 네오 Heavy"/>
              </a:endParaRPr>
            </a:p>
          </p:txBody>
        </p:sp>
        <p:sp>
          <p:nvSpPr>
            <p:cNvPr id="7" name="Shape 19">
              <a:extLst>
                <a:ext uri="{FF2B5EF4-FFF2-40B4-BE49-F238E27FC236}">
                  <a16:creationId xmlns:a16="http://schemas.microsoft.com/office/drawing/2014/main" id="{1B79961D-182A-9B86-E26C-875C26C316B4}"/>
                </a:ext>
              </a:extLst>
            </p:cNvPr>
            <p:cNvSpPr/>
            <p:nvPr/>
          </p:nvSpPr>
          <p:spPr>
            <a:xfrm>
              <a:off x="6247056" y="3888886"/>
              <a:ext cx="5303572" cy="370071"/>
            </a:xfrm>
            <a:prstGeom prst="roundRect">
              <a:avLst>
                <a:gd name="adj" fmla="val 23077"/>
              </a:avLst>
            </a:pr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8" name="Text 20">
              <a:extLst>
                <a:ext uri="{FF2B5EF4-FFF2-40B4-BE49-F238E27FC236}">
                  <a16:creationId xmlns:a16="http://schemas.microsoft.com/office/drawing/2014/main" id="{B0D4D74D-4A75-DB0B-9A88-5AFBBA9EBAF8}"/>
                </a:ext>
              </a:extLst>
            </p:cNvPr>
            <p:cNvSpPr/>
            <p:nvPr/>
          </p:nvSpPr>
          <p:spPr>
            <a:xfrm>
              <a:off x="11770173" y="3718084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63.9%</a:t>
              </a:r>
              <a:endParaRPr lang="en-US" sz="3600" spc="-100" dirty="0">
                <a:latin typeface="나눔스퀘어 네오 Heavy"/>
              </a:endParaRPr>
            </a:p>
          </p:txBody>
        </p:sp>
        <p:sp>
          <p:nvSpPr>
            <p:cNvPr id="9" name="Text 21">
              <a:extLst>
                <a:ext uri="{FF2B5EF4-FFF2-40B4-BE49-F238E27FC236}">
                  <a16:creationId xmlns:a16="http://schemas.microsoft.com/office/drawing/2014/main" id="{3F99424F-F335-3296-892E-7E7C397AE49F}"/>
                </a:ext>
              </a:extLst>
            </p:cNvPr>
            <p:cNvSpPr/>
            <p:nvPr/>
          </p:nvSpPr>
          <p:spPr>
            <a:xfrm>
              <a:off x="3283087" y="4515160"/>
              <a:ext cx="2829242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자격증 공부</a:t>
              </a:r>
              <a:endParaRPr lang="en-US" sz="2800" b="1" spc="-100" dirty="0">
                <a:latin typeface="나눔스퀘어 네오 Heavy"/>
              </a:endParaRPr>
            </a:p>
          </p:txBody>
        </p:sp>
        <p:sp>
          <p:nvSpPr>
            <p:cNvPr id="10" name="Shape 22">
              <a:extLst>
                <a:ext uri="{FF2B5EF4-FFF2-40B4-BE49-F238E27FC236}">
                  <a16:creationId xmlns:a16="http://schemas.microsoft.com/office/drawing/2014/main" id="{3895C0CC-3144-583A-4420-77B72810E98F}"/>
                </a:ext>
              </a:extLst>
            </p:cNvPr>
            <p:cNvSpPr/>
            <p:nvPr/>
          </p:nvSpPr>
          <p:spPr>
            <a:xfrm>
              <a:off x="6247055" y="4638517"/>
              <a:ext cx="4384581" cy="370071"/>
            </a:xfrm>
            <a:prstGeom prst="roundRect">
              <a:avLst>
                <a:gd name="adj" fmla="val 23077"/>
              </a:avLst>
            </a:pr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11" name="Text 23">
              <a:extLst>
                <a:ext uri="{FF2B5EF4-FFF2-40B4-BE49-F238E27FC236}">
                  <a16:creationId xmlns:a16="http://schemas.microsoft.com/office/drawing/2014/main" id="{5F214BED-9A0A-0D4A-BC04-73ABADBC150B}"/>
                </a:ext>
              </a:extLst>
            </p:cNvPr>
            <p:cNvSpPr/>
            <p:nvPr/>
          </p:nvSpPr>
          <p:spPr>
            <a:xfrm>
              <a:off x="10897143" y="4528680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50.8%</a:t>
              </a:r>
              <a:endParaRPr lang="en-US" sz="3600" spc="-100" dirty="0">
                <a:latin typeface="나눔스퀘어 네오 Heavy"/>
              </a:endParaRPr>
            </a:p>
          </p:txBody>
        </p:sp>
        <p:sp>
          <p:nvSpPr>
            <p:cNvPr id="12" name="Text 24">
              <a:extLst>
                <a:ext uri="{FF2B5EF4-FFF2-40B4-BE49-F238E27FC236}">
                  <a16:creationId xmlns:a16="http://schemas.microsoft.com/office/drawing/2014/main" id="{29DF06C1-193E-A75C-145F-AB179FAC0865}"/>
                </a:ext>
              </a:extLst>
            </p:cNvPr>
            <p:cNvSpPr/>
            <p:nvPr/>
          </p:nvSpPr>
          <p:spPr>
            <a:xfrm>
              <a:off x="3294243" y="5416263"/>
              <a:ext cx="2963968" cy="52189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spc="-100" dirty="0" err="1">
                  <a:latin typeface="나눔스퀘어 네오 Heavy"/>
                </a:rPr>
                <a:t>미라클</a:t>
              </a:r>
              <a:r>
                <a:rPr lang="ko-KR" altLang="en-US" sz="2800" b="1" spc="-100" dirty="0">
                  <a:latin typeface="나눔스퀘어 네오 Heavy"/>
                </a:rPr>
                <a:t> 모닝</a:t>
              </a:r>
              <a:endParaRPr lang="en-US" sz="2800" b="1" spc="-100" dirty="0">
                <a:latin typeface="나눔스퀘어 네오 Heavy"/>
              </a:endParaRPr>
            </a:p>
          </p:txBody>
        </p:sp>
        <p:sp>
          <p:nvSpPr>
            <p:cNvPr id="13" name="Shape 25">
              <a:extLst>
                <a:ext uri="{FF2B5EF4-FFF2-40B4-BE49-F238E27FC236}">
                  <a16:creationId xmlns:a16="http://schemas.microsoft.com/office/drawing/2014/main" id="{B6F451D6-634C-777A-6685-661B8F8D5A52}"/>
                </a:ext>
              </a:extLst>
            </p:cNvPr>
            <p:cNvSpPr/>
            <p:nvPr/>
          </p:nvSpPr>
          <p:spPr>
            <a:xfrm>
              <a:off x="6247055" y="5525387"/>
              <a:ext cx="3516683" cy="370071"/>
            </a:xfrm>
            <a:prstGeom prst="roundRect">
              <a:avLst>
                <a:gd name="adj" fmla="val 23077"/>
              </a:avLst>
            </a:pr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14" name="Text 26">
              <a:extLst>
                <a:ext uri="{FF2B5EF4-FFF2-40B4-BE49-F238E27FC236}">
                  <a16:creationId xmlns:a16="http://schemas.microsoft.com/office/drawing/2014/main" id="{D09B1EAD-5502-3F21-FA8C-A0A9DA9CD913}"/>
                </a:ext>
              </a:extLst>
            </p:cNvPr>
            <p:cNvSpPr/>
            <p:nvPr/>
          </p:nvSpPr>
          <p:spPr>
            <a:xfrm>
              <a:off x="10039392" y="5394909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spc="-100" dirty="0">
                  <a:solidFill>
                    <a:srgbClr val="2B2B2B"/>
                  </a:solidFill>
                  <a:latin typeface="나눔스퀘어 네오 Heavy"/>
                </a:rPr>
                <a:t>50.4%</a:t>
              </a:r>
              <a:endParaRPr lang="en-US" sz="3600" spc="-100" dirty="0">
                <a:latin typeface="나눔스퀘어 네오 Heavy"/>
              </a:endParaRPr>
            </a:p>
          </p:txBody>
        </p:sp>
        <p:sp>
          <p:nvSpPr>
            <p:cNvPr id="15" name="Text 27">
              <a:extLst>
                <a:ext uri="{FF2B5EF4-FFF2-40B4-BE49-F238E27FC236}">
                  <a16:creationId xmlns:a16="http://schemas.microsoft.com/office/drawing/2014/main" id="{9090DB9C-BB93-6AAB-302B-82D1FB974833}"/>
                </a:ext>
              </a:extLst>
            </p:cNvPr>
            <p:cNvSpPr/>
            <p:nvPr/>
          </p:nvSpPr>
          <p:spPr>
            <a:xfrm>
              <a:off x="3283087" y="6273008"/>
              <a:ext cx="3645613" cy="63576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건강한 식단 관리</a:t>
              </a:r>
              <a:endParaRPr lang="en-US" sz="2800" b="1" spc="-100" dirty="0">
                <a:latin typeface="나눔스퀘어 네오 Heavy"/>
              </a:endParaRPr>
            </a:p>
          </p:txBody>
        </p:sp>
        <p:sp>
          <p:nvSpPr>
            <p:cNvPr id="16" name="Shape 28">
              <a:extLst>
                <a:ext uri="{FF2B5EF4-FFF2-40B4-BE49-F238E27FC236}">
                  <a16:creationId xmlns:a16="http://schemas.microsoft.com/office/drawing/2014/main" id="{AAF4A350-3244-C997-11EE-27638EC48B98}"/>
                </a:ext>
              </a:extLst>
            </p:cNvPr>
            <p:cNvSpPr/>
            <p:nvPr/>
          </p:nvSpPr>
          <p:spPr>
            <a:xfrm>
              <a:off x="6247056" y="6405854"/>
              <a:ext cx="3357555" cy="370071"/>
            </a:xfrm>
            <a:prstGeom prst="roundRect">
              <a:avLst>
                <a:gd name="adj" fmla="val 23077"/>
              </a:avLst>
            </a:pr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17" name="Text 29">
              <a:extLst>
                <a:ext uri="{FF2B5EF4-FFF2-40B4-BE49-F238E27FC236}">
                  <a16:creationId xmlns:a16="http://schemas.microsoft.com/office/drawing/2014/main" id="{ACB26556-74E1-F509-8B09-2EA4322101A6}"/>
                </a:ext>
              </a:extLst>
            </p:cNvPr>
            <p:cNvSpPr/>
            <p:nvPr/>
          </p:nvSpPr>
          <p:spPr>
            <a:xfrm>
              <a:off x="9855104" y="6260961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48.3%</a:t>
              </a:r>
              <a:endParaRPr lang="en-US" sz="3600" spc="-100" dirty="0">
                <a:latin typeface="나눔스퀘어 네오 Heavy"/>
              </a:endParaRPr>
            </a:p>
          </p:txBody>
        </p:sp>
        <p:sp>
          <p:nvSpPr>
            <p:cNvPr id="18" name="Text 30">
              <a:extLst>
                <a:ext uri="{FF2B5EF4-FFF2-40B4-BE49-F238E27FC236}">
                  <a16:creationId xmlns:a16="http://schemas.microsoft.com/office/drawing/2014/main" id="{B551BC2D-8704-2820-016A-A9EE6CB43D76}"/>
                </a:ext>
              </a:extLst>
            </p:cNvPr>
            <p:cNvSpPr/>
            <p:nvPr/>
          </p:nvSpPr>
          <p:spPr>
            <a:xfrm>
              <a:off x="3283087" y="7115148"/>
              <a:ext cx="2963968" cy="52189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spc="-100" dirty="0">
                  <a:solidFill>
                    <a:srgbClr val="2B2B2B"/>
                  </a:solidFill>
                  <a:latin typeface="나눔스퀘어 네오 Heavy"/>
                </a:rPr>
                <a:t>독서 글쓰기</a:t>
              </a:r>
              <a:endParaRPr lang="en-US" sz="2800" b="1" spc="-100" dirty="0">
                <a:latin typeface="나눔스퀘어 네오 Heavy"/>
              </a:endParaRPr>
            </a:p>
          </p:txBody>
        </p:sp>
        <p:sp>
          <p:nvSpPr>
            <p:cNvPr id="19" name="Shape 31">
              <a:extLst>
                <a:ext uri="{FF2B5EF4-FFF2-40B4-BE49-F238E27FC236}">
                  <a16:creationId xmlns:a16="http://schemas.microsoft.com/office/drawing/2014/main" id="{EEA2D622-81C8-5196-32BF-18C32C36447C}"/>
                </a:ext>
              </a:extLst>
            </p:cNvPr>
            <p:cNvSpPr/>
            <p:nvPr/>
          </p:nvSpPr>
          <p:spPr>
            <a:xfrm>
              <a:off x="6247056" y="7210390"/>
              <a:ext cx="3105550" cy="370071"/>
            </a:xfrm>
            <a:prstGeom prst="roundRect">
              <a:avLst>
                <a:gd name="adj" fmla="val 23077"/>
              </a:avLst>
            </a:pr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 spc="-100"/>
            </a:p>
          </p:txBody>
        </p:sp>
        <p:sp>
          <p:nvSpPr>
            <p:cNvPr id="20" name="Text 32">
              <a:extLst>
                <a:ext uri="{FF2B5EF4-FFF2-40B4-BE49-F238E27FC236}">
                  <a16:creationId xmlns:a16="http://schemas.microsoft.com/office/drawing/2014/main" id="{755630D0-C841-C5FA-33D6-B867320785AE}"/>
                </a:ext>
              </a:extLst>
            </p:cNvPr>
            <p:cNvSpPr/>
            <p:nvPr/>
          </p:nvSpPr>
          <p:spPr>
            <a:xfrm>
              <a:off x="9589596" y="7071734"/>
              <a:ext cx="2084079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spc="-100" dirty="0">
                  <a:solidFill>
                    <a:srgbClr val="2B2B2B"/>
                  </a:solidFill>
                  <a:latin typeface="나눔스퀘어 네오 Heavy"/>
                  <a:cs typeface="나눔스퀘어 네오 Heavy" pitchFamily="34" charset="-120"/>
                </a:rPr>
                <a:t>45.4%</a:t>
              </a:r>
              <a:endParaRPr lang="en-US" sz="3600" spc="-100" dirty="0">
                <a:latin typeface="나눔스퀘어 네오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5581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78190-68EA-FC47-0913-7E32E1D26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9">
            <a:extLst>
              <a:ext uri="{FF2B5EF4-FFF2-40B4-BE49-F238E27FC236}">
                <a16:creationId xmlns:a16="http://schemas.microsoft.com/office/drawing/2014/main" id="{B35C609A-16CF-EBB2-DCA0-69AF81661E60}"/>
              </a:ext>
            </a:extLst>
          </p:cNvPr>
          <p:cNvSpPr/>
          <p:nvPr/>
        </p:nvSpPr>
        <p:spPr>
          <a:xfrm>
            <a:off x="5765340" y="8224271"/>
            <a:ext cx="6059837" cy="1225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7200" b="1" spc="-100" dirty="0">
                <a:solidFill>
                  <a:srgbClr val="ED8B1F"/>
                </a:solidFill>
                <a:latin typeface="나눔스퀘어 네오 Heavy"/>
                <a:cs typeface="나눔스퀘어 네오 Heavy" pitchFamily="34" charset="-120"/>
              </a:rPr>
              <a:t>총 </a:t>
            </a:r>
            <a:r>
              <a:rPr lang="en-US" sz="7200" b="1" spc="-100" dirty="0">
                <a:solidFill>
                  <a:srgbClr val="ED8B1F"/>
                </a:solidFill>
                <a:latin typeface="나눔스퀘어 네오 Heavy"/>
                <a:cs typeface="나눔스퀘어 네오 Heavy" pitchFamily="34" charset="-120"/>
              </a:rPr>
              <a:t>118 </a:t>
            </a:r>
            <a:r>
              <a:rPr lang="ko-KR" altLang="en-US" sz="7200" b="1" spc="-100" dirty="0">
                <a:solidFill>
                  <a:srgbClr val="ED8B1F"/>
                </a:solidFill>
                <a:latin typeface="나눔스퀘어 네오 Heavy"/>
                <a:cs typeface="나눔스퀘어 네오 Heavy" pitchFamily="34" charset="-120"/>
              </a:rPr>
              <a:t>명 응답</a:t>
            </a:r>
            <a:endParaRPr lang="en-US" sz="7200" spc="-100" dirty="0">
              <a:latin typeface="나눔스퀘어 네오 Heavy"/>
            </a:endParaRPr>
          </a:p>
        </p:txBody>
      </p:sp>
      <p:sp>
        <p:nvSpPr>
          <p:cNvPr id="4" name="Text 11">
            <a:extLst>
              <a:ext uri="{FF2B5EF4-FFF2-40B4-BE49-F238E27FC236}">
                <a16:creationId xmlns:a16="http://schemas.microsoft.com/office/drawing/2014/main" id="{CC1BD575-B5CC-5B16-C687-6518C70699DD}"/>
              </a:ext>
            </a:extLst>
          </p:cNvPr>
          <p:cNvSpPr/>
          <p:nvPr/>
        </p:nvSpPr>
        <p:spPr>
          <a:xfrm>
            <a:off x="4343371" y="7490846"/>
            <a:ext cx="8903776" cy="488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000" b="1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해당 내용을 얻기 위해 설문조사를 시행</a:t>
            </a:r>
            <a:endParaRPr lang="en-US" sz="4000" b="1" spc="-100" dirty="0">
              <a:latin typeface="나눔스퀘어 네오 Heavy"/>
            </a:endParaRPr>
          </a:p>
        </p:txBody>
      </p: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FA8E3455-DBC3-966D-C053-0BE6E67D755B}"/>
              </a:ext>
            </a:extLst>
          </p:cNvPr>
          <p:cNvSpPr/>
          <p:nvPr/>
        </p:nvSpPr>
        <p:spPr>
          <a:xfrm>
            <a:off x="2532876" y="849070"/>
            <a:ext cx="12524768" cy="2909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3C3C3C"/>
              </a:buClr>
              <a:buSzPts val="3000"/>
            </a:pPr>
            <a:r>
              <a:rPr lang="ko-KR" altLang="en-US" sz="88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그렇다면 사용자가 겪는 문제점은 무엇일까</a:t>
            </a:r>
            <a:endParaRPr lang="en-US" altLang="ko-KR" sz="8800" spc="-100" dirty="0">
              <a:latin typeface="나눔스퀘어 네오 Heavy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E86B8DBB-1E14-3BF9-C74F-DFC0B550760E}"/>
              </a:ext>
            </a:extLst>
          </p:cNvPr>
          <p:cNvSpPr/>
          <p:nvPr/>
        </p:nvSpPr>
        <p:spPr>
          <a:xfrm>
            <a:off x="7807565" y="4297201"/>
            <a:ext cx="1975388" cy="1692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ko-KR" altLang="en-US" sz="9600" b="1" spc="-100" dirty="0">
                <a:latin typeface="나눔스퀘어 네오 Heavy"/>
              </a:rPr>
              <a:t>🤔</a:t>
            </a:r>
            <a:endParaRPr lang="en-US" sz="9600" b="1" spc="-100" dirty="0">
              <a:latin typeface="나눔스퀘어 네오 Heavy"/>
            </a:endParaRPr>
          </a:p>
        </p:txBody>
      </p:sp>
    </p:spTree>
    <p:extLst>
      <p:ext uri="{BB962C8B-B14F-4D97-AF65-F5344CB8AC3E}">
        <p14:creationId xmlns:p14="http://schemas.microsoft.com/office/powerpoint/2010/main" val="4169980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95DBE-6FB6-0C19-518C-15A426CA9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C425F7B-BA19-90E6-D261-965DCDD9E38B}"/>
              </a:ext>
            </a:extLst>
          </p:cNvPr>
          <p:cNvSpPr>
            <a:spLocks/>
          </p:cNvSpPr>
          <p:nvPr/>
        </p:nvSpPr>
        <p:spPr>
          <a:xfrm>
            <a:off x="681154" y="251687"/>
            <a:ext cx="16955682" cy="15307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7493FDCC-10CF-EBCA-A7B5-62F33599CDD8}"/>
              </a:ext>
            </a:extLst>
          </p:cNvPr>
          <p:cNvSpPr/>
          <p:nvPr/>
        </p:nvSpPr>
        <p:spPr>
          <a:xfrm>
            <a:off x="3067757" y="746191"/>
            <a:ext cx="12182475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목표 달성에 실패하는 이유</a:t>
            </a:r>
            <a:endParaRPr lang="en-US" altLang="ko-KR" sz="6600" b="1" spc="-100" dirty="0">
              <a:solidFill>
                <a:schemeClr val="tx1">
                  <a:lumMod val="95000"/>
                  <a:lumOff val="5000"/>
                </a:schemeClr>
              </a:solidFill>
              <a:latin typeface="나눔스퀘어 네오 Heavy" pitchFamily="2" charset="0"/>
              <a:ea typeface="나눔스퀘어 네오 Heavy" panose="020B0A02040204020203" pitchFamily="34" charset="0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1AC4D099-CF8A-A5D2-52CC-7ED70E0A6593}"/>
              </a:ext>
            </a:extLst>
          </p:cNvPr>
          <p:cNvSpPr/>
          <p:nvPr/>
        </p:nvSpPr>
        <p:spPr>
          <a:xfrm>
            <a:off x="5972318" y="9356459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출처: Gail Matthew – Goal Research Summary</a:t>
            </a:r>
            <a:endParaRPr lang="en-US" sz="1800" spc="-100" dirty="0">
              <a:latin typeface="나눔스퀘어 네오 Heavy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64F317C3-7969-EEA6-C95B-99EB61574B62}"/>
              </a:ext>
            </a:extLst>
          </p:cNvPr>
          <p:cNvSpPr/>
          <p:nvPr/>
        </p:nvSpPr>
        <p:spPr>
          <a:xfrm>
            <a:off x="1011412" y="6275801"/>
            <a:ext cx="13652096" cy="64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ko-KR" altLang="en-US" sz="4800" b="1" spc="-100" dirty="0">
                <a:latin typeface="나눔스퀘어 네오 Heavy"/>
              </a:rPr>
              <a:t>최근 </a:t>
            </a:r>
            <a:r>
              <a:rPr lang="en-US" altLang="ko-KR" sz="4800" b="1" spc="-100" dirty="0">
                <a:latin typeface="나눔스퀘어 네오 Heavy"/>
              </a:rPr>
              <a:t>1</a:t>
            </a:r>
            <a:r>
              <a:rPr lang="ko-KR" altLang="en-US" sz="4800" b="1" spc="-100" dirty="0">
                <a:latin typeface="나눔스퀘어 네오 Heavy"/>
              </a:rPr>
              <a:t>년간 세운 목표 중 끝까지 실행한 비율은 대략 어느 정도인가요</a:t>
            </a:r>
            <a:r>
              <a:rPr lang="en-US" altLang="ko-KR" sz="4800" b="1" spc="-100" dirty="0">
                <a:latin typeface="나눔스퀘어 네오 Heavy"/>
              </a:rPr>
              <a:t>?</a:t>
            </a:r>
            <a:endParaRPr lang="en-US" sz="4800" spc="-100" dirty="0">
              <a:latin typeface="나눔스퀘어 네오 Heavy"/>
            </a:endParaRPr>
          </a:p>
        </p:txBody>
      </p:sp>
    </p:spTree>
    <p:extLst>
      <p:ext uri="{BB962C8B-B14F-4D97-AF65-F5344CB8AC3E}">
        <p14:creationId xmlns:p14="http://schemas.microsoft.com/office/powerpoint/2010/main" val="52194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5DCF02-380C-AF37-63A1-6A0D7207F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71B536F-740B-C47F-C613-04739C349E20}"/>
              </a:ext>
            </a:extLst>
          </p:cNvPr>
          <p:cNvSpPr>
            <a:spLocks/>
          </p:cNvSpPr>
          <p:nvPr/>
        </p:nvSpPr>
        <p:spPr>
          <a:xfrm>
            <a:off x="681154" y="251687"/>
            <a:ext cx="16955682" cy="1530791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ED8B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100">
              <a:solidFill>
                <a:srgbClr val="2B1400"/>
              </a:solidFill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42931587-326B-FB61-551D-C28071FA2F22}"/>
              </a:ext>
            </a:extLst>
          </p:cNvPr>
          <p:cNvSpPr/>
          <p:nvPr/>
        </p:nvSpPr>
        <p:spPr>
          <a:xfrm>
            <a:off x="3067757" y="746191"/>
            <a:ext cx="12182475" cy="1188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>
              <a:lnSpc>
                <a:spcPct val="76471"/>
              </a:lnSpc>
            </a:pP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기존 </a:t>
            </a:r>
            <a:r>
              <a:rPr lang="ko-KR" altLang="en-US" sz="6600" b="1" spc="-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만다라트의</a:t>
            </a:r>
            <a:r>
              <a:rPr lang="ko-KR" altLang="en-US" sz="6600" b="1" spc="-1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네오 Heavy" pitchFamily="2" charset="0"/>
                <a:ea typeface="나눔스퀘어 네오 Heavy" panose="020B0A02040204020203" pitchFamily="34" charset="0"/>
              </a:rPr>
              <a:t> 한계</a:t>
            </a:r>
            <a:endParaRPr lang="en-US" altLang="ko-KR" sz="6600" b="1" spc="-100" dirty="0">
              <a:solidFill>
                <a:schemeClr val="tx1">
                  <a:lumMod val="95000"/>
                  <a:lumOff val="5000"/>
                </a:schemeClr>
              </a:solidFill>
              <a:latin typeface="나눔스퀘어 네오 Heavy" pitchFamily="2" charset="0"/>
              <a:ea typeface="나눔스퀘어 네오 Heavy" panose="020B0A02040204020203" pitchFamily="34" charset="0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B84C537D-D258-A1AD-4DEA-1B256EFA1C59}"/>
              </a:ext>
            </a:extLst>
          </p:cNvPr>
          <p:cNvSpPr/>
          <p:nvPr/>
        </p:nvSpPr>
        <p:spPr>
          <a:xfrm>
            <a:off x="5972318" y="9356459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출처: Gail Matthew – Goal Research Summary</a:t>
            </a:r>
            <a:endParaRPr lang="en-US" sz="1800" spc="-100" dirty="0">
              <a:latin typeface="나눔스퀘어 네오 Heavy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3F366753-4D1A-6D2D-17F3-2721BA0BE9C3}"/>
              </a:ext>
            </a:extLst>
          </p:cNvPr>
          <p:cNvSpPr/>
          <p:nvPr/>
        </p:nvSpPr>
        <p:spPr>
          <a:xfrm>
            <a:off x="2717382" y="6946179"/>
            <a:ext cx="13652096" cy="64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ko-KR" altLang="en-US" sz="4800" b="1" spc="-100" dirty="0">
                <a:latin typeface="나눔스퀘어 네오 Heavy"/>
              </a:rPr>
              <a:t>최근 </a:t>
            </a:r>
            <a:r>
              <a:rPr lang="en-US" altLang="ko-KR" sz="4800" b="1" spc="-100" dirty="0">
                <a:latin typeface="나눔스퀘어 네오 Heavy"/>
              </a:rPr>
              <a:t>1</a:t>
            </a:r>
            <a:r>
              <a:rPr lang="ko-KR" altLang="en-US" sz="4800" b="1" spc="-100" dirty="0">
                <a:latin typeface="나눔스퀘어 네오 Heavy"/>
              </a:rPr>
              <a:t>년간 세운 목표 중 끝까지 실행한 비율은 대략 어느 정도인가요</a:t>
            </a:r>
            <a:r>
              <a:rPr lang="en-US" altLang="ko-KR" sz="4800" b="1" spc="-100" dirty="0">
                <a:latin typeface="나눔스퀘어 네오 Heavy"/>
              </a:rPr>
              <a:t>?</a:t>
            </a:r>
            <a:endParaRPr lang="en-US" sz="4800" spc="-100" dirty="0">
              <a:latin typeface="나눔스퀘어 네오 Heavy"/>
            </a:endParaRPr>
          </a:p>
        </p:txBody>
      </p:sp>
    </p:spTree>
    <p:extLst>
      <p:ext uri="{BB962C8B-B14F-4D97-AF65-F5344CB8AC3E}">
        <p14:creationId xmlns:p14="http://schemas.microsoft.com/office/powerpoint/2010/main" val="72085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A2C0DF-A1B0-B3D6-C625-6F0674FD1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9">
            <a:extLst>
              <a:ext uri="{FF2B5EF4-FFF2-40B4-BE49-F238E27FC236}">
                <a16:creationId xmlns:a16="http://schemas.microsoft.com/office/drawing/2014/main" id="{7B4CCD83-FACB-6E03-D34E-3247D3A76300}"/>
              </a:ext>
            </a:extLst>
          </p:cNvPr>
          <p:cNvSpPr/>
          <p:nvPr/>
        </p:nvSpPr>
        <p:spPr>
          <a:xfrm>
            <a:off x="5765340" y="8224271"/>
            <a:ext cx="6059837" cy="1225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7200" b="1" spc="-100" dirty="0">
                <a:solidFill>
                  <a:srgbClr val="ED8B1F"/>
                </a:solidFill>
                <a:latin typeface="나눔스퀘어 네오 Heavy"/>
                <a:cs typeface="나눔스퀘어 네오 Heavy" pitchFamily="34" charset="-120"/>
              </a:rPr>
              <a:t>총 </a:t>
            </a:r>
            <a:r>
              <a:rPr lang="en-US" sz="7200" b="1" spc="-100" dirty="0">
                <a:solidFill>
                  <a:srgbClr val="ED8B1F"/>
                </a:solidFill>
                <a:latin typeface="나눔스퀘어 네오 Heavy"/>
                <a:cs typeface="나눔스퀘어 네오 Heavy" pitchFamily="34" charset="-120"/>
              </a:rPr>
              <a:t>118 </a:t>
            </a:r>
            <a:r>
              <a:rPr lang="ko-KR" altLang="en-US" sz="7200" b="1" spc="-100" dirty="0">
                <a:solidFill>
                  <a:srgbClr val="ED8B1F"/>
                </a:solidFill>
                <a:latin typeface="나눔스퀘어 네오 Heavy"/>
                <a:cs typeface="나눔스퀘어 네오 Heavy" pitchFamily="34" charset="-120"/>
              </a:rPr>
              <a:t>명 응답</a:t>
            </a:r>
            <a:endParaRPr lang="en-US" sz="7200" spc="-100" dirty="0">
              <a:latin typeface="나눔스퀘어 네오 Heavy"/>
            </a:endParaRPr>
          </a:p>
        </p:txBody>
      </p:sp>
      <p:sp>
        <p:nvSpPr>
          <p:cNvPr id="4" name="Text 11">
            <a:extLst>
              <a:ext uri="{FF2B5EF4-FFF2-40B4-BE49-F238E27FC236}">
                <a16:creationId xmlns:a16="http://schemas.microsoft.com/office/drawing/2014/main" id="{3EC48B80-1A15-2F48-DF43-D95FDF095893}"/>
              </a:ext>
            </a:extLst>
          </p:cNvPr>
          <p:cNvSpPr/>
          <p:nvPr/>
        </p:nvSpPr>
        <p:spPr>
          <a:xfrm>
            <a:off x="4343371" y="7490846"/>
            <a:ext cx="8903776" cy="488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000" b="1" spc="-100" dirty="0">
                <a:solidFill>
                  <a:srgbClr val="8A8A8A"/>
                </a:solidFill>
                <a:latin typeface="나눔스퀘어 네오 Heavy"/>
                <a:cs typeface="나눔스퀘어 네오 Heavy" pitchFamily="34" charset="-120"/>
              </a:rPr>
              <a:t>해당 내용을 얻기 위해 설문조사를 시행</a:t>
            </a:r>
            <a:endParaRPr lang="en-US" sz="4000" b="1" spc="-100" dirty="0">
              <a:latin typeface="나눔스퀘어 네오 Heavy"/>
            </a:endParaRPr>
          </a:p>
        </p:txBody>
      </p: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6DF3A9A0-5D6C-2323-936C-55FC4E7262AC}"/>
              </a:ext>
            </a:extLst>
          </p:cNvPr>
          <p:cNvSpPr/>
          <p:nvPr/>
        </p:nvSpPr>
        <p:spPr>
          <a:xfrm>
            <a:off x="2532876" y="849070"/>
            <a:ext cx="12524768" cy="2909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3C3C3C"/>
              </a:buClr>
              <a:buSzPts val="3000"/>
            </a:pPr>
            <a:r>
              <a:rPr lang="ko-KR" altLang="en-US" sz="8800" b="1" spc="-100" dirty="0">
                <a:solidFill>
                  <a:srgbClr val="2B2B2B"/>
                </a:solidFill>
                <a:latin typeface="나눔스퀘어 네오 Heavy"/>
                <a:cs typeface="나눔스퀘어 네오 Heavy" pitchFamily="34" charset="-120"/>
              </a:rPr>
              <a:t>그렇다면 사용자가 겪는 문제점은 무엇일까</a:t>
            </a:r>
            <a:endParaRPr lang="en-US" altLang="ko-KR" sz="8800" spc="-100" dirty="0">
              <a:latin typeface="나눔스퀘어 네오 Heavy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546A4052-CFEE-C2C3-8885-F2B053478670}"/>
              </a:ext>
            </a:extLst>
          </p:cNvPr>
          <p:cNvSpPr/>
          <p:nvPr/>
        </p:nvSpPr>
        <p:spPr>
          <a:xfrm>
            <a:off x="7807565" y="4297201"/>
            <a:ext cx="1975388" cy="1692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ko-KR" altLang="en-US" sz="9600" b="1" spc="-100" dirty="0">
                <a:latin typeface="나눔스퀘어 네오 Heavy"/>
              </a:rPr>
              <a:t>🤔</a:t>
            </a:r>
            <a:endParaRPr lang="en-US" sz="9600" b="1" spc="-100" dirty="0">
              <a:latin typeface="나눔스퀘어 네오 Heavy"/>
            </a:endParaRPr>
          </a:p>
        </p:txBody>
      </p:sp>
    </p:spTree>
    <p:extLst>
      <p:ext uri="{BB962C8B-B14F-4D97-AF65-F5344CB8AC3E}">
        <p14:creationId xmlns:p14="http://schemas.microsoft.com/office/powerpoint/2010/main" val="3386885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 [1785876052724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나눔스퀘어 네오 Heavy" panose="020F0302020204030204"/>
        <a:ea typeface="나눔스퀘어 네오 Heavy"/>
        <a:cs typeface="나눔스퀘어 네오 Heavy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나눔스퀘어 네오 Heavy" panose="020F0502020204030204"/>
        <a:ea typeface="나눔스퀘어 네오 Heavy"/>
        <a:cs typeface="나눔스퀘어 네오 Heavy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B85EAA-3ED8-469B-8B1D-1F7267D1DE8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07a548ed-06dd-4bd3-8eb6-c9868cd6e47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474</Words>
  <Application>Microsoft Office PowerPoint</Application>
  <PresentationFormat>사용자 지정</PresentationFormat>
  <Paragraphs>132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나눔스퀘어 네오 Heavy</vt:lpstr>
      <vt:lpstr>Arial</vt:lpstr>
      <vt:lpstr>Office Theme [1785876052724]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우찬 황</cp:lastModifiedBy>
  <cp:revision>41</cp:revision>
  <dcterms:created xsi:type="dcterms:W3CDTF">2026-07-23T03:00:28Z</dcterms:created>
  <dcterms:modified xsi:type="dcterms:W3CDTF">2026-08-06T22:09:25Z</dcterms:modified>
  <cp:version/>
</cp:coreProperties>
</file>